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51" r:id="rId2"/>
    <p:sldMasterId id="2147483650" r:id="rId3"/>
    <p:sldMasterId id="2147483649" r:id="rId4"/>
  </p:sldMasterIdLst>
  <p:notesMasterIdLst>
    <p:notesMasterId r:id="rId31"/>
  </p:notesMasterIdLst>
  <p:handoutMasterIdLst>
    <p:handoutMasterId r:id="rId32"/>
  </p:handoutMasterIdLst>
  <p:sldIdLst>
    <p:sldId id="543" r:id="rId5"/>
    <p:sldId id="524" r:id="rId6"/>
    <p:sldId id="555" r:id="rId7"/>
    <p:sldId id="527" r:id="rId8"/>
    <p:sldId id="559" r:id="rId9"/>
    <p:sldId id="544" r:id="rId10"/>
    <p:sldId id="558" r:id="rId11"/>
    <p:sldId id="528" r:id="rId12"/>
    <p:sldId id="546" r:id="rId13"/>
    <p:sldId id="529" r:id="rId14"/>
    <p:sldId id="530" r:id="rId15"/>
    <p:sldId id="531" r:id="rId16"/>
    <p:sldId id="532" r:id="rId17"/>
    <p:sldId id="556" r:id="rId18"/>
    <p:sldId id="552" r:id="rId19"/>
    <p:sldId id="547" r:id="rId20"/>
    <p:sldId id="533" r:id="rId21"/>
    <p:sldId id="534" r:id="rId22"/>
    <p:sldId id="535" r:id="rId23"/>
    <p:sldId id="548" r:id="rId24"/>
    <p:sldId id="537" r:id="rId25"/>
    <p:sldId id="539" r:id="rId26"/>
    <p:sldId id="540" r:id="rId27"/>
    <p:sldId id="541" r:id="rId28"/>
    <p:sldId id="538" r:id="rId29"/>
    <p:sldId id="542" r:id="rId30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0000"/>
    <a:srgbClr val="CC3300"/>
    <a:srgbClr val="2A8487"/>
    <a:srgbClr val="1C5A61"/>
    <a:srgbClr val="0C6D9C"/>
    <a:srgbClr val="F5F5F5"/>
    <a:srgbClr val="F4F4F4"/>
    <a:srgbClr val="F2F2F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8"/>
    <p:restoredTop sz="93910" autoAdjust="0"/>
  </p:normalViewPr>
  <p:slideViewPr>
    <p:cSldViewPr>
      <p:cViewPr varScale="1">
        <p:scale>
          <a:sx n="65" d="100"/>
          <a:sy n="65" d="100"/>
        </p:scale>
        <p:origin x="-1452" y="-13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814" tIns="48409" rIns="96814" bIns="484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3" tIns="45781" rIns="91573" bIns="45781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1117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89971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52013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12733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2207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3858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427536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41338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40060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89789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28986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19785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795A9-3B41-4BE2-BC0F-536FD5F4D9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56353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425A68-0A55-4530-BBFF-31B96EF60E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0056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E3E67-D976-45F2-95DB-E7A1A803F0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16806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E3168-0615-474F-B96D-868E502288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658474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DE3E1-1641-4430-99B4-C93B48743B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46017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1725DE-011F-43C2-9AA1-FC4E5761C0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9154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841DC2-0C76-4BB5-B3A7-AED543E83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2942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D2832-5EFD-4718-816B-47DA45C2D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24229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4A027C-1BC9-46AF-AD99-5BBC18BA5B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561798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DD663-02E3-4F26-A24C-94117D81A9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80951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FB5861-97CA-47B0-9CDE-99F7DBE912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04880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2200830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7817663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2455141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457200" indent="-4572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639153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943353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9059942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3752394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1162393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2704723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5493415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765904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8309409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542167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655406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973011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28207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4698101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012684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40160079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5843831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5026434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54147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 smtClean="0"/>
              <a:t>2/08/2021</a:t>
            </a:r>
            <a:r>
              <a:rPr lang="en-US" altLang="en-US" dirty="0"/>
              <a:t>		      Introduction to Data Mining, 2</a:t>
            </a:r>
            <a:r>
              <a:rPr lang="en-US" altLang="en-US" baseline="30000" dirty="0"/>
              <a:t>nd</a:t>
            </a:r>
            <a:r>
              <a:rPr lang="en-US" altLang="en-US" dirty="0"/>
              <a:t> Edition 			              </a:t>
            </a:r>
            <a:fld id="{70796CB9-48A6-4F46-B2DF-D224D7212798}" type="slidenum">
              <a:rPr lang="en-US" alt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2052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2056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057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1335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133579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113358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 New Roman" panose="02020603050405020304" pitchFamily="18" charset="0"/>
              </a:defRPr>
            </a:lvl1pPr>
          </a:lstStyle>
          <a:p>
            <a:fld id="{6BA5FE14-EE4A-4F30-AF7B-A4F087ED91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4340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4344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5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4341" name="Group 19"/>
          <p:cNvGrpSpPr>
            <a:grpSpLocks/>
          </p:cNvGrpSpPr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4342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3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C013E0B9-DE7F-43DD-87A4-668E8C547D42}" type="slidenum">
                <a:rPr lang="en-US" altLang="en-US" sz="1200" b="0" smtClean="0"/>
                <a:pPr>
                  <a:defRPr/>
                </a:pPr>
                <a:t>‹#›</a:t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5364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5368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9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5365" name="Group 19"/>
          <p:cNvGrpSpPr>
            <a:grpSpLocks/>
          </p:cNvGrpSpPr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5366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7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5F450A06-25A0-44A7-95AC-B155A1AFB3D2}" type="slidenum">
                <a:rPr lang="en-US" altLang="en-US" sz="1200" b="0" smtClean="0"/>
                <a:pPr>
                  <a:defRPr/>
                </a:pPr>
                <a:t>‹#›</a:t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Microsoft_Office_Excel_97-2003_Worksheet2.xls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381000" y="1857375"/>
            <a:ext cx="8229600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Bayesian Classifiers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Monotype Sorts" panose="05010101010101010101" pitchFamily="2" charset="2"/>
              <a:buNone/>
            </a:pPr>
            <a:r>
              <a:rPr lang="en-US" altLang="en-US" sz="3200" b="0" dirty="0">
                <a:solidFill>
                  <a:srgbClr val="000000"/>
                </a:solidFill>
              </a:rPr>
              <a:t>Introduction to Data Mining, 2</a:t>
            </a:r>
            <a:r>
              <a:rPr lang="en-US" altLang="en-US" sz="3200" b="0" baseline="30000" dirty="0">
                <a:solidFill>
                  <a:srgbClr val="000000"/>
                </a:solidFill>
              </a:rPr>
              <a:t>nd</a:t>
            </a:r>
            <a:r>
              <a:rPr lang="en-US" altLang="en-US" sz="3200" b="0" dirty="0">
                <a:solidFill>
                  <a:srgbClr val="000000"/>
                </a:solidFill>
              </a:rPr>
              <a:t> Edition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Monotype Sorts" panose="05010101010101010101" pitchFamily="2" charset="2"/>
              <a:buNone/>
            </a:pPr>
            <a:r>
              <a:rPr lang="en-US" altLang="en-US" sz="3200" b="0" dirty="0">
                <a:solidFill>
                  <a:srgbClr val="000000"/>
                </a:solidFill>
              </a:rPr>
              <a:t>by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Monotype Sorts" panose="05010101010101010101" pitchFamily="2" charset="2"/>
              <a:buNone/>
            </a:pPr>
            <a:r>
              <a:rPr lang="en-US" altLang="en-US" sz="3200" b="0" dirty="0">
                <a:solidFill>
                  <a:srgbClr val="000000"/>
                </a:solidFill>
              </a:rPr>
              <a:t>Tan, Steinbach, </a:t>
            </a:r>
            <a:r>
              <a:rPr lang="en-US" altLang="en-US" sz="3200" b="0" dirty="0" err="1">
                <a:solidFill>
                  <a:srgbClr val="000000"/>
                </a:solidFill>
              </a:rPr>
              <a:t>Karpatne</a:t>
            </a:r>
            <a:r>
              <a:rPr lang="en-US" altLang="en-US" sz="3200" b="0" dirty="0">
                <a:solidFill>
                  <a:srgbClr val="000000"/>
                </a:solidFill>
              </a:rPr>
              <a:t>, Kumar</a:t>
            </a:r>
            <a:endParaRPr lang="en-US" altLang="en-US" sz="1600" b="0" dirty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grpSp>
        <p:nvGrpSpPr>
          <p:cNvPr id="18434" name="Group 6"/>
          <p:cNvGrpSpPr>
            <a:grpSpLocks/>
          </p:cNvGrpSpPr>
          <p:nvPr/>
        </p:nvGrpSpPr>
        <p:grpSpPr bwMode="auto">
          <a:xfrm>
            <a:off x="304800" y="1143000"/>
            <a:ext cx="8534400" cy="152400"/>
            <a:chOff x="264" y="788"/>
            <a:chExt cx="5232" cy="124"/>
          </a:xfrm>
        </p:grpSpPr>
        <p:sp>
          <p:nvSpPr>
            <p:cNvPr id="18436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anose="05010101010101010101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8437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anose="05010101010101010101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512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763000" cy="8382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cs typeface="+mj-cs"/>
              </a:rPr>
              <a:t>Data Mining 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Classification: Alternative Techniques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 Classifier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probabilistic framework for solving classification problems</a:t>
            </a:r>
          </a:p>
          <a:p>
            <a:pPr>
              <a:defRPr/>
            </a:pPr>
            <a:r>
              <a:rPr lang="en-US" dirty="0">
                <a:cs typeface="+mn-cs"/>
              </a:rPr>
              <a:t>Conditional Probability: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 Bayes theorem:</a:t>
            </a: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2644775" y="4770438"/>
          <a:ext cx="4365625" cy="1144587"/>
        </p:xfrm>
        <a:graphic>
          <a:graphicData uri="http://schemas.openxmlformats.org/presentationml/2006/ole">
            <p:oleObj spid="_x0000_s20575" name="Equation" r:id="rId3" imgW="1600200" imgH="419100" progId="Equation.3">
              <p:embed/>
            </p:oleObj>
          </a:graphicData>
        </a:graphic>
      </p:graphicFrame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4953000" y="2057400"/>
          <a:ext cx="3048000" cy="2093913"/>
        </p:xfrm>
        <a:graphic>
          <a:graphicData uri="http://schemas.openxmlformats.org/presentationml/2006/ole">
            <p:oleObj spid="_x0000_s20576" name="Equation" r:id="rId4" imgW="1256755" imgH="863225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2705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5486400" cy="5105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Consider each attribute and class label as random </a:t>
            </a:r>
            <a:r>
              <a:rPr lang="en-US" altLang="en-US" sz="2400" dirty="0" smtClean="0">
                <a:ea typeface="ＭＳ Ｐゴシック" pitchFamily="34" charset="-128"/>
              </a:rPr>
              <a:t>variables</a:t>
            </a:r>
            <a:endParaRPr lang="en-US" alt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Given a record with attributes </a:t>
            </a:r>
            <a:r>
              <a:rPr lang="en-US" altLang="en-US" sz="2400" dirty="0" smtClean="0">
                <a:ea typeface="ＭＳ Ｐゴシック" pitchFamily="34" charset="-128"/>
              </a:rPr>
              <a:t>(</a:t>
            </a:r>
            <a:r>
              <a:rPr lang="en-US" altLang="en-US" sz="2400" dirty="0">
                <a:ea typeface="ＭＳ Ｐゴシック" pitchFamily="34" charset="-128"/>
              </a:rPr>
              <a:t>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 smtClean="0">
                <a:ea typeface="ＭＳ Ｐゴシック" pitchFamily="34" charset="-128"/>
              </a:rPr>
              <a:t>), the goal  is </a:t>
            </a:r>
            <a:r>
              <a:rPr lang="en-US" altLang="en-US" sz="2400" dirty="0">
                <a:ea typeface="ＭＳ Ｐゴシック" pitchFamily="34" charset="-128"/>
              </a:rPr>
              <a:t>to predict class </a:t>
            </a:r>
            <a:r>
              <a:rPr lang="en-US" altLang="en-US" sz="2400" dirty="0" smtClean="0">
                <a:ea typeface="ＭＳ Ｐゴシック" pitchFamily="34" charset="-128"/>
              </a:rPr>
              <a:t>Y</a:t>
            </a:r>
          </a:p>
          <a:p>
            <a:pPr>
              <a:defRPr/>
            </a:pPr>
            <a:endParaRPr lang="en-US" altLang="en-US" sz="2000" dirty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ＭＳ Ｐゴシック" pitchFamily="34" charset="-128"/>
              </a:rPr>
              <a:t>Specifically, we want to find the value of Y that maximizes P(Y| X</a:t>
            </a:r>
            <a:r>
              <a:rPr lang="en-US" altLang="en-US" sz="2000" baseline="-25000" dirty="0">
                <a:ea typeface="ＭＳ Ｐゴシック" pitchFamily="34" charset="-128"/>
              </a:rPr>
              <a:t>1</a:t>
            </a:r>
            <a:r>
              <a:rPr lang="en-US" altLang="en-US" sz="2000" dirty="0">
                <a:ea typeface="ＭＳ Ｐゴシック" pitchFamily="34" charset="-128"/>
              </a:rPr>
              <a:t>, X</a:t>
            </a:r>
            <a:r>
              <a:rPr lang="en-US" altLang="en-US" sz="2000" baseline="-25000" dirty="0">
                <a:ea typeface="ＭＳ Ｐゴシック" pitchFamily="34" charset="-128"/>
              </a:rPr>
              <a:t>2</a:t>
            </a:r>
            <a:r>
              <a:rPr lang="en-US" altLang="en-US" sz="2000" dirty="0">
                <a:ea typeface="ＭＳ Ｐゴシック" pitchFamily="34" charset="-128"/>
              </a:rPr>
              <a:t>,…, </a:t>
            </a:r>
            <a:r>
              <a:rPr lang="en-US" altLang="en-US" sz="2000" dirty="0" err="1">
                <a:ea typeface="ＭＳ Ｐゴシック" pitchFamily="34" charset="-128"/>
              </a:rPr>
              <a:t>X</a:t>
            </a:r>
            <a:r>
              <a:rPr lang="en-US" altLang="en-US" sz="2000" baseline="-25000" dirty="0" err="1">
                <a:ea typeface="ＭＳ Ｐゴシック" pitchFamily="34" charset="-128"/>
              </a:rPr>
              <a:t>d</a:t>
            </a:r>
            <a:r>
              <a:rPr lang="en-US" altLang="en-US" sz="2000" baseline="-25000" dirty="0">
                <a:ea typeface="ＭＳ Ｐゴシック" pitchFamily="34" charset="-128"/>
              </a:rPr>
              <a:t> </a:t>
            </a:r>
            <a:r>
              <a:rPr lang="en-US" altLang="en-US" sz="2000" dirty="0">
                <a:ea typeface="ＭＳ Ｐゴシック" pitchFamily="34" charset="-128"/>
              </a:rPr>
              <a:t>)</a:t>
            </a:r>
          </a:p>
          <a:p>
            <a:pPr lvl="1"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Can we estimate P(Y|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) directly from data?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59840436"/>
              </p:ext>
            </p:extLst>
          </p:nvPr>
        </p:nvGraphicFramePr>
        <p:xfrm>
          <a:off x="5943600" y="2895600"/>
          <a:ext cx="2971800" cy="3536950"/>
        </p:xfrm>
        <a:graphic>
          <a:graphicData uri="http://schemas.openxmlformats.org/presentationml/2006/ole">
            <p:oleObj spid="_x0000_s48165" name="VISIO" r:id="rId4" imgW="4392168" imgH="533400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38902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Approach: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compute posterior probability P(Y 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) using the Bayes theorem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i="1" dirty="0">
                <a:ea typeface="ＭＳ Ｐゴシック" pitchFamily="34" charset="-128"/>
              </a:rPr>
              <a:t>Maximum a-posteriori</a:t>
            </a:r>
            <a:r>
              <a:rPr lang="en-US" altLang="en-US" sz="2400" dirty="0">
                <a:ea typeface="ＭＳ Ｐゴシック" pitchFamily="34" charset="-128"/>
              </a:rPr>
              <a:t>: Choose Y that maximizes 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		P(Y 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)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 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Equivalent to choosing value of Y that maximizes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     	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 err="1">
                <a:ea typeface="ＭＳ Ｐゴシック" pitchFamily="34" charset="-128"/>
              </a:rPr>
              <a:t>|Y</a:t>
            </a:r>
            <a:r>
              <a:rPr lang="en-US" altLang="en-US" sz="2400" dirty="0">
                <a:ea typeface="ＭＳ Ｐゴシック" pitchFamily="34" charset="-128"/>
              </a:rPr>
              <a:t>) P(Y)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How to estimate 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| Y )?</a:t>
            </a: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2057400" y="2522538"/>
          <a:ext cx="6172200" cy="820737"/>
        </p:xfrm>
        <a:graphic>
          <a:graphicData uri="http://schemas.openxmlformats.org/presentationml/2006/ole">
            <p:oleObj spid="_x0000_s24625" name="Equation" r:id="rId3" imgW="27178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</a:p>
        </p:txBody>
      </p:sp>
      <p:graphicFrame>
        <p:nvGraphicFramePr>
          <p:cNvPr id="2355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p:oleObj spid="_x0000_s50186" name="VISIO" r:id="rId3" imgW="4392168" imgH="5334000" progId="">
              <p:embed/>
            </p:oleObj>
          </a:graphicData>
        </a:graphic>
      </p:graphicFrame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p:oleObj spid="_x0000_s50187" name="Equation" r:id="rId4" imgW="2832100" imgH="203200" progId="Equation.3">
              <p:embed/>
            </p:oleObj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b="0" dirty="0" smtClean="0"/>
              <a:t>We need to </a:t>
            </a:r>
            <a:r>
              <a:rPr lang="en-US" altLang="en-US" sz="2400" b="0" dirty="0"/>
              <a:t>estimate</a:t>
            </a:r>
          </a:p>
          <a:p>
            <a:pPr marL="457200" lvl="1" indent="0">
              <a:buNone/>
              <a:defRPr/>
            </a:pPr>
            <a:r>
              <a:rPr lang="en-US" altLang="en-US" sz="2200" b="0" dirty="0"/>
              <a:t>P(Evade = Yes | X) and P(Evade = No | X</a:t>
            </a:r>
            <a:r>
              <a:rPr lang="en-US" altLang="en-US" sz="2200" b="0" dirty="0" smtClean="0"/>
              <a:t>)</a:t>
            </a:r>
            <a:endParaRPr lang="en-US" altLang="en-US" sz="2200" b="0" dirty="0"/>
          </a:p>
          <a:p>
            <a:pPr lvl="1">
              <a:buFont typeface="Arial" charset="0"/>
              <a:buNone/>
              <a:defRPr/>
            </a:pPr>
            <a:endParaRPr lang="en-US" altLang="en-US" sz="2200" b="0" dirty="0"/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In the following we will replace </a:t>
            </a:r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	Evade = Yes by Yes, and </a:t>
            </a:r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	Evade = No by No</a:t>
            </a:r>
          </a:p>
          <a:p>
            <a:pPr>
              <a:lnSpc>
                <a:spcPct val="200000"/>
              </a:lnSpc>
              <a:buFont typeface="Arial" charset="0"/>
              <a:buNone/>
              <a:defRPr/>
            </a:pPr>
            <a:r>
              <a:rPr lang="en-US" altLang="en-US" sz="2400" dirty="0"/>
              <a:t>	</a:t>
            </a:r>
            <a:endParaRPr lang="en-US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xmlns="" val="33716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p:oleObj spid="_x0000_s25696" name="VISIO" r:id="rId3" imgW="4392168" imgH="5334000" progId="">
              <p:embed/>
            </p:oleObj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2057400" y="1447800"/>
          <a:ext cx="5227638" cy="374650"/>
        </p:xfrm>
        <a:graphic>
          <a:graphicData uri="http://schemas.openxmlformats.org/presentationml/2006/ole">
            <p:oleObj spid="_x0000_s25697" name="Equation" r:id="rId4" imgW="2832100" imgH="203200" progId="Equation.3">
              <p:embed/>
            </p:oleObj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blipFill rotWithShape="1">
            <a:blip r:embed="rId5"/>
            <a:stretch>
              <a:fillRect l="-692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 and </a:t>
            </a:r>
            <a:r>
              <a:rPr lang="en-US" b="1" dirty="0">
                <a:cs typeface="+mn-cs"/>
              </a:rPr>
              <a:t>Y</a:t>
            </a:r>
            <a:r>
              <a:rPr lang="en-US" dirty="0">
                <a:cs typeface="+mn-cs"/>
              </a:rPr>
              <a:t> are conditionally independent given 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 if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YZ</a:t>
            </a:r>
            <a:r>
              <a:rPr lang="en-US" dirty="0">
                <a:cs typeface="+mn-cs"/>
              </a:rPr>
              <a:t>) =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)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Example: Arm length and reading skills 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Young child has shorter arm length and limited reading skills, compared to adults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If age is fixed, no apparent relationship between arm length and reading skills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Arm length and reading skills are conditionally independent given age</a:t>
            </a:r>
          </a:p>
        </p:txBody>
      </p:sp>
    </p:spTree>
    <p:extLst>
      <p:ext uri="{BB962C8B-B14F-4D97-AF65-F5344CB8AC3E}">
        <p14:creationId xmlns:p14="http://schemas.microsoft.com/office/powerpoint/2010/main" xmlns="" val="382765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Naïve Bayes Classifier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Assume independence among attributes 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 when class is given:    </a:t>
            </a: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|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= 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P(X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)… P(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</a:t>
            </a:r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ea typeface="ＭＳ Ｐゴシック" pitchFamily="34" charset="-128"/>
              </a:rPr>
              <a:t> </a:t>
            </a: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Now we can estimate P(X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for all 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 and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 combinations from the training data</a:t>
            </a: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New point is classified to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 if  P(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</a:t>
            </a:r>
            <a:r>
              <a:rPr lang="en-US" altLang="en-US" sz="2400" dirty="0">
                <a:ea typeface="ＭＳ Ｐゴシック" pitchFamily="34" charset="-128"/>
                <a:sym typeface="Symbol" pitchFamily="18" charset="2"/>
              </a:rPr>
              <a:t></a:t>
            </a:r>
            <a:r>
              <a:rPr lang="en-US" altLang="en-US" sz="2400" dirty="0">
                <a:ea typeface="ＭＳ Ｐゴシック" pitchFamily="34" charset="-128"/>
              </a:rPr>
              <a:t> P(X</a:t>
            </a:r>
            <a:r>
              <a:rPr lang="en-US" altLang="en-US" sz="2400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 is maximal.</a:t>
            </a:r>
            <a:endParaRPr lang="en-US" altLang="en-US" dirty="0">
              <a:ea typeface="ＭＳ Ｐゴシック" pitchFamily="34" charset="-128"/>
            </a:endParaRPr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Naïve Bayes on Example Data</a:t>
            </a: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p:oleObj spid="_x0000_s28768" name="VISIO" r:id="rId3" imgW="4392168" imgH="5334000" progId="">
              <p:embed/>
            </p:oleObj>
          </a:graphicData>
        </a:graphic>
      </p:graphicFrame>
      <p:graphicFrame>
        <p:nvGraphicFramePr>
          <p:cNvPr id="2867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p:oleObj spid="_x0000_s28769" name="Equation" r:id="rId4" imgW="2832100" imgH="203200" progId="Equation.3">
              <p:embed/>
            </p:oleObj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429000" y="2209800"/>
            <a:ext cx="4876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Yes) =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P(Refund = No | Yes)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P(Divorced | Yes)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P(Income = 120K | Yes)</a:t>
            </a:r>
          </a:p>
          <a:p>
            <a:pPr lvl="1">
              <a:buSzPct val="75000"/>
              <a:buFont typeface="Arial" charset="0"/>
              <a:buNone/>
              <a:defRPr/>
            </a:pPr>
            <a:endParaRPr lang="en-US" altLang="en-US" sz="2000" b="0" dirty="0"/>
          </a:p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No) =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P(Refund = No | No)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P(Divorced | No)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P(Income = 120K | No)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990600"/>
            <a:ext cx="48768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 P(y) = </a:t>
            </a:r>
            <a:r>
              <a:rPr lang="en-US" sz="1800" dirty="0">
                <a:cs typeface="+mn-cs"/>
              </a:rPr>
              <a:t>fraction of instances of class y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e.g.,  P(No) = 7/10, </a:t>
            </a:r>
            <a:br>
              <a:rPr lang="en-US" sz="2000" dirty="0"/>
            </a:br>
            <a:r>
              <a:rPr lang="en-US" sz="2000" dirty="0"/>
              <a:t>	        P(Yes) = 3/10</a:t>
            </a:r>
          </a:p>
          <a:p>
            <a:pPr lvl="1">
              <a:lnSpc>
                <a:spcPct val="90000"/>
              </a:lnSpc>
              <a:buFont typeface="Arial" charset="0"/>
              <a:buNone/>
              <a:defRPr/>
            </a:pPr>
            <a:endParaRPr lang="en-US" sz="2000" dirty="0"/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For categorical attributes:</a:t>
            </a:r>
            <a:br>
              <a:rPr lang="en-US" dirty="0">
                <a:cs typeface="+mn-cs"/>
              </a:rPr>
            </a:br>
            <a:r>
              <a:rPr lang="en-US" sz="900" dirty="0">
                <a:cs typeface="+mn-cs"/>
              </a:rPr>
              <a:t>  </a:t>
            </a:r>
            <a:br>
              <a:rPr lang="en-US" sz="900" dirty="0">
                <a:cs typeface="+mn-cs"/>
              </a:rPr>
            </a:br>
            <a:r>
              <a:rPr lang="en-US" dirty="0">
                <a:cs typeface="+mn-cs"/>
              </a:rPr>
              <a:t>     P(X</a:t>
            </a:r>
            <a:r>
              <a:rPr lang="en-US" baseline="-25000" dirty="0">
                <a:cs typeface="+mn-cs"/>
              </a:rPr>
              <a:t>i</a:t>
            </a:r>
            <a:r>
              <a:rPr lang="en-US" dirty="0">
                <a:cs typeface="+mn-cs"/>
              </a:rPr>
              <a:t> =c| y) = n</a:t>
            </a:r>
            <a:r>
              <a:rPr lang="en-US" baseline="-25000" dirty="0">
                <a:cs typeface="+mn-cs"/>
              </a:rPr>
              <a:t>c</a:t>
            </a:r>
            <a:r>
              <a:rPr lang="en-US" dirty="0">
                <a:cs typeface="+mn-cs"/>
              </a:rPr>
              <a:t>/ n</a:t>
            </a:r>
            <a:r>
              <a:rPr lang="en-US" baseline="-25000" dirty="0">
                <a:cs typeface="+mn-cs"/>
              </a:rPr>
              <a:t>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endParaRPr lang="en-US" sz="800" dirty="0"/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dirty="0"/>
              <a:t>where |X</a:t>
            </a:r>
            <a:r>
              <a:rPr lang="en-US" sz="2400" baseline="-25000" dirty="0"/>
              <a:t>i</a:t>
            </a:r>
            <a:r>
              <a:rPr lang="en-US" sz="2400" dirty="0"/>
              <a:t> =c| is number of instances having attribute value X</a:t>
            </a:r>
            <a:r>
              <a:rPr lang="en-US" sz="2400" baseline="-25000" dirty="0"/>
              <a:t>i</a:t>
            </a:r>
            <a:r>
              <a:rPr lang="en-US" sz="2400" dirty="0"/>
              <a:t> =c and belonging to class y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dirty="0"/>
              <a:t>Examples:</a:t>
            </a:r>
            <a:br>
              <a:rPr lang="en-US" sz="2400" dirty="0"/>
            </a:br>
            <a:endParaRPr lang="en-US" sz="800" dirty="0"/>
          </a:p>
          <a:p>
            <a:pPr lvl="1">
              <a:lnSpc>
                <a:spcPct val="90000"/>
              </a:lnSpc>
              <a:buFont typeface="Arial" charset="0"/>
              <a:buNone/>
              <a:defRPr/>
            </a:pPr>
            <a:r>
              <a:rPr lang="en-US" sz="2000" dirty="0"/>
              <a:t>	P(Status=</a:t>
            </a:r>
            <a:r>
              <a:rPr lang="en-US" sz="2000" dirty="0" err="1"/>
              <a:t>Married|No</a:t>
            </a:r>
            <a:r>
              <a:rPr lang="en-US" sz="2000" dirty="0"/>
              <a:t>) = 4/7</a:t>
            </a:r>
            <a:r>
              <a:rPr lang="en-US" sz="2000" baseline="-25000" dirty="0"/>
              <a:t/>
            </a:r>
            <a:br>
              <a:rPr lang="en-US" sz="2000" baseline="-25000" dirty="0"/>
            </a:br>
            <a:r>
              <a:rPr lang="en-US" sz="2000" dirty="0"/>
              <a:t>P(Refund=</a:t>
            </a:r>
            <a:r>
              <a:rPr lang="en-US" sz="2000" dirty="0" err="1"/>
              <a:t>Yes|Yes</a:t>
            </a:r>
            <a:r>
              <a:rPr lang="en-US" sz="2000" dirty="0"/>
              <a:t>)=0</a:t>
            </a:r>
            <a:endParaRPr lang="en-US" sz="2000" baseline="-25000" dirty="0"/>
          </a:p>
        </p:txBody>
      </p:sp>
      <p:graphicFrame>
        <p:nvGraphicFramePr>
          <p:cNvPr id="2970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49188767"/>
              </p:ext>
            </p:extLst>
          </p:nvPr>
        </p:nvGraphicFramePr>
        <p:xfrm>
          <a:off x="76200" y="1524000"/>
          <a:ext cx="4389438" cy="4275138"/>
        </p:xfrm>
        <a:graphic>
          <a:graphicData uri="http://schemas.openxmlformats.org/presentationml/2006/ole">
            <p:oleObj spid="_x0000_s29746" name="VISIO" r:id="rId3" imgW="4392168" imgH="5334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For continuous attributes: </a:t>
            </a:r>
          </a:p>
          <a:p>
            <a:pPr marL="990600" lvl="1" indent="-533400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Discretization:</a:t>
            </a:r>
            <a:r>
              <a:rPr lang="en-US" dirty="0"/>
              <a:t> Partition the range into bins: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Replace continuous value with bin value</a:t>
            </a:r>
          </a:p>
          <a:p>
            <a:pPr marL="1752600" lvl="3" indent="-381000">
              <a:defRPr/>
            </a:pPr>
            <a:r>
              <a:rPr lang="en-US" dirty="0">
                <a:latin typeface="Times New Roman" charset="0"/>
              </a:rPr>
              <a:t>Attribute changed from continuous to ordinal</a:t>
            </a:r>
          </a:p>
          <a:p>
            <a:pPr marL="1752600" lvl="3" indent="-381000">
              <a:defRPr/>
            </a:pPr>
            <a:endParaRPr lang="en-US" dirty="0">
              <a:latin typeface="Times New Roman" charset="0"/>
            </a:endParaRPr>
          </a:p>
          <a:p>
            <a:pPr marL="990600" lvl="1" indent="-533400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Assume attribute follows a normal distribution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Use data to estimate parameters of distribution </a:t>
            </a:r>
            <a:br>
              <a:rPr lang="en-US" dirty="0"/>
            </a:br>
            <a:r>
              <a:rPr lang="en-US" dirty="0"/>
              <a:t>   (e.g., mean and standard deviation)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Once probability distribution is known, use it to estimate the conditional probability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066800"/>
            <a:ext cx="4419600" cy="51816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Normal distribution:</a:t>
            </a:r>
          </a:p>
          <a:p>
            <a:pPr lvl="1">
              <a:buFont typeface="Arial" charset="0"/>
              <a:buChar char="–"/>
              <a:defRPr/>
            </a:pPr>
            <a:endParaRPr lang="en-US" sz="2400" dirty="0"/>
          </a:p>
          <a:p>
            <a:pPr lvl="1">
              <a:buFont typeface="Arial" charset="0"/>
              <a:buChar char="–"/>
              <a:defRPr/>
            </a:pPr>
            <a:endParaRPr lang="en-US" sz="2400" dirty="0"/>
          </a:p>
          <a:p>
            <a:pPr lvl="1">
              <a:buFont typeface="Arial" charset="0"/>
              <a:buChar char="–"/>
              <a:defRPr/>
            </a:pPr>
            <a:endParaRPr lang="en-US" sz="1000" dirty="0"/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One for each (</a:t>
            </a:r>
            <a:r>
              <a:rPr lang="en-US" sz="2400" dirty="0" err="1"/>
              <a:t>X</a:t>
            </a:r>
            <a:r>
              <a:rPr lang="en-US" sz="2400" baseline="-25000" dirty="0" err="1"/>
              <a:t>i</a:t>
            </a:r>
            <a:r>
              <a:rPr lang="en-US" sz="2400" dirty="0" err="1"/>
              <a:t>,Y</a:t>
            </a:r>
            <a:r>
              <a:rPr lang="en-US" sz="2400" baseline="-25000" dirty="0" err="1"/>
              <a:t>i</a:t>
            </a:r>
            <a:r>
              <a:rPr lang="en-US" sz="2400" dirty="0"/>
              <a:t>) pair</a:t>
            </a:r>
          </a:p>
          <a:p>
            <a:pPr lvl="1">
              <a:buFont typeface="Arial" charset="0"/>
              <a:buChar char="–"/>
              <a:defRPr/>
            </a:pPr>
            <a:endParaRPr lang="en-US" sz="800" dirty="0"/>
          </a:p>
          <a:p>
            <a:pPr>
              <a:defRPr/>
            </a:pPr>
            <a:r>
              <a:rPr lang="en-US" sz="2400" dirty="0">
                <a:cs typeface="+mn-cs"/>
              </a:rPr>
              <a:t>For (Income, Class=No):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If Class=No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sz="2000" dirty="0"/>
              <a:t> sample mean = 110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sz="2000" dirty="0"/>
              <a:t> sample variance = 2975</a:t>
            </a:r>
          </a:p>
          <a:p>
            <a:pPr lvl="1">
              <a:buFont typeface="Arial" charset="0"/>
              <a:buNone/>
              <a:defRPr/>
            </a:pPr>
            <a:endParaRPr lang="en-US" sz="2400" dirty="0"/>
          </a:p>
        </p:txBody>
      </p:sp>
      <p:graphicFrame>
        <p:nvGraphicFramePr>
          <p:cNvPr id="31747" name="Object 4"/>
          <p:cNvGraphicFramePr>
            <a:graphicFrameLocks noChangeAspect="1"/>
          </p:cNvGraphicFramePr>
          <p:nvPr/>
        </p:nvGraphicFramePr>
        <p:xfrm>
          <a:off x="304800" y="1143000"/>
          <a:ext cx="4195763" cy="4038600"/>
        </p:xfrm>
        <a:graphic>
          <a:graphicData uri="http://schemas.openxmlformats.org/presentationml/2006/ole">
            <p:oleObj spid="_x0000_s31885" name="VISIO" r:id="rId3" imgW="4392168" imgH="5334000" progId="">
              <p:embed/>
            </p:oleObj>
          </a:graphicData>
        </a:graphic>
      </p:graphicFrame>
      <p:graphicFrame>
        <p:nvGraphicFramePr>
          <p:cNvPr id="31748" name="Object 5"/>
          <p:cNvGraphicFramePr>
            <a:graphicFrameLocks noChangeAspect="1"/>
          </p:cNvGraphicFramePr>
          <p:nvPr/>
        </p:nvGraphicFramePr>
        <p:xfrm>
          <a:off x="5181600" y="1512888"/>
          <a:ext cx="3352800" cy="1085850"/>
        </p:xfrm>
        <a:graphic>
          <a:graphicData uri="http://schemas.openxmlformats.org/presentationml/2006/ole">
            <p:oleObj spid="_x0000_s31886" name="Equation" r:id="rId4" imgW="1803400" imgH="584200" progId="Equation.3">
              <p:embed/>
            </p:oleObj>
          </a:graphicData>
        </a:graphic>
      </p:graphicFrame>
      <p:graphicFrame>
        <p:nvGraphicFramePr>
          <p:cNvPr id="31749" name="Object 6"/>
          <p:cNvGraphicFramePr>
            <a:graphicFrameLocks noChangeAspect="1"/>
          </p:cNvGraphicFramePr>
          <p:nvPr/>
        </p:nvGraphicFramePr>
        <p:xfrm>
          <a:off x="236538" y="5257800"/>
          <a:ext cx="8520112" cy="1055688"/>
        </p:xfrm>
        <a:graphic>
          <a:graphicData uri="http://schemas.openxmlformats.org/presentationml/2006/ole">
            <p:oleObj spid="_x0000_s31887" name="Equation" r:id="rId5" imgW="6350000" imgH="787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Example of Naïve Bayes Classifier</a:t>
            </a:r>
          </a:p>
        </p:txBody>
      </p:sp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143000" y="1357313"/>
          <a:ext cx="7354888" cy="527050"/>
        </p:xfrm>
        <a:graphic>
          <a:graphicData uri="http://schemas.openxmlformats.org/presentationml/2006/ole">
            <p:oleObj spid="_x0000_s32820" name="Equation" r:id="rId3" imgW="2832100" imgH="203200" progId="Equation.3">
              <p:embed/>
            </p:oleObj>
          </a:graphicData>
        </a:graphic>
      </p:graphicFrame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25908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No) = P(Refund=No | 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charset="2"/>
              </a:rPr>
              <a:t> P(Divorced | </a:t>
            </a:r>
            <a:r>
              <a:rPr lang="en-US" altLang="en-US" sz="1600" b="0" dirty="0"/>
              <a:t>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charset="2"/>
              </a:rPr>
              <a:t></a:t>
            </a:r>
            <a:r>
              <a:rPr lang="en-US" altLang="en-US" sz="1600" b="0" dirty="0"/>
              <a:t> P(Income=120K | No)</a:t>
            </a:r>
            <a:br>
              <a:rPr lang="en-US" altLang="en-US" sz="1600" b="0" dirty="0"/>
            </a:br>
            <a:r>
              <a:rPr lang="en-US" altLang="en-US" sz="1600" b="0" dirty="0"/>
              <a:t>	              = 4/7 </a:t>
            </a:r>
            <a:r>
              <a:rPr lang="en-US" altLang="en-US" sz="1600" b="0" dirty="0">
                <a:sym typeface="Symbol" charset="2"/>
              </a:rPr>
              <a:t> 1/7  0.0072 = 0.0006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endParaRPr lang="en-US" altLang="en-US" sz="800" b="0" dirty="0">
              <a:sym typeface="Symbol" charset="2"/>
            </a:endParaRPr>
          </a:p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Yes) = P(Refund=No | 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charset="2"/>
              </a:rPr>
              <a:t> P(Divorced | </a:t>
            </a:r>
            <a:r>
              <a:rPr lang="en-US" altLang="en-US" sz="1600" b="0" dirty="0"/>
              <a:t>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charset="2"/>
              </a:rPr>
              <a:t></a:t>
            </a:r>
            <a:r>
              <a:rPr lang="en-US" altLang="en-US" sz="1600" b="0" dirty="0"/>
              <a:t> P(Income=120K | Yes)</a:t>
            </a:r>
            <a:br>
              <a:rPr lang="en-US" altLang="en-US" sz="1600" b="0" dirty="0"/>
            </a:br>
            <a:r>
              <a:rPr lang="en-US" altLang="en-US" sz="1600" b="0" dirty="0"/>
              <a:t>	               = 1 </a:t>
            </a:r>
            <a:r>
              <a:rPr lang="en-US" altLang="en-US" sz="1600" b="0" dirty="0">
                <a:sym typeface="Symbol" charset="2"/>
              </a:rPr>
              <a:t> 1/3  1.2  10</a:t>
            </a:r>
            <a:r>
              <a:rPr lang="en-US" altLang="en-US" sz="1600" b="0" baseline="30000" dirty="0">
                <a:sym typeface="Symbol" charset="2"/>
              </a:rPr>
              <a:t>-9</a:t>
            </a:r>
            <a:r>
              <a:rPr lang="en-US" altLang="en-US" sz="1600" b="0" dirty="0">
                <a:sym typeface="Symbol" charset="2"/>
              </a:rPr>
              <a:t> = 4  10</a:t>
            </a:r>
            <a:r>
              <a:rPr lang="en-US" altLang="en-US" sz="1600" b="0" baseline="30000" dirty="0">
                <a:sym typeface="Symbol" charset="2"/>
              </a:rPr>
              <a:t>-10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endParaRPr lang="en-US" altLang="en-US" sz="800" b="0" dirty="0">
              <a:sym typeface="Symbol" charset="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r>
              <a:rPr lang="en-US" altLang="en-US" sz="1800" b="0" dirty="0"/>
              <a:t>Since P(</a:t>
            </a:r>
            <a:r>
              <a:rPr lang="en-US" altLang="en-US" sz="1800" b="0" dirty="0" err="1"/>
              <a:t>X|No</a:t>
            </a:r>
            <a:r>
              <a:rPr lang="en-US" altLang="en-US" sz="1800" b="0" dirty="0"/>
              <a:t>)P(No) &gt; P(</a:t>
            </a:r>
            <a:r>
              <a:rPr lang="en-US" altLang="en-US" sz="1800" b="0" dirty="0" err="1"/>
              <a:t>X|Yes</a:t>
            </a:r>
            <a:r>
              <a:rPr lang="en-US" altLang="en-US" sz="1800" b="0" dirty="0"/>
              <a:t>)P(Yes)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r>
              <a:rPr lang="en-US" altLang="en-US" sz="1800" b="0" dirty="0"/>
              <a:t>Therefore P(</a:t>
            </a:r>
            <a:r>
              <a:rPr lang="en-US" altLang="en-US" sz="1800" b="0" dirty="0" err="1"/>
              <a:t>No|X</a:t>
            </a:r>
            <a:r>
              <a:rPr lang="en-US" altLang="en-US" sz="1800" b="0" dirty="0"/>
              <a:t>) &gt; P(</a:t>
            </a:r>
            <a:r>
              <a:rPr lang="en-US" altLang="en-US" sz="1800" b="0" dirty="0" err="1"/>
              <a:t>Yes|X</a:t>
            </a:r>
            <a:r>
              <a:rPr lang="en-US" altLang="en-US" sz="1800" b="0" dirty="0"/>
              <a:t>)</a:t>
            </a:r>
            <a:br>
              <a:rPr lang="en-US" altLang="en-US" sz="1800" b="0" dirty="0"/>
            </a:br>
            <a:r>
              <a:rPr lang="en-US" altLang="en-US" sz="1800" b="0" dirty="0"/>
              <a:t>      </a:t>
            </a:r>
            <a:r>
              <a:rPr lang="en-US" altLang="en-US" sz="2000" b="0" dirty="0">
                <a:sym typeface="Symbol" charset="2"/>
              </a:rPr>
              <a:t>=&gt; Class = No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32773" name="TextBox 1"/>
          <p:cNvSpPr txBox="1">
            <a:spLocks noChangeArrowheads="1"/>
          </p:cNvSpPr>
          <p:nvPr/>
        </p:nvSpPr>
        <p:spPr bwMode="auto">
          <a:xfrm>
            <a:off x="228600" y="19812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763000" cy="533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 smtClean="0">
                <a:ea typeface="ＭＳ Ｐゴシック" pitchFamily="34" charset="-128"/>
              </a:rPr>
              <a:t>Naïve </a:t>
            </a:r>
            <a:r>
              <a:rPr lang="en-US" altLang="en-US" sz="2400" dirty="0">
                <a:ea typeface="ＭＳ Ｐゴシック" pitchFamily="34" charset="-128"/>
              </a:rPr>
              <a:t>Bayes </a:t>
            </a:r>
            <a:r>
              <a:rPr lang="en-US" altLang="en-US" sz="2400" dirty="0" smtClean="0">
                <a:ea typeface="ＭＳ Ｐゴシック" pitchFamily="34" charset="-128"/>
              </a:rPr>
              <a:t>Classifier can make decisions with partial information about attributes in the test record</a:t>
            </a:r>
            <a:endParaRPr lang="en-US" altLang="en-US" sz="2400" dirty="0">
              <a:ea typeface="ＭＳ Ｐゴシック" pitchFamily="34" charset="-128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1143000"/>
            <a:ext cx="5410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P(Yes) = 3/10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P(No) = </a:t>
            </a:r>
            <a:r>
              <a:rPr lang="en-US" altLang="en-US" sz="1600" b="0" dirty="0" smtClean="0"/>
              <a:t>7/10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 smtClean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 smtClean="0"/>
              <a:t>If we only know that marital status is Divorced, then</a:t>
            </a:r>
            <a:r>
              <a:rPr lang="en-US" altLang="en-US" sz="1600" b="0" dirty="0" smtClean="0"/>
              <a:t>:</a:t>
            </a:r>
            <a:endParaRPr lang="en-US" altLang="en-US" sz="1600" b="0" dirty="0"/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Divorced) = 1/3 x 3/10 / P(Divorced)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 | Divorced) = 1/7 x 7/10 / P(Divorced</a:t>
            </a:r>
            <a:r>
              <a:rPr lang="en-US" altLang="en-US" sz="1600" b="0" dirty="0" smtClean="0"/>
              <a:t>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charset="2"/>
              </a:rPr>
              <a:t>If we also know that Refund = No, then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 smtClean="0"/>
              <a:t>     </a:t>
            </a:r>
            <a:r>
              <a:rPr lang="en-US" altLang="en-US" sz="1600" b="0" dirty="0"/>
              <a:t>P(Yes | Refund = No, Divorced) = 1 x 1/3 x 3/10 / 		          P(Divorced, Refund = No)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= No, Divorced) = 4/7 x 1/7 x 7/10 /    		          </a:t>
            </a:r>
            <a:r>
              <a:rPr lang="en-US" altLang="en-US" sz="1600" b="0" dirty="0"/>
              <a:t>P(Divorced, Refund = No</a:t>
            </a:r>
            <a:r>
              <a:rPr lang="en-US" altLang="en-US" sz="1600" b="0" dirty="0" smtClean="0"/>
              <a:t>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charset="2"/>
              </a:rPr>
              <a:t>If we also know that </a:t>
            </a:r>
            <a:r>
              <a:rPr lang="en-US" altLang="en-US" sz="1600" dirty="0" smtClean="0">
                <a:sym typeface="Symbol" charset="2"/>
              </a:rPr>
              <a:t>Taxable Income </a:t>
            </a:r>
            <a:r>
              <a:rPr lang="en-US" altLang="en-US" sz="1600" dirty="0">
                <a:sym typeface="Symbol" charset="2"/>
              </a:rPr>
              <a:t>= </a:t>
            </a:r>
            <a:r>
              <a:rPr lang="en-US" altLang="en-US" sz="1600" dirty="0" smtClean="0">
                <a:sym typeface="Symbol" charset="2"/>
              </a:rPr>
              <a:t>120, </a:t>
            </a:r>
            <a:r>
              <a:rPr lang="en-US" altLang="en-US" sz="1600" dirty="0">
                <a:sym typeface="Symbol" charset="2"/>
              </a:rPr>
              <a:t>then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Refund = No, </a:t>
            </a:r>
            <a:r>
              <a:rPr lang="en-US" altLang="en-US" sz="1600" b="0" dirty="0" smtClean="0"/>
              <a:t>Divorced, Income = 120) =</a:t>
            </a:r>
            <a:br>
              <a:rPr lang="en-US" altLang="en-US" sz="1600" b="0" dirty="0" smtClean="0"/>
            </a:br>
            <a:r>
              <a:rPr lang="en-US" altLang="en-US" sz="1600" b="0" dirty="0"/>
              <a:t>                                              1.2 x</a:t>
            </a:r>
            <a:r>
              <a:rPr lang="en-US" altLang="en-US" sz="1600" b="0" dirty="0" smtClean="0"/>
              <a:t>10</a:t>
            </a:r>
            <a:r>
              <a:rPr lang="en-US" altLang="en-US" sz="1600" b="0" baseline="30000" dirty="0" smtClean="0"/>
              <a:t>-9</a:t>
            </a:r>
            <a:r>
              <a:rPr lang="en-US" altLang="en-US" sz="1600" b="0" dirty="0" smtClean="0"/>
              <a:t> x  1 x 1/3 </a:t>
            </a:r>
            <a:r>
              <a:rPr lang="en-US" altLang="en-US" sz="1600" b="0" dirty="0"/>
              <a:t>x 3/10 </a:t>
            </a:r>
            <a:r>
              <a:rPr lang="en-US" altLang="en-US" sz="1600" b="0" dirty="0" smtClean="0"/>
              <a:t>/     	P(Divorced</a:t>
            </a:r>
            <a:r>
              <a:rPr lang="en-US" altLang="en-US" sz="1600" b="0" dirty="0"/>
              <a:t>, Refund = </a:t>
            </a:r>
            <a:r>
              <a:rPr lang="en-US" altLang="en-US" sz="1600" b="0" dirty="0" smtClean="0"/>
              <a:t>No,  Income = 120 )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= </a:t>
            </a:r>
            <a:r>
              <a:rPr lang="en-US" altLang="en-US" sz="1600" b="0" dirty="0">
                <a:solidFill>
                  <a:srgbClr val="000000"/>
                </a:solidFill>
              </a:rPr>
              <a:t>No,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Divorced Income = 120) </a:t>
            </a:r>
            <a:r>
              <a:rPr lang="en-US" altLang="en-US" sz="1600" b="0" dirty="0">
                <a:solidFill>
                  <a:srgbClr val="000000"/>
                </a:solidFill>
              </a:rPr>
              <a:t>=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/>
            </a:r>
            <a:br>
              <a:rPr lang="en-US" altLang="en-US" sz="1600" b="0" dirty="0" smtClean="0">
                <a:solidFill>
                  <a:srgbClr val="000000"/>
                </a:solidFill>
              </a:rPr>
            </a:br>
            <a:r>
              <a:rPr lang="en-US" altLang="en-US" sz="1600" b="0" dirty="0">
                <a:solidFill>
                  <a:srgbClr val="000000"/>
                </a:solidFill>
              </a:rPr>
              <a:t>                                      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0.0072  x 4/7 </a:t>
            </a:r>
            <a:r>
              <a:rPr lang="en-US" altLang="en-US" sz="1600" b="0" dirty="0">
                <a:solidFill>
                  <a:srgbClr val="000000"/>
                </a:solidFill>
              </a:rPr>
              <a:t>x 1/7 x 7/10 /  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             	</a:t>
            </a:r>
            <a:r>
              <a:rPr lang="en-US" altLang="en-US" sz="1600" b="0" dirty="0" smtClean="0"/>
              <a:t>P(Divorced</a:t>
            </a:r>
            <a:r>
              <a:rPr lang="en-US" altLang="en-US" sz="1600" b="0" dirty="0"/>
              <a:t>, Refund = </a:t>
            </a:r>
            <a:r>
              <a:rPr lang="en-US" altLang="en-US" sz="1600" b="0" dirty="0" smtClean="0"/>
              <a:t>No, Income = 120)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1600" b="0" dirty="0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331628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 smtClean="0">
                <a:solidFill>
                  <a:srgbClr val="FF0000"/>
                </a:solidFill>
              </a:rPr>
              <a:t>Even in absence of information about any attributes, we can use </a:t>
            </a:r>
            <a:r>
              <a:rPr lang="en-US" dirty="0" err="1" smtClean="0">
                <a:solidFill>
                  <a:srgbClr val="FF0000"/>
                </a:solidFill>
              </a:rPr>
              <a:t>Apriori</a:t>
            </a:r>
            <a:r>
              <a:rPr lang="en-US" dirty="0" smtClean="0">
                <a:solidFill>
                  <a:srgbClr val="FF0000"/>
                </a:solidFill>
              </a:rPr>
              <a:t> Probabilities of Class Variable:</a:t>
            </a:r>
          </a:p>
          <a:p>
            <a:pPr>
              <a:spcBef>
                <a:spcPct val="50000"/>
              </a:spcBef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797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xmlns="" val="166313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886200" y="2133600"/>
            <a:ext cx="5410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P(Yes) = 3/10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P(No) = 7/10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 | Married) = 0 x 3/10 / P(Married)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 | Married) = 4/7 x 7/10 / P(Married)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900" b="0" dirty="0">
              <a:sym typeface="Symbol" charset="2"/>
            </a:endParaRPr>
          </a:p>
        </p:txBody>
      </p:sp>
      <p:sp>
        <p:nvSpPr>
          <p:cNvPr id="34819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1752600" y="1292423"/>
            <a:ext cx="268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 X = (Married)</a:t>
            </a:r>
            <a:endParaRPr lang="en-US" sz="18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Font typeface="Monotype Sorts" pitchFamily="-84" charset="2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</p:txBody>
      </p:sp>
      <p:graphicFrame>
        <p:nvGraphicFramePr>
          <p:cNvPr id="35843" name="Object 1"/>
          <p:cNvGraphicFramePr>
            <a:graphicFrameLocks noChangeAspect="1"/>
          </p:cNvGraphicFramePr>
          <p:nvPr/>
        </p:nvGraphicFramePr>
        <p:xfrm>
          <a:off x="409575" y="1441450"/>
          <a:ext cx="3681413" cy="3543300"/>
        </p:xfrm>
        <a:graphic>
          <a:graphicData uri="http://schemas.openxmlformats.org/presentationml/2006/ole">
            <p:oleObj spid="_x0000_s35896" name="VISIO" r:id="rId3" imgW="4392168" imgH="5334000" progId="">
              <p:embed/>
            </p:oleObj>
          </a:graphicData>
        </a:graphic>
      </p:graphicFrame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4419600" y="1062038"/>
            <a:ext cx="3316288" cy="400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2/6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685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8600" y="1090613"/>
            <a:ext cx="36576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 b="0" dirty="0"/>
              <a:t>Consider the table with </a:t>
            </a:r>
            <a:r>
              <a:rPr lang="en-US" sz="1600" b="0" dirty="0" err="1"/>
              <a:t>Tid</a:t>
            </a:r>
            <a:r>
              <a:rPr lang="en-US" sz="1600" b="0" dirty="0"/>
              <a:t> = 7 deleted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9100" y="5064125"/>
            <a:ext cx="4506913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Given X = (Refund = Yes, Divorced, 120K)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No) = 2/6 X 0 X 0.0083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Yes) = 0 X 1/3 X 1.2 X 10</a:t>
            </a:r>
            <a:r>
              <a:rPr lang="en-US" altLang="en-US" sz="2000" b="0" baseline="30000"/>
              <a:t>-9</a:t>
            </a:r>
            <a:r>
              <a:rPr lang="en-US" altLang="en-US" sz="2000" b="0"/>
              <a:t>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964113" y="5181600"/>
            <a:ext cx="3810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Naïve Bayes will not be able to classify X as Yes or No!</a:t>
            </a: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3886200" y="20828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>
            <a:off x="3886200" y="27432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5850" name="Rectangle 1"/>
          <p:cNvSpPr>
            <a:spLocks noChangeArrowheads="1"/>
          </p:cNvSpPr>
          <p:nvPr/>
        </p:nvSpPr>
        <p:spPr bwMode="auto">
          <a:xfrm>
            <a:off x="457200" y="3733800"/>
            <a:ext cx="3314700" cy="2286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one of the conditional probabilities is zero, then the entire expression becomes zero</a:t>
            </a:r>
            <a:endParaRPr lang="en-US" alt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Need to use other estimates of conditional probabilities than simple fractions</a:t>
            </a: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Probability estimation: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67400" y="2590800"/>
            <a:ext cx="27432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n</a:t>
            </a:r>
            <a:r>
              <a:rPr lang="en-US" altLang="en-US" sz="1700" b="0" dirty="0">
                <a:latin typeface="Times New Roman" charset="0"/>
              </a:rPr>
              <a:t>: number of training instances belonging to class </a:t>
            </a:r>
            <a:r>
              <a:rPr lang="en-US" altLang="en-US" sz="1700" b="0" i="1" dirty="0">
                <a:latin typeface="Times New Roman" charset="0"/>
              </a:rPr>
              <a:t>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n</a:t>
            </a:r>
            <a:r>
              <a:rPr lang="en-US" altLang="en-US" sz="1700" b="0" i="1" baseline="-25000" dirty="0">
                <a:latin typeface="Times New Roman" charset="0"/>
              </a:rPr>
              <a:t>c</a:t>
            </a:r>
            <a:r>
              <a:rPr lang="en-US" altLang="en-US" sz="1700" b="0" dirty="0">
                <a:latin typeface="Times New Roman" charset="0"/>
              </a:rPr>
              <a:t>: number of instances with 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i="1" dirty="0">
                <a:latin typeface="Times New Roman" charset="0"/>
              </a:rPr>
              <a:t> = c </a:t>
            </a:r>
            <a:r>
              <a:rPr lang="en-US" altLang="en-US" sz="1700" b="0" dirty="0">
                <a:latin typeface="Times New Roman" charset="0"/>
              </a:rPr>
              <a:t>and </a:t>
            </a:r>
            <a:r>
              <a:rPr lang="en-US" altLang="en-US" sz="1700" b="0" i="1" dirty="0">
                <a:latin typeface="Times New Roman" charset="0"/>
              </a:rPr>
              <a:t>Y = y</a:t>
            </a:r>
            <a:endParaRPr lang="en-US" altLang="en-US" sz="1700" b="0" i="1" baseline="-25000" dirty="0">
              <a:latin typeface="Times New Roman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v</a:t>
            </a:r>
            <a:r>
              <a:rPr lang="en-US" altLang="en-US" sz="1700" b="0" dirty="0">
                <a:latin typeface="Times New Roman" charset="0"/>
              </a:rPr>
              <a:t>: total number of attribute values that 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i="1" dirty="0">
                <a:latin typeface="Times New Roman" charset="0"/>
              </a:rPr>
              <a:t> </a:t>
            </a:r>
            <a:r>
              <a:rPr lang="en-US" altLang="en-US" sz="1700" b="0" dirty="0">
                <a:latin typeface="Times New Roman" charset="0"/>
              </a:rPr>
              <a:t>can take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p</a:t>
            </a:r>
            <a:r>
              <a:rPr lang="en-US" altLang="en-US" sz="1700" b="0" dirty="0">
                <a:latin typeface="Times New Roman" charset="0"/>
              </a:rPr>
              <a:t>: initial estimate of </a:t>
            </a:r>
            <a:r>
              <a:rPr lang="en-US" altLang="en-US" sz="1700" b="0" i="1" dirty="0">
                <a:latin typeface="Times New Roman" charset="0"/>
              </a:rPr>
              <a:t/>
            </a:r>
            <a:br>
              <a:rPr lang="en-US" altLang="en-US" sz="1700" b="0" i="1" dirty="0">
                <a:latin typeface="Times New Roman" charset="0"/>
              </a:rPr>
            </a:br>
            <a:r>
              <a:rPr lang="en-US" altLang="en-US" sz="1700" b="0" dirty="0">
                <a:latin typeface="Times New Roman" charset="0"/>
              </a:rPr>
              <a:t>(P(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dirty="0">
                <a:latin typeface="Times New Roman" charset="0"/>
              </a:rPr>
              <a:t> </a:t>
            </a:r>
            <a:r>
              <a:rPr lang="en-US" altLang="en-US" sz="1700" b="0" i="1" dirty="0">
                <a:latin typeface="Times New Roman" charset="0"/>
              </a:rPr>
              <a:t>= </a:t>
            </a:r>
            <a:r>
              <a:rPr lang="en-US" altLang="en-US" sz="1700" b="0" i="1" dirty="0" err="1">
                <a:latin typeface="Times New Roman" charset="0"/>
              </a:rPr>
              <a:t>c|y</a:t>
            </a:r>
            <a:r>
              <a:rPr lang="en-US" altLang="en-US" sz="1700" b="0" i="1" dirty="0">
                <a:latin typeface="Times New Roman" charset="0"/>
              </a:rPr>
              <a:t>) </a:t>
            </a:r>
            <a:r>
              <a:rPr lang="en-US" altLang="en-US" sz="1700" b="0" dirty="0">
                <a:latin typeface="Times New Roman" charset="0"/>
              </a:rPr>
              <a:t>known </a:t>
            </a:r>
            <a:r>
              <a:rPr lang="en-US" altLang="en-US" sz="1700" b="0" dirty="0" err="1">
                <a:latin typeface="Times New Roman" charset="0"/>
              </a:rPr>
              <a:t>apriori</a:t>
            </a:r>
            <a:endParaRPr lang="en-US" altLang="en-US" sz="1700" b="0" baseline="-25000" dirty="0">
              <a:latin typeface="Times New Roman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m</a:t>
            </a:r>
            <a:r>
              <a:rPr lang="en-US" altLang="en-US" sz="1700" b="0" dirty="0">
                <a:latin typeface="Times New Roman" charset="0"/>
              </a:rPr>
              <a:t>: hyper-parameter for our confidence in </a:t>
            </a:r>
            <a:r>
              <a:rPr lang="en-US" altLang="en-US" sz="1700" b="0" i="1" dirty="0">
                <a:latin typeface="Times New Roman" charset="0"/>
              </a:rPr>
              <a:t>p</a:t>
            </a:r>
            <a:endParaRPr lang="en-US" altLang="en-US" sz="1700" b="0" i="1" baseline="-25000" dirty="0">
              <a:latin typeface="Times New Roman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TextBox 1"/>
              <p:cNvSpPr txBox="1"/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Laplace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original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Example of Naïve Bayes Classifier</a:t>
            </a: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/>
        </p:nvGraphicFramePr>
        <p:xfrm>
          <a:off x="152400" y="1295400"/>
          <a:ext cx="5181600" cy="3733800"/>
        </p:xfrm>
        <a:graphic>
          <a:graphicData uri="http://schemas.openxmlformats.org/presentationml/2006/ole">
            <p:oleObj spid="_x0000_s38030" name="Worksheet" r:id="rId3" imgW="6048000" imgH="4235760" progId="Excel.Sheet.8">
              <p:embed/>
            </p:oleObj>
          </a:graphicData>
        </a:graphic>
      </p:graphicFrame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304800" y="5410200"/>
          <a:ext cx="5153025" cy="438150"/>
        </p:xfrm>
        <a:graphic>
          <a:graphicData uri="http://schemas.openxmlformats.org/presentationml/2006/ole">
            <p:oleObj spid="_x0000_s38031" name="Worksheet" r:id="rId4" imgW="4869000" imgH="388080" progId="Excel.Sheet.8">
              <p:embed/>
            </p:oleObj>
          </a:graphicData>
        </a:graphic>
      </p:graphicFrame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5487988" y="2362200"/>
          <a:ext cx="3656012" cy="2584450"/>
        </p:xfrm>
        <a:graphic>
          <a:graphicData uri="http://schemas.openxmlformats.org/presentationml/2006/ole">
            <p:oleObj spid="_x0000_s38032" name="Equation" r:id="rId5" imgW="4457700" imgH="3149600" progId="Equation.3">
              <p:embed/>
            </p:oleObj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867400" y="1295400"/>
            <a:ext cx="27432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A: attributes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M: mammals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N: non-mammals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791200" y="5257800"/>
            <a:ext cx="27432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P(A|M)P(M) &gt; P(A|N)P(N)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=&gt; Mammals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Naïve Bayes (Summary)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isolated noise points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Handle missing values by ignoring the instance during probability estimate calculations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irrelevant attributes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Redundant and correlated attributes will violate class conditional assumption</a:t>
            </a:r>
          </a:p>
          <a:p>
            <a:pPr lvl="2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Use other techniques such as Bayesian Belief Networks (BBN)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How does Naïve Bayes perform on the following dataset?</a:t>
            </a:r>
          </a:p>
        </p:txBody>
      </p:sp>
      <p:pic>
        <p:nvPicPr>
          <p:cNvPr id="25604" name="Content Placeholder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1858963" y="1676400"/>
            <a:ext cx="5334000" cy="407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858963" y="5822950"/>
            <a:ext cx="5211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Conditional independence of attributes is violated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Bayesian Belief Networks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Provides graphical representation of probabilistic relationships among a set of random variables</a:t>
            </a:r>
          </a:p>
          <a:p>
            <a:pPr>
              <a:defRPr/>
            </a:pPr>
            <a:r>
              <a:rPr lang="en-US" dirty="0">
                <a:cs typeface="+mn-cs"/>
              </a:rPr>
              <a:t>Consists of: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 directed acyclic graph (dag)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Node corresponds to a variable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Arc corresponds to dependence </a:t>
            </a:r>
            <a:br>
              <a:rPr lang="en-US" dirty="0"/>
            </a:br>
            <a:r>
              <a:rPr lang="en-US" dirty="0"/>
              <a:t>relationship between a pair of variables</a:t>
            </a:r>
          </a:p>
          <a:p>
            <a:pPr lvl="2">
              <a:buFont typeface="Wingdings" charset="0"/>
              <a:buChar char="u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 probability table associating each node to its immediate parent</a:t>
            </a:r>
          </a:p>
        </p:txBody>
      </p:sp>
      <p:graphicFrame>
        <p:nvGraphicFramePr>
          <p:cNvPr id="43011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xmlns="" val="213665154"/>
              </p:ext>
            </p:extLst>
          </p:nvPr>
        </p:nvGraphicFramePr>
        <p:xfrm>
          <a:off x="6651625" y="2609850"/>
          <a:ext cx="2127250" cy="1636713"/>
        </p:xfrm>
        <a:graphic>
          <a:graphicData uri="http://schemas.openxmlformats.org/presentationml/2006/ole">
            <p:oleObj spid="_x0000_s43057" name="Visio" r:id="rId3" imgW="2190839" imgH="1685895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4953000"/>
            <a:ext cx="8318500" cy="13716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node in a Bayesian network is conditionally independent of all of its </a:t>
            </a:r>
            <a:r>
              <a:rPr lang="en-US" dirty="0" err="1">
                <a:cs typeface="+mn-cs"/>
              </a:rPr>
              <a:t>nondescendants</a:t>
            </a:r>
            <a:r>
              <a:rPr lang="en-US" dirty="0">
                <a:cs typeface="+mn-cs"/>
              </a:rPr>
              <a:t>, if its parents are known</a:t>
            </a:r>
          </a:p>
        </p:txBody>
      </p:sp>
      <p:graphicFrame>
        <p:nvGraphicFramePr>
          <p:cNvPr id="44035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143000" y="1219200"/>
          <a:ext cx="2649538" cy="3352800"/>
        </p:xfrm>
        <a:graphic>
          <a:graphicData uri="http://schemas.openxmlformats.org/presentationml/2006/ole">
            <p:oleObj spid="_x0000_s44082" name="Visio" r:id="rId3" imgW="2202942" imgH="2787827" progId="">
              <p:embed/>
            </p:oleObj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4800600" y="1752600"/>
            <a:ext cx="3657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D is parent of C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A is child of C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B is descendant of D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D is ancestor of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3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Naïve Bayes assumption:</a:t>
            </a:r>
          </a:p>
        </p:txBody>
      </p:sp>
      <p:graphicFrame>
        <p:nvGraphicFramePr>
          <p:cNvPr id="4505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24000" y="2362200"/>
          <a:ext cx="5486400" cy="2151063"/>
        </p:xfrm>
        <a:graphic>
          <a:graphicData uri="http://schemas.openxmlformats.org/presentationml/2006/ole">
            <p:oleObj spid="_x0000_s45105" name="Visio" r:id="rId3" imgW="4378858" imgH="17177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Probability Tables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does not have any parents, table contains prior probability P(X)</a:t>
            </a:r>
          </a:p>
          <a:p>
            <a:pPr>
              <a:buFont typeface="Monotype Sorts" pitchFamily="-84" charset="2"/>
              <a:buChar char="l"/>
              <a:defRPr/>
            </a:pPr>
            <a:endParaRPr lang="en-US" altLang="en-US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has only one parent (Y), table contains conditional probability P(X|Y)</a:t>
            </a:r>
          </a:p>
          <a:p>
            <a:pPr>
              <a:buFont typeface="Monotype Sorts" pitchFamily="-84" charset="2"/>
              <a:buChar char="l"/>
              <a:defRPr/>
            </a:pPr>
            <a:endParaRPr lang="en-US" altLang="en-US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has multiple parents (Y</a:t>
            </a:r>
            <a:r>
              <a:rPr lang="en-US" altLang="en-US" baseline="-25000" dirty="0">
                <a:ea typeface="ＭＳ Ｐゴシック" pitchFamily="34" charset="-128"/>
              </a:rPr>
              <a:t>1</a:t>
            </a:r>
            <a:r>
              <a:rPr lang="en-US" altLang="en-US" dirty="0">
                <a:ea typeface="ＭＳ Ｐゴシック" pitchFamily="34" charset="-128"/>
              </a:rPr>
              <a:t>, Y</a:t>
            </a:r>
            <a:r>
              <a:rPr lang="en-US" altLang="en-US" baseline="-25000" dirty="0">
                <a:ea typeface="ＭＳ Ｐゴシック" pitchFamily="34" charset="-128"/>
              </a:rPr>
              <a:t>2</a:t>
            </a:r>
            <a:r>
              <a:rPr lang="en-US" altLang="en-US" dirty="0">
                <a:ea typeface="ＭＳ Ｐゴシック" pitchFamily="34" charset="-128"/>
              </a:rPr>
              <a:t>,…, </a:t>
            </a:r>
            <a:r>
              <a:rPr lang="en-US" altLang="en-US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k</a:t>
            </a:r>
            <a:r>
              <a:rPr lang="en-US" altLang="en-US" dirty="0">
                <a:ea typeface="ＭＳ Ｐゴシック" pitchFamily="34" charset="-128"/>
              </a:rPr>
              <a:t>), table contains conditional probability P(X|Y</a:t>
            </a:r>
            <a:r>
              <a:rPr lang="en-US" altLang="en-US" baseline="-25000" dirty="0">
                <a:ea typeface="ＭＳ Ｐゴシック" pitchFamily="34" charset="-128"/>
              </a:rPr>
              <a:t>1</a:t>
            </a:r>
            <a:r>
              <a:rPr lang="en-US" altLang="en-US" dirty="0">
                <a:ea typeface="ＭＳ Ｐゴシック" pitchFamily="34" charset="-128"/>
              </a:rPr>
              <a:t>, Y</a:t>
            </a:r>
            <a:r>
              <a:rPr lang="en-US" altLang="en-US" baseline="-25000" dirty="0">
                <a:ea typeface="ＭＳ Ｐゴシック" pitchFamily="34" charset="-128"/>
              </a:rPr>
              <a:t>2</a:t>
            </a:r>
            <a:r>
              <a:rPr lang="en-US" altLang="en-US" dirty="0">
                <a:ea typeface="ＭＳ Ｐゴシック" pitchFamily="34" charset="-128"/>
              </a:rPr>
              <a:t>,…, </a:t>
            </a:r>
            <a:r>
              <a:rPr lang="en-US" altLang="en-US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k</a:t>
            </a:r>
            <a:r>
              <a:rPr lang="en-US" altLang="en-US" dirty="0">
                <a:ea typeface="ＭＳ Ｐゴシック" pitchFamily="34" charset="-128"/>
              </a:rPr>
              <a:t>)</a:t>
            </a:r>
          </a:p>
        </p:txBody>
      </p:sp>
      <p:graphicFrame>
        <p:nvGraphicFramePr>
          <p:cNvPr id="46083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7772400" y="1905000"/>
          <a:ext cx="517525" cy="1711325"/>
        </p:xfrm>
        <a:graphic>
          <a:graphicData uri="http://schemas.openxmlformats.org/presentationml/2006/ole">
            <p:oleObj spid="_x0000_s46129" name="Visio" r:id="rId3" imgW="517042" imgH="171117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Bayesian Belief Network</a:t>
            </a:r>
          </a:p>
        </p:txBody>
      </p:sp>
      <p:graphicFrame>
        <p:nvGraphicFramePr>
          <p:cNvPr id="47106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12826640"/>
              </p:ext>
            </p:extLst>
          </p:nvPr>
        </p:nvGraphicFramePr>
        <p:xfrm>
          <a:off x="588963" y="1152525"/>
          <a:ext cx="7962900" cy="5162550"/>
        </p:xfrm>
        <a:graphic>
          <a:graphicData uri="http://schemas.openxmlformats.org/presentationml/2006/ole">
            <p:oleObj spid="_x0000_s47152" name="Visio" r:id="rId3" imgW="9887216" imgH="6410453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Inferencing using BBN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Given: X = (E=No, D=Yes, CP=Yes, BP=High)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Compute P(HD|E,D,CP,BP)?</a:t>
            </a:r>
          </a:p>
          <a:p>
            <a:pPr lvl="4">
              <a:defRPr/>
            </a:pPr>
            <a:endParaRPr lang="en-US" sz="700" dirty="0">
              <a:latin typeface="Times New Roman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P(HD=Yes| E=No,D=Yes) = 0.55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HD=Yes) = 0.8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HD=Yes) = 0.85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P(HD=Yes|E=No,D=Yes,CP=Yes,BP=High) </a:t>
            </a:r>
            <a:br>
              <a:rPr lang="en-US" sz="2000" dirty="0"/>
            </a:br>
            <a:r>
              <a:rPr lang="en-US" sz="2000" dirty="0">
                <a:sym typeface="Symbol" charset="0"/>
              </a:rPr>
              <a:t> 0.55  0.8  0.85 = 0.374</a:t>
            </a:r>
          </a:p>
          <a:p>
            <a:pPr lvl="4">
              <a:defRPr/>
            </a:pPr>
            <a:endParaRPr lang="en-US" sz="700" dirty="0">
              <a:latin typeface="Times New Roman" charset="0"/>
              <a:sym typeface="Symbol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P(HD=No| E=No,D=Yes) = 0.45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HD=No) = 0.01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HD=No) = 0.2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P(HD=No|E=No,D=Yes,CP=Yes,BP=High) </a:t>
            </a:r>
            <a:br>
              <a:rPr lang="en-US" sz="2000" dirty="0"/>
            </a:br>
            <a:r>
              <a:rPr lang="en-US" sz="2000" dirty="0">
                <a:sym typeface="Symbol" charset="0"/>
              </a:rPr>
              <a:t> 0.45  0.01  0.2 = 0.0009</a:t>
            </a:r>
          </a:p>
        </p:txBody>
      </p:sp>
      <p:sp>
        <p:nvSpPr>
          <p:cNvPr id="24580" name="AutoShape 4"/>
          <p:cNvSpPr>
            <a:spLocks/>
          </p:cNvSpPr>
          <p:nvPr/>
        </p:nvSpPr>
        <p:spPr bwMode="auto">
          <a:xfrm>
            <a:off x="6324600" y="2362200"/>
            <a:ext cx="609600" cy="365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7086600" y="3749675"/>
            <a:ext cx="1828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Classify X as 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3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2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1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4466</TotalTime>
  <Pages>3</Pages>
  <Words>1397</Words>
  <Application>Microsoft Office PowerPoint</Application>
  <PresentationFormat>On-screen Show (4:3)</PresentationFormat>
  <Paragraphs>272</Paragraphs>
  <Slides>26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LC.BRev.FY97</vt:lpstr>
      <vt:lpstr>3_LC.BRev.FY97</vt:lpstr>
      <vt:lpstr>2_LC.BRev.FY97</vt:lpstr>
      <vt:lpstr>1_LC.BRev.FY97</vt:lpstr>
      <vt:lpstr>Equation</vt:lpstr>
      <vt:lpstr>VISIO</vt:lpstr>
      <vt:lpstr>Worksheet</vt:lpstr>
      <vt:lpstr>Visio</vt:lpstr>
      <vt:lpstr>Data Mining  Classification: Alternative Techniques</vt:lpstr>
      <vt:lpstr>Bayes Classifier</vt:lpstr>
      <vt:lpstr>Using Bayes Theorem for Classification</vt:lpstr>
      <vt:lpstr>Using Bayes Theorem for Classification</vt:lpstr>
      <vt:lpstr>Example Data</vt:lpstr>
      <vt:lpstr>Example Data</vt:lpstr>
      <vt:lpstr>Conditional Independence</vt:lpstr>
      <vt:lpstr>Naïve Bayes Classifier</vt:lpstr>
      <vt:lpstr>Naïve Bayes on Example Data</vt:lpstr>
      <vt:lpstr>Estimate Probabilities from Data</vt:lpstr>
      <vt:lpstr>Estimate Probabilities from Data</vt:lpstr>
      <vt:lpstr>Estimate Probabilities from Data</vt:lpstr>
      <vt:lpstr>Example of Naïve Bayes Classifier</vt:lpstr>
      <vt:lpstr>Naïve Bayes Classifier can make decisions with partial information about attributes in the test record</vt:lpstr>
      <vt:lpstr>Issues with Naïve Bayes Classifier</vt:lpstr>
      <vt:lpstr>Issues with Naïve Bayes Classifier</vt:lpstr>
      <vt:lpstr>Issues with Naïve Bayes Classifier</vt:lpstr>
      <vt:lpstr>Example of Naïve Bayes Classifier</vt:lpstr>
      <vt:lpstr>Naïve Bayes (Summary)</vt:lpstr>
      <vt:lpstr>Naïve Bayes</vt:lpstr>
      <vt:lpstr>Bayesian Belief Networks</vt:lpstr>
      <vt:lpstr>Conditional Independence</vt:lpstr>
      <vt:lpstr>Conditional Independence</vt:lpstr>
      <vt:lpstr>Probability Tables</vt:lpstr>
      <vt:lpstr>Example of Bayesian Belief Network</vt:lpstr>
      <vt:lpstr>Example of Inferencing using BBN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 Classification: Alternative Techniques</dc:title>
  <dc:creator>anujkarpatne@gmail.com</dc:creator>
  <cp:lastModifiedBy>Trijal</cp:lastModifiedBy>
  <cp:revision>43</cp:revision>
  <cp:lastPrinted>2019-09-13T15:48:11Z</cp:lastPrinted>
  <dcterms:created xsi:type="dcterms:W3CDTF">2018-02-14T20:49:24Z</dcterms:created>
  <dcterms:modified xsi:type="dcterms:W3CDTF">2021-02-26T06:32:35Z</dcterms:modified>
</cp:coreProperties>
</file>