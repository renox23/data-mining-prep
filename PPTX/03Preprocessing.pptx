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61" r:id="rId3"/>
    <p:sldMasterId id="2147483663" r:id="rId4"/>
  </p:sldMasterIdLst>
  <p:notesMasterIdLst>
    <p:notesMasterId r:id="rId7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329"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9144000" cy="6858000" type="screen4x3"/>
  <p:notesSz cx="7010400" cy="9236075"/>
  <p:embeddedFontLst>
    <p:embeddedFont>
      <p:font typeface="Arial Narrow" panose="020B0606020202030204" pitchFamily="34" charset="0"/>
      <p:regular r:id="rId80"/>
      <p:bold r:id="rId81"/>
      <p:italic r:id="rId82"/>
      <p:boldItalic r:id="rId83"/>
    </p:embeddedFont>
    <p:embeddedFont>
      <p:font typeface="Overlock" panose="020B0604020202020204" charset="0"/>
      <p:regular r:id="rId84"/>
      <p:bold r:id="rId85"/>
      <p:italic r:id="rId86"/>
      <p:boldItalic r:id="rId87"/>
    </p:embeddedFont>
    <p:embeddedFont>
      <p:font typeface="Tahoma" panose="020B0604030504040204" pitchFamily="34" charset="0"/>
      <p:regular r:id="rId88"/>
      <p:bold r:id="rId89"/>
    </p:embeddedFont>
    <p:embeddedFont>
      <p:font typeface="Verdana" panose="020B0604030504040204" pitchFamily="34" charset="0"/>
      <p:regular r:id="rId90"/>
      <p:bold r:id="rId91"/>
      <p:italic r:id="rId92"/>
      <p:boldItalic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909">
          <p15:clr>
            <a:srgbClr val="000000"/>
          </p15:clr>
        </p15:guide>
        <p15:guide id="2" pos="2208">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4" roundtripDataSignature="AMtx7mgh+W3/LIinMyiDH0mQfF2i8SqIh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30D1B1-A82E-4288-B21F-1B488FB1F6C6}">
  <a:tblStyle styleId="{5E30D1B1-A82E-4288-B21F-1B488FB1F6C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09"/>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font" Target="fonts/font5.fntdata"/><Relationship Id="rId89" Type="http://schemas.openxmlformats.org/officeDocument/2006/relationships/font" Target="fonts/font10.fntdata"/><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notesMaster" Target="notesMasters/notesMaster1.xml"/><Relationship Id="rId87" Type="http://schemas.openxmlformats.org/officeDocument/2006/relationships/font" Target="fonts/font8.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font" Target="fonts/font3.fntdata"/><Relationship Id="rId90" Type="http://schemas.openxmlformats.org/officeDocument/2006/relationships/font" Target="fonts/font11.fntdata"/><Relationship Id="rId95"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1.fntdata"/><Relationship Id="rId85" Type="http://schemas.openxmlformats.org/officeDocument/2006/relationships/font" Target="fonts/font6.fntdata"/><Relationship Id="rId93" Type="http://schemas.openxmlformats.org/officeDocument/2006/relationships/font" Target="fonts/font14.fntdata"/><Relationship Id="rId98"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4.fntdata"/><Relationship Id="rId88" Type="http://schemas.openxmlformats.org/officeDocument/2006/relationships/font" Target="fonts/font9.fntdata"/><Relationship Id="rId91" Type="http://schemas.openxmlformats.org/officeDocument/2006/relationships/font" Target="fonts/font12.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font" Target="fonts/font2.fntdata"/><Relationship Id="rId86" Type="http://schemas.openxmlformats.org/officeDocument/2006/relationships/font" Target="fonts/font7.fntdata"/><Relationship Id="rId94"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1962"/>
          </a:xfrm>
          <a:prstGeom prst="rect">
            <a:avLst/>
          </a:prstGeom>
          <a:noFill/>
          <a:ln>
            <a:noFill/>
          </a:ln>
        </p:spPr>
        <p:txBody>
          <a:bodyPr spcFirstLastPara="1" wrap="square" lIns="93150" tIns="46575" rIns="93150" bIns="46575"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971925" y="0"/>
            <a:ext cx="3038475" cy="461962"/>
          </a:xfrm>
          <a:prstGeom prst="rect">
            <a:avLst/>
          </a:prstGeom>
          <a:noFill/>
          <a:ln>
            <a:noFill/>
          </a:ln>
        </p:spPr>
        <p:txBody>
          <a:bodyPr spcFirstLastPara="1" wrap="square" lIns="93150" tIns="46575" rIns="93150" bIns="46575"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774112"/>
            <a:ext cx="3038475" cy="461962"/>
          </a:xfrm>
          <a:prstGeom prst="rect">
            <a:avLst/>
          </a:prstGeom>
          <a:noFill/>
          <a:ln>
            <a:noFill/>
          </a:ln>
        </p:spPr>
        <p:txBody>
          <a:bodyPr spcFirstLastPara="1" wrap="square" lIns="93150" tIns="46575" rIns="93150" bIns="46575"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a:t>
            </a:fld>
            <a:endParaRPr/>
          </a:p>
        </p:txBody>
      </p:sp>
      <p:sp>
        <p:nvSpPr>
          <p:cNvPr id="122" name="Google Shape;122;p1: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a:t>
            </a:fld>
            <a:endParaRPr/>
          </a:p>
        </p:txBody>
      </p:sp>
      <p:sp>
        <p:nvSpPr>
          <p:cNvPr id="130" name="Google Shape;130;p2: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p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a:t>
            </a:fld>
            <a:endParaRPr/>
          </a:p>
        </p:txBody>
      </p:sp>
      <p:sp>
        <p:nvSpPr>
          <p:cNvPr id="140" name="Google Shape;140;p3: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 name="Google Shape;141;p3:notes"/>
          <p:cNvSpPr txBox="1">
            <a:spLocks noGrp="1"/>
          </p:cNvSpPr>
          <p:nvPr>
            <p:ph type="body" idx="1"/>
          </p:nvPr>
        </p:nvSpPr>
        <p:spPr>
          <a:xfrm>
            <a:off x="935037" y="4387850"/>
            <a:ext cx="5140325" cy="4156075"/>
          </a:xfrm>
          <a:prstGeom prst="rect">
            <a:avLst/>
          </a:prstGeom>
          <a:noFill/>
          <a:ln>
            <a:noFill/>
          </a:ln>
        </p:spPr>
        <p:txBody>
          <a:bodyPr spcFirstLastPara="1" wrap="square" lIns="93475" tIns="46725" rIns="93475" bIns="467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a:t>
            </a:fld>
            <a:endParaRPr/>
          </a:p>
        </p:txBody>
      </p:sp>
      <p:sp>
        <p:nvSpPr>
          <p:cNvPr id="148" name="Google Shape;148;p4: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a:t>
            </a:fld>
            <a:endParaRPr/>
          </a:p>
        </p:txBody>
      </p:sp>
      <p:sp>
        <p:nvSpPr>
          <p:cNvPr id="156" name="Google Shape;156;p5: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5: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a:t>
            </a:fld>
            <a:endParaRPr/>
          </a:p>
        </p:txBody>
      </p:sp>
      <p:sp>
        <p:nvSpPr>
          <p:cNvPr id="166" name="Google Shape;166;p6: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 name="Google Shape;167;p6: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a:t>
            </a:fld>
            <a:endParaRPr/>
          </a:p>
        </p:txBody>
      </p:sp>
      <p:sp>
        <p:nvSpPr>
          <p:cNvPr id="174" name="Google Shape;174;p7: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7: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8</a:t>
            </a:fld>
            <a:endParaRPr/>
          </a:p>
        </p:txBody>
      </p:sp>
      <p:sp>
        <p:nvSpPr>
          <p:cNvPr id="182" name="Google Shape;182;p8: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8: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9</a:t>
            </a:fld>
            <a:endParaRPr/>
          </a:p>
        </p:txBody>
      </p:sp>
      <p:sp>
        <p:nvSpPr>
          <p:cNvPr id="190" name="Google Shape;190;p9: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p9: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10</a:t>
            </a:fld>
            <a:endParaRPr/>
          </a:p>
        </p:txBody>
      </p:sp>
      <p:sp>
        <p:nvSpPr>
          <p:cNvPr id="198" name="Google Shape;198;p10: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9" name="Google Shape;199;p10: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11</a:t>
            </a:fld>
            <a:endParaRPr/>
          </a:p>
        </p:txBody>
      </p:sp>
      <p:sp>
        <p:nvSpPr>
          <p:cNvPr id="206" name="Google Shape;206;p11: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1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12</a:t>
            </a:fld>
            <a:endParaRPr/>
          </a:p>
        </p:txBody>
      </p:sp>
      <p:sp>
        <p:nvSpPr>
          <p:cNvPr id="214" name="Google Shape;214;p12: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13</a:t>
            </a:fld>
            <a:endParaRPr/>
          </a:p>
        </p:txBody>
      </p:sp>
      <p:sp>
        <p:nvSpPr>
          <p:cNvPr id="224" name="Google Shape;224;p13: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13: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14</a:t>
            </a:fld>
            <a:endParaRPr/>
          </a:p>
        </p:txBody>
      </p:sp>
      <p:sp>
        <p:nvSpPr>
          <p:cNvPr id="233" name="Google Shape;233;p14:notes"/>
          <p:cNvSpPr>
            <a:spLocks noGrp="1" noRot="1" noChangeAspect="1"/>
          </p:cNvSpPr>
          <p:nvPr>
            <p:ph type="sldImg" idx="2"/>
          </p:nvPr>
        </p:nvSpPr>
        <p:spPr>
          <a:xfrm>
            <a:off x="1196975"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1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5: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15: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6: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6: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7: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7: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a:spLocks noGrp="1" noRot="1" noChangeAspect="1"/>
          </p:cNvSpPr>
          <p:nvPr>
            <p:ph type="sldImg" idx="2"/>
          </p:nvPr>
        </p:nvSpPr>
        <p:spPr>
          <a:xfrm>
            <a:off x="1208087" y="700087"/>
            <a:ext cx="4598987" cy="34496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18:notes"/>
          <p:cNvSpPr txBox="1">
            <a:spLocks noGrp="1"/>
          </p:cNvSpPr>
          <p:nvPr>
            <p:ph type="body" idx="1"/>
          </p:nvPr>
        </p:nvSpPr>
        <p:spPr>
          <a:xfrm>
            <a:off x="933450" y="4387850"/>
            <a:ext cx="5141912" cy="415290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9:notes"/>
          <p:cNvSpPr>
            <a:spLocks noGrp="1" noRot="1" noChangeAspect="1"/>
          </p:cNvSpPr>
          <p:nvPr>
            <p:ph type="sldImg" idx="2"/>
          </p:nvPr>
        </p:nvSpPr>
        <p:spPr>
          <a:xfrm>
            <a:off x="1208087" y="700087"/>
            <a:ext cx="4598987" cy="34496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7" name="Google Shape;277;p19:notes"/>
          <p:cNvSpPr txBox="1">
            <a:spLocks noGrp="1"/>
          </p:cNvSpPr>
          <p:nvPr>
            <p:ph type="body" idx="1"/>
          </p:nvPr>
        </p:nvSpPr>
        <p:spPr>
          <a:xfrm>
            <a:off x="933450" y="4387850"/>
            <a:ext cx="5141912" cy="415290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0: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20: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1: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9" name="Google Shape;299;p2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0" name="Google Shape;300;p2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22</a:t>
            </a:fld>
            <a:endParaRPr/>
          </a:p>
        </p:txBody>
      </p:sp>
      <p:sp>
        <p:nvSpPr>
          <p:cNvPr id="308" name="Google Shape;308;p22: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9" name="Google Shape;309;p2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23</a:t>
            </a:fld>
            <a:endParaRPr/>
          </a:p>
        </p:txBody>
      </p:sp>
      <p:sp>
        <p:nvSpPr>
          <p:cNvPr id="318" name="Google Shape;318;p23: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23: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24</a:t>
            </a:fld>
            <a:endParaRPr/>
          </a:p>
        </p:txBody>
      </p:sp>
      <p:sp>
        <p:nvSpPr>
          <p:cNvPr id="326" name="Google Shape;326;p24: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2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5: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25</a:t>
            </a:fld>
            <a:endParaRPr/>
          </a:p>
        </p:txBody>
      </p:sp>
      <p:sp>
        <p:nvSpPr>
          <p:cNvPr id="334" name="Google Shape;334;p25:notes"/>
          <p:cNvSpPr>
            <a:spLocks noGrp="1" noRot="1" noChangeAspect="1"/>
          </p:cNvSpPr>
          <p:nvPr>
            <p:ph type="sldImg" idx="2"/>
          </p:nvPr>
        </p:nvSpPr>
        <p:spPr>
          <a:xfrm>
            <a:off x="1198562" y="693737"/>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25:notes"/>
          <p:cNvSpPr txBox="1">
            <a:spLocks noGrp="1"/>
          </p:cNvSpPr>
          <p:nvPr>
            <p:ph type="body" idx="1"/>
          </p:nvPr>
        </p:nvSpPr>
        <p:spPr>
          <a:xfrm>
            <a:off x="935037" y="4386262"/>
            <a:ext cx="5140325" cy="4156075"/>
          </a:xfrm>
          <a:prstGeom prst="rect">
            <a:avLst/>
          </a:prstGeom>
          <a:noFill/>
          <a:ln>
            <a:noFill/>
          </a:ln>
        </p:spPr>
        <p:txBody>
          <a:bodyPr spcFirstLastPara="1" wrap="square" lIns="90725" tIns="45350" rIns="90725" bIns="453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6: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26</a:t>
            </a:fld>
            <a:endParaRPr/>
          </a:p>
        </p:txBody>
      </p:sp>
      <p:sp>
        <p:nvSpPr>
          <p:cNvPr id="351" name="Google Shape;351;p26:notes"/>
          <p:cNvSpPr>
            <a:spLocks noGrp="1" noRot="1" noChangeAspect="1"/>
          </p:cNvSpPr>
          <p:nvPr>
            <p:ph type="sldImg" idx="2"/>
          </p:nvPr>
        </p:nvSpPr>
        <p:spPr>
          <a:xfrm>
            <a:off x="1196975" y="693737"/>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26:notes"/>
          <p:cNvSpPr txBox="1">
            <a:spLocks noGrp="1"/>
          </p:cNvSpPr>
          <p:nvPr>
            <p:ph type="body" idx="1"/>
          </p:nvPr>
        </p:nvSpPr>
        <p:spPr>
          <a:xfrm>
            <a:off x="701675" y="4387850"/>
            <a:ext cx="5607050" cy="4154487"/>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7: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27</a:t>
            </a:fld>
            <a:endParaRPr/>
          </a:p>
        </p:txBody>
      </p:sp>
      <p:sp>
        <p:nvSpPr>
          <p:cNvPr id="360" name="Google Shape;360;p27: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p27: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8: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28</a:t>
            </a:fld>
            <a:endParaRPr/>
          </a:p>
        </p:txBody>
      </p:sp>
      <p:sp>
        <p:nvSpPr>
          <p:cNvPr id="383" name="Google Shape;383;p28:notes"/>
          <p:cNvSpPr>
            <a:spLocks noGrp="1" noRot="1" noChangeAspect="1"/>
          </p:cNvSpPr>
          <p:nvPr>
            <p:ph type="sldImg" idx="2"/>
          </p:nvPr>
        </p:nvSpPr>
        <p:spPr>
          <a:xfrm>
            <a:off x="1196975" y="693737"/>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p28:notes"/>
          <p:cNvSpPr txBox="1">
            <a:spLocks noGrp="1"/>
          </p:cNvSpPr>
          <p:nvPr>
            <p:ph type="body" idx="1"/>
          </p:nvPr>
        </p:nvSpPr>
        <p:spPr>
          <a:xfrm>
            <a:off x="701675" y="4387850"/>
            <a:ext cx="5607050" cy="4154487"/>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9: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29</a:t>
            </a:fld>
            <a:endParaRPr/>
          </a:p>
        </p:txBody>
      </p:sp>
      <p:sp>
        <p:nvSpPr>
          <p:cNvPr id="392" name="Google Shape;392;p29:notes"/>
          <p:cNvSpPr>
            <a:spLocks noGrp="1" noRot="1" noChangeAspect="1"/>
          </p:cNvSpPr>
          <p:nvPr>
            <p:ph type="sldImg" idx="2"/>
          </p:nvPr>
        </p:nvSpPr>
        <p:spPr>
          <a:xfrm>
            <a:off x="1208087" y="701675"/>
            <a:ext cx="4595812" cy="34464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3" name="Google Shape;393;p29:notes"/>
          <p:cNvSpPr txBox="1">
            <a:spLocks noGrp="1"/>
          </p:cNvSpPr>
          <p:nvPr>
            <p:ph type="body" idx="1"/>
          </p:nvPr>
        </p:nvSpPr>
        <p:spPr>
          <a:xfrm>
            <a:off x="936625" y="4386262"/>
            <a:ext cx="5137150" cy="4154487"/>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30: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30</a:t>
            </a:fld>
            <a:endParaRPr/>
          </a:p>
        </p:txBody>
      </p:sp>
      <p:sp>
        <p:nvSpPr>
          <p:cNvPr id="508" name="Google Shape;508;p30:notes"/>
          <p:cNvSpPr>
            <a:spLocks noGrp="1" noRot="1" noChangeAspect="1"/>
          </p:cNvSpPr>
          <p:nvPr>
            <p:ph type="sldImg" idx="2"/>
          </p:nvPr>
        </p:nvSpPr>
        <p:spPr>
          <a:xfrm>
            <a:off x="1195387" y="692150"/>
            <a:ext cx="4618037"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30:notes"/>
          <p:cNvSpPr txBox="1">
            <a:spLocks noGrp="1"/>
          </p:cNvSpPr>
          <p:nvPr>
            <p:ph type="body" idx="1"/>
          </p:nvPr>
        </p:nvSpPr>
        <p:spPr>
          <a:xfrm>
            <a:off x="935037" y="4387850"/>
            <a:ext cx="5140325" cy="4156075"/>
          </a:xfrm>
          <a:prstGeom prst="rect">
            <a:avLst/>
          </a:prstGeom>
          <a:noFill/>
          <a:ln>
            <a:noFill/>
          </a:ln>
        </p:spPr>
        <p:txBody>
          <a:bodyPr spcFirstLastPara="1" wrap="square" lIns="92800" tIns="46400" rIns="92800" bIns="464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31</a:t>
            </a:fld>
            <a:endParaRPr/>
          </a:p>
        </p:txBody>
      </p:sp>
      <p:sp>
        <p:nvSpPr>
          <p:cNvPr id="516" name="Google Shape;516;p31: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3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3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33</a:t>
            </a:fld>
            <a:endParaRPr/>
          </a:p>
        </p:txBody>
      </p:sp>
      <p:sp>
        <p:nvSpPr>
          <p:cNvPr id="550" name="Google Shape;550;p32: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1" name="Google Shape;551;p3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34</a:t>
            </a:fld>
            <a:endParaRPr/>
          </a:p>
        </p:txBody>
      </p:sp>
      <p:sp>
        <p:nvSpPr>
          <p:cNvPr id="558" name="Google Shape;558;p33:notes"/>
          <p:cNvSpPr>
            <a:spLocks noGrp="1" noRot="1" noChangeAspect="1"/>
          </p:cNvSpPr>
          <p:nvPr>
            <p:ph type="sldImg" idx="2"/>
          </p:nvPr>
        </p:nvSpPr>
        <p:spPr>
          <a:xfrm>
            <a:off x="1198563"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33:notes"/>
          <p:cNvSpPr txBox="1">
            <a:spLocks noGrp="1"/>
          </p:cNvSpPr>
          <p:nvPr>
            <p:ph type="body" idx="1"/>
          </p:nvPr>
        </p:nvSpPr>
        <p:spPr>
          <a:xfrm>
            <a:off x="935037" y="4386262"/>
            <a:ext cx="5140325" cy="4156075"/>
          </a:xfrm>
          <a:prstGeom prst="rect">
            <a:avLst/>
          </a:prstGeom>
          <a:noFill/>
          <a:ln>
            <a:noFill/>
          </a:ln>
        </p:spPr>
        <p:txBody>
          <a:bodyPr spcFirstLastPara="1" wrap="square" lIns="90725" tIns="45350" rIns="90725" bIns="453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35</a:t>
            </a:fld>
            <a:endParaRPr/>
          </a:p>
        </p:txBody>
      </p:sp>
      <p:sp>
        <p:nvSpPr>
          <p:cNvPr id="568" name="Google Shape;568;p34: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p3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5: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36</a:t>
            </a:fld>
            <a:endParaRPr/>
          </a:p>
        </p:txBody>
      </p:sp>
      <p:sp>
        <p:nvSpPr>
          <p:cNvPr id="576" name="Google Shape;576;p35:notes"/>
          <p:cNvSpPr>
            <a:spLocks noGrp="1" noRot="1" noChangeAspect="1"/>
          </p:cNvSpPr>
          <p:nvPr>
            <p:ph type="sldImg" idx="2"/>
          </p:nvPr>
        </p:nvSpPr>
        <p:spPr>
          <a:xfrm>
            <a:off x="1208088" y="700088"/>
            <a:ext cx="4598987" cy="34496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7" name="Google Shape;577;p35:notes"/>
          <p:cNvSpPr txBox="1">
            <a:spLocks noGrp="1"/>
          </p:cNvSpPr>
          <p:nvPr>
            <p:ph type="body" idx="1"/>
          </p:nvPr>
        </p:nvSpPr>
        <p:spPr>
          <a:xfrm>
            <a:off x="933450" y="4387850"/>
            <a:ext cx="5141912" cy="415290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36: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37</a:t>
            </a:fld>
            <a:endParaRPr/>
          </a:p>
        </p:txBody>
      </p:sp>
      <p:sp>
        <p:nvSpPr>
          <p:cNvPr id="584" name="Google Shape;584;p36: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5" name="Google Shape;585;p36: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37: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38</a:t>
            </a:fld>
            <a:endParaRPr/>
          </a:p>
        </p:txBody>
      </p:sp>
      <p:sp>
        <p:nvSpPr>
          <p:cNvPr id="592" name="Google Shape;592;p37: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3" name="Google Shape;593;p37: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38: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39</a:t>
            </a:fld>
            <a:endParaRPr/>
          </a:p>
        </p:txBody>
      </p:sp>
      <p:sp>
        <p:nvSpPr>
          <p:cNvPr id="600" name="Google Shape;600;p38: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1" name="Google Shape;601;p38: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39: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40</a:t>
            </a:fld>
            <a:endParaRPr/>
          </a:p>
        </p:txBody>
      </p:sp>
      <p:sp>
        <p:nvSpPr>
          <p:cNvPr id="635" name="Google Shape;635;p39: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636" name="Google Shape;636;p39: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40: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41</a:t>
            </a:fld>
            <a:endParaRPr/>
          </a:p>
        </p:txBody>
      </p:sp>
      <p:sp>
        <p:nvSpPr>
          <p:cNvPr id="643" name="Google Shape;643;p40: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p40: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4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42</a:t>
            </a:fld>
            <a:endParaRPr/>
          </a:p>
        </p:txBody>
      </p:sp>
      <p:sp>
        <p:nvSpPr>
          <p:cNvPr id="652" name="Google Shape;652;p41: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3" name="Google Shape;653;p4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43</a:t>
            </a:fld>
            <a:endParaRPr/>
          </a:p>
        </p:txBody>
      </p:sp>
      <p:sp>
        <p:nvSpPr>
          <p:cNvPr id="660" name="Google Shape;660;p42: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1" name="Google Shape;661;p4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4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44</a:t>
            </a:fld>
            <a:endParaRPr/>
          </a:p>
        </p:txBody>
      </p:sp>
      <p:sp>
        <p:nvSpPr>
          <p:cNvPr id="668" name="Google Shape;668;p43: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9" name="Google Shape;669;p43: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4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45</a:t>
            </a:fld>
            <a:endParaRPr/>
          </a:p>
        </p:txBody>
      </p:sp>
      <p:sp>
        <p:nvSpPr>
          <p:cNvPr id="676" name="Google Shape;676;p44: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7" name="Google Shape;677;p4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45: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46</a:t>
            </a:fld>
            <a:endParaRPr/>
          </a:p>
        </p:txBody>
      </p:sp>
      <p:sp>
        <p:nvSpPr>
          <p:cNvPr id="709" name="Google Shape;709;p45: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0" name="Google Shape;710;p45: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46: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47</a:t>
            </a:fld>
            <a:endParaRPr/>
          </a:p>
        </p:txBody>
      </p:sp>
      <p:sp>
        <p:nvSpPr>
          <p:cNvPr id="769" name="Google Shape;769;p46: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0" name="Google Shape;770;p46: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7: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48</a:t>
            </a:fld>
            <a:endParaRPr/>
          </a:p>
        </p:txBody>
      </p:sp>
      <p:sp>
        <p:nvSpPr>
          <p:cNvPr id="777" name="Google Shape;777;p47: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8" name="Google Shape;778;p47: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48: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49</a:t>
            </a:fld>
            <a:endParaRPr/>
          </a:p>
        </p:txBody>
      </p:sp>
      <p:sp>
        <p:nvSpPr>
          <p:cNvPr id="785" name="Google Shape;785;p48: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6" name="Google Shape;786;p48: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49: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50</a:t>
            </a:fld>
            <a:endParaRPr/>
          </a:p>
        </p:txBody>
      </p:sp>
      <p:sp>
        <p:nvSpPr>
          <p:cNvPr id="800" name="Google Shape;800;p49: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1" name="Google Shape;801;p49: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50: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51</a:t>
            </a:fld>
            <a:endParaRPr/>
          </a:p>
        </p:txBody>
      </p:sp>
      <p:sp>
        <p:nvSpPr>
          <p:cNvPr id="809" name="Google Shape;809;p50: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0" name="Google Shape;810;p50: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5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52</a:t>
            </a:fld>
            <a:endParaRPr/>
          </a:p>
        </p:txBody>
      </p:sp>
      <p:sp>
        <p:nvSpPr>
          <p:cNvPr id="817" name="Google Shape;817;p51: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8" name="Google Shape;818;p5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5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53</a:t>
            </a:fld>
            <a:endParaRPr/>
          </a:p>
        </p:txBody>
      </p:sp>
      <p:sp>
        <p:nvSpPr>
          <p:cNvPr id="832" name="Google Shape;832;p52: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3" name="Google Shape;833;p5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5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54</a:t>
            </a:fld>
            <a:endParaRPr/>
          </a:p>
        </p:txBody>
      </p:sp>
      <p:sp>
        <p:nvSpPr>
          <p:cNvPr id="840" name="Google Shape;840;p53: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1" name="Google Shape;841;p53: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54: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55</a:t>
            </a:fld>
            <a:endParaRPr/>
          </a:p>
        </p:txBody>
      </p:sp>
      <p:sp>
        <p:nvSpPr>
          <p:cNvPr id="848" name="Google Shape;848;p54: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9" name="Google Shape;849;p54: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55: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56</a:t>
            </a:fld>
            <a:endParaRPr/>
          </a:p>
        </p:txBody>
      </p:sp>
      <p:sp>
        <p:nvSpPr>
          <p:cNvPr id="856" name="Google Shape;856;p55: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7" name="Google Shape;857;p55: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56: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57</a:t>
            </a:fld>
            <a:endParaRPr/>
          </a:p>
        </p:txBody>
      </p:sp>
      <p:sp>
        <p:nvSpPr>
          <p:cNvPr id="864" name="Google Shape;864;p56:notes"/>
          <p:cNvSpPr>
            <a:spLocks noGrp="1" noRot="1" noChangeAspect="1"/>
          </p:cNvSpPr>
          <p:nvPr>
            <p:ph type="sldImg" idx="2"/>
          </p:nvPr>
        </p:nvSpPr>
        <p:spPr>
          <a:xfrm>
            <a:off x="1198563"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5" name="Google Shape;865;p56:notes"/>
          <p:cNvSpPr txBox="1">
            <a:spLocks noGrp="1"/>
          </p:cNvSpPr>
          <p:nvPr>
            <p:ph type="body" idx="1"/>
          </p:nvPr>
        </p:nvSpPr>
        <p:spPr>
          <a:xfrm>
            <a:off x="935037" y="4386262"/>
            <a:ext cx="5140325" cy="4156075"/>
          </a:xfrm>
          <a:prstGeom prst="rect">
            <a:avLst/>
          </a:prstGeom>
          <a:noFill/>
          <a:ln>
            <a:noFill/>
          </a:ln>
        </p:spPr>
        <p:txBody>
          <a:bodyPr spcFirstLastPara="1" wrap="square" lIns="90725" tIns="45350" rIns="90725" bIns="453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57: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58</a:t>
            </a:fld>
            <a:endParaRPr/>
          </a:p>
        </p:txBody>
      </p:sp>
      <p:sp>
        <p:nvSpPr>
          <p:cNvPr id="880" name="Google Shape;880;p57:notes"/>
          <p:cNvSpPr>
            <a:spLocks noGrp="1" noRot="1" noChangeAspect="1"/>
          </p:cNvSpPr>
          <p:nvPr>
            <p:ph type="sldImg" idx="2"/>
          </p:nvPr>
        </p:nvSpPr>
        <p:spPr>
          <a:xfrm>
            <a:off x="1198563"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1" name="Google Shape;881;p57:notes"/>
          <p:cNvSpPr txBox="1">
            <a:spLocks noGrp="1"/>
          </p:cNvSpPr>
          <p:nvPr>
            <p:ph type="body" idx="1"/>
          </p:nvPr>
        </p:nvSpPr>
        <p:spPr>
          <a:xfrm>
            <a:off x="935037" y="4386262"/>
            <a:ext cx="5140325" cy="4156075"/>
          </a:xfrm>
          <a:prstGeom prst="rect">
            <a:avLst/>
          </a:prstGeom>
          <a:noFill/>
          <a:ln>
            <a:noFill/>
          </a:ln>
        </p:spPr>
        <p:txBody>
          <a:bodyPr spcFirstLastPara="1" wrap="square" lIns="90725" tIns="45350" rIns="90725" bIns="453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58: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59</a:t>
            </a:fld>
            <a:endParaRPr/>
          </a:p>
        </p:txBody>
      </p:sp>
      <p:sp>
        <p:nvSpPr>
          <p:cNvPr id="890" name="Google Shape;890;p58: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1" name="Google Shape;891;p58: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59: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60</a:t>
            </a:fld>
            <a:endParaRPr/>
          </a:p>
        </p:txBody>
      </p:sp>
      <p:sp>
        <p:nvSpPr>
          <p:cNvPr id="898" name="Google Shape;898;p59: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9" name="Google Shape;899;p59: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60: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61</a:t>
            </a:fld>
            <a:endParaRPr/>
          </a:p>
        </p:txBody>
      </p:sp>
      <p:sp>
        <p:nvSpPr>
          <p:cNvPr id="906" name="Google Shape;906;p60:notes"/>
          <p:cNvSpPr>
            <a:spLocks noGrp="1" noRot="1" noChangeAspect="1"/>
          </p:cNvSpPr>
          <p:nvPr>
            <p:ph type="sldImg" idx="2"/>
          </p:nvPr>
        </p:nvSpPr>
        <p:spPr>
          <a:xfrm>
            <a:off x="1196975" y="692150"/>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7" name="Google Shape;907;p60: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61: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62</a:t>
            </a:fld>
            <a:endParaRPr/>
          </a:p>
        </p:txBody>
      </p:sp>
      <p:sp>
        <p:nvSpPr>
          <p:cNvPr id="926" name="Google Shape;926;p61: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7" name="Google Shape;927;p61: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62: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63</a:t>
            </a:fld>
            <a:endParaRPr/>
          </a:p>
        </p:txBody>
      </p:sp>
      <p:sp>
        <p:nvSpPr>
          <p:cNvPr id="935" name="Google Shape;935;p62: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6" name="Google Shape;936;p62: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63: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43" name="Google Shape;943;p63: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64: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48" name="Google Shape;948;p64: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65: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55" name="Google Shape;955;p65: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66: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60" name="Google Shape;960;p66: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67: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67" name="Google Shape;967;p67: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68: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74" name="Google Shape;974;p68: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69: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82" name="Google Shape;982;p69:notes"/>
          <p:cNvSpPr>
            <a:spLocks noGrp="1" noRot="1" noChangeAspect="1"/>
          </p:cNvSpPr>
          <p:nvPr>
            <p:ph type="sldImg" idx="2"/>
          </p:nvPr>
        </p:nvSpPr>
        <p:spPr>
          <a:xfrm>
            <a:off x="1195387"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70: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88" name="Google Shape;988;p70: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71: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995" name="Google Shape;995;p71: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72:notes"/>
          <p:cNvSpPr txBox="1">
            <a:spLocks noGrp="1"/>
          </p:cNvSpPr>
          <p:nvPr>
            <p:ph type="body" idx="1"/>
          </p:nvPr>
        </p:nvSpPr>
        <p:spPr>
          <a:xfrm>
            <a:off x="935037" y="4387850"/>
            <a:ext cx="5140325" cy="4156075"/>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1002" name="Google Shape;1002;p72: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73:notes"/>
          <p:cNvSpPr txBox="1"/>
          <p:nvPr/>
        </p:nvSpPr>
        <p:spPr>
          <a:xfrm>
            <a:off x="3971925" y="8774112"/>
            <a:ext cx="3038475" cy="461962"/>
          </a:xfrm>
          <a:prstGeom prst="rect">
            <a:avLst/>
          </a:prstGeom>
          <a:noFill/>
          <a:ln>
            <a:noFill/>
          </a:ln>
        </p:spPr>
        <p:txBody>
          <a:bodyPr spcFirstLastPara="1" wrap="square" lIns="93150" tIns="46575" rIns="93150" bIns="46575"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a:solidFill>
                  <a:srgbClr val="000000"/>
                </a:solidFill>
                <a:latin typeface="Times New Roman"/>
                <a:ea typeface="Times New Roman"/>
                <a:cs typeface="Times New Roman"/>
                <a:sym typeface="Times New Roman"/>
              </a:rPr>
              <a:t>74</a:t>
            </a:fld>
            <a:endParaRPr/>
          </a:p>
        </p:txBody>
      </p:sp>
      <p:sp>
        <p:nvSpPr>
          <p:cNvPr id="1009" name="Google Shape;1009;p73:notes"/>
          <p:cNvSpPr>
            <a:spLocks noGrp="1" noRot="1" noChangeAspect="1"/>
          </p:cNvSpPr>
          <p:nvPr>
            <p:ph type="sldImg" idx="2"/>
          </p:nvPr>
        </p:nvSpPr>
        <p:spPr>
          <a:xfrm>
            <a:off x="1195388"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0" name="Google Shape;1010;p73:notes"/>
          <p:cNvSpPr txBox="1">
            <a:spLocks noGrp="1"/>
          </p:cNvSpPr>
          <p:nvPr>
            <p:ph type="body" idx="1"/>
          </p:nvPr>
        </p:nvSpPr>
        <p:spPr>
          <a:xfrm>
            <a:off x="935037" y="4387850"/>
            <a:ext cx="5140325" cy="4156075"/>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75"/>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75"/>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17" name="Google Shape;17;p75"/>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77"/>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77"/>
          <p:cNvSpPr txBox="1">
            <a:spLocks noGrp="1"/>
          </p:cNvSpPr>
          <p:nvPr>
            <p:ph type="body" idx="1"/>
          </p:nvPr>
        </p:nvSpPr>
        <p:spPr>
          <a:xfrm>
            <a:off x="304800" y="1295400"/>
            <a:ext cx="4114800" cy="51816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28" name="Google Shape;28;p77"/>
          <p:cNvSpPr txBox="1">
            <a:spLocks noGrp="1"/>
          </p:cNvSpPr>
          <p:nvPr>
            <p:ph type="body" idx="2"/>
          </p:nvPr>
        </p:nvSpPr>
        <p:spPr>
          <a:xfrm>
            <a:off x="4572000" y="1295400"/>
            <a:ext cx="4114800" cy="51816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29" name="Google Shape;29;p77"/>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7"/>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7"/>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2"/>
        <p:cNvGrpSpPr/>
        <p:nvPr/>
      </p:nvGrpSpPr>
      <p:grpSpPr>
        <a:xfrm>
          <a:off x="0" y="0"/>
          <a:ext cx="0" cy="0"/>
          <a:chOff x="0" y="0"/>
          <a:chExt cx="0" cy="0"/>
        </a:xfrm>
      </p:grpSpPr>
      <p:sp>
        <p:nvSpPr>
          <p:cNvPr id="33" name="Google Shape;33;p78"/>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78"/>
          <p:cNvSpPr txBox="1">
            <a:spLocks noGrp="1"/>
          </p:cNvSpPr>
          <p:nvPr>
            <p:ph type="body" idx="1"/>
          </p:nvPr>
        </p:nvSpPr>
        <p:spPr>
          <a:xfrm>
            <a:off x="304800" y="1295400"/>
            <a:ext cx="4114800" cy="5181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5" name="Google Shape;35;p78"/>
          <p:cNvSpPr txBox="1">
            <a:spLocks noGrp="1"/>
          </p:cNvSpPr>
          <p:nvPr>
            <p:ph type="body" idx="2"/>
          </p:nvPr>
        </p:nvSpPr>
        <p:spPr>
          <a:xfrm>
            <a:off x="4572000" y="1295400"/>
            <a:ext cx="4114800" cy="2514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6" name="Google Shape;36;p78"/>
          <p:cNvSpPr txBox="1">
            <a:spLocks noGrp="1"/>
          </p:cNvSpPr>
          <p:nvPr>
            <p:ph type="body" idx="3"/>
          </p:nvPr>
        </p:nvSpPr>
        <p:spPr>
          <a:xfrm>
            <a:off x="4572000" y="3962400"/>
            <a:ext cx="4114800" cy="2514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7" name="Google Shape;37;p78"/>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8"/>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8"/>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81"/>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81"/>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1"/>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1"/>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45"/>
        <p:cNvGrpSpPr/>
        <p:nvPr/>
      </p:nvGrpSpPr>
      <p:grpSpPr>
        <a:xfrm>
          <a:off x="0" y="0"/>
          <a:ext cx="0" cy="0"/>
          <a:chOff x="0" y="0"/>
          <a:chExt cx="0" cy="0"/>
        </a:xfrm>
      </p:grpSpPr>
      <p:sp>
        <p:nvSpPr>
          <p:cNvPr id="46" name="Google Shape;46;p82"/>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82"/>
          <p:cNvSpPr txBox="1">
            <a:spLocks noGrp="1"/>
          </p:cNvSpPr>
          <p:nvPr>
            <p:ph type="body" idx="1"/>
          </p:nvPr>
        </p:nvSpPr>
        <p:spPr>
          <a:xfrm>
            <a:off x="304800" y="1295400"/>
            <a:ext cx="4114800" cy="5181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48" name="Google Shape;48;p82"/>
          <p:cNvSpPr txBox="1">
            <a:spLocks noGrp="1"/>
          </p:cNvSpPr>
          <p:nvPr>
            <p:ph type="body" idx="2"/>
          </p:nvPr>
        </p:nvSpPr>
        <p:spPr>
          <a:xfrm>
            <a:off x="4572000" y="1295400"/>
            <a:ext cx="4114800" cy="51816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49" name="Google Shape;49;p82"/>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2"/>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2"/>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83"/>
          <p:cNvSpPr txBox="1">
            <a:spLocks noGrp="1"/>
          </p:cNvSpPr>
          <p:nvPr>
            <p:ph type="title"/>
          </p:nvPr>
        </p:nvSpPr>
        <p:spPr>
          <a:xfrm rot="5400000">
            <a:off x="4733925" y="2295525"/>
            <a:ext cx="6172200" cy="21907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83"/>
          <p:cNvSpPr txBox="1">
            <a:spLocks noGrp="1"/>
          </p:cNvSpPr>
          <p:nvPr>
            <p:ph type="body" idx="1"/>
          </p:nvPr>
        </p:nvSpPr>
        <p:spPr>
          <a:xfrm rot="5400000">
            <a:off x="276225" y="180975"/>
            <a:ext cx="6172200" cy="641985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55" name="Google Shape;55;p83"/>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3"/>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3"/>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8"/>
        <p:cNvGrpSpPr/>
        <p:nvPr/>
      </p:nvGrpSpPr>
      <p:grpSpPr>
        <a:xfrm>
          <a:off x="0" y="0"/>
          <a:ext cx="0" cy="0"/>
          <a:chOff x="0" y="0"/>
          <a:chExt cx="0" cy="0"/>
        </a:xfrm>
      </p:grpSpPr>
      <p:sp>
        <p:nvSpPr>
          <p:cNvPr id="59" name="Google Shape;59;p84"/>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84"/>
          <p:cNvSpPr txBox="1">
            <a:spLocks noGrp="1"/>
          </p:cNvSpPr>
          <p:nvPr>
            <p:ph type="body" idx="1"/>
          </p:nvPr>
        </p:nvSpPr>
        <p:spPr>
          <a:xfrm rot="5400000">
            <a:off x="1905000" y="-304800"/>
            <a:ext cx="5181600" cy="83820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61" name="Google Shape;61;p84"/>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4"/>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8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 name="Google Shape;66;p85"/>
          <p:cNvSpPr>
            <a:spLocks noGrp="1"/>
          </p:cNvSpPr>
          <p:nvPr>
            <p:ph type="pic" idx="2"/>
          </p:nvPr>
        </p:nvSpPr>
        <p:spPr>
          <a:xfrm>
            <a:off x="1792288" y="612775"/>
            <a:ext cx="5486400" cy="4114800"/>
          </a:xfrm>
          <a:prstGeom prst="rect">
            <a:avLst/>
          </a:prstGeom>
          <a:noFill/>
          <a:ln>
            <a:noFill/>
          </a:ln>
        </p:spPr>
      </p:sp>
      <p:sp>
        <p:nvSpPr>
          <p:cNvPr id="67" name="Google Shape;67;p8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68" name="Google Shape;68;p85"/>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5"/>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8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 name="Google Shape;73;p8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74" name="Google Shape;74;p8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75" name="Google Shape;75;p86"/>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6"/>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
        <p:cNvGrpSpPr/>
        <p:nvPr/>
      </p:nvGrpSpPr>
      <p:grpSpPr>
        <a:xfrm>
          <a:off x="0" y="0"/>
          <a:ext cx="0" cy="0"/>
          <a:chOff x="0" y="0"/>
          <a:chExt cx="0" cy="0"/>
        </a:xfrm>
      </p:grpSpPr>
      <p:sp>
        <p:nvSpPr>
          <p:cNvPr id="79" name="Google Shape;79;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8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81" name="Google Shape;81;p8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82" name="Google Shape;82;p8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83" name="Google Shape;83;p8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84" name="Google Shape;84;p87"/>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87"/>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8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9" name="Google Shape;89;p8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90" name="Google Shape;90;p88"/>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88"/>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88"/>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7"/>
        <p:cNvGrpSpPr/>
        <p:nvPr/>
      </p:nvGrpSpPr>
      <p:grpSpPr>
        <a:xfrm>
          <a:off x="0" y="0"/>
          <a:ext cx="0" cy="0"/>
          <a:chOff x="0" y="0"/>
          <a:chExt cx="0" cy="0"/>
        </a:xfrm>
      </p:grpSpPr>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4"/>
        <p:cNvGrpSpPr/>
        <p:nvPr/>
      </p:nvGrpSpPr>
      <p:grpSpPr>
        <a:xfrm>
          <a:off x="0" y="0"/>
          <a:ext cx="0" cy="0"/>
          <a:chOff x="0" y="0"/>
          <a:chExt cx="0" cy="0"/>
        </a:xfrm>
      </p:grpSpPr>
      <p:sp>
        <p:nvSpPr>
          <p:cNvPr id="115" name="Google Shape;115;p90"/>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6" name="Google Shape;116;p9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SzPts val="1680"/>
              <a:buFont typeface="Noto Sans Symbols"/>
              <a:buNone/>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a:endParaRPr/>
          </a:p>
        </p:txBody>
      </p:sp>
      <p:sp>
        <p:nvSpPr>
          <p:cNvPr id="117" name="Google Shape;117;p90"/>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90"/>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90"/>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1pPr>
            <a:lvl2pPr marL="0" marR="0" lvl="1"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2pPr>
            <a:lvl3pPr marL="0" marR="0" lvl="2"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3pPr>
            <a:lvl4pPr marL="0" marR="0" lvl="3"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4pPr>
            <a:lvl5pPr marL="0" marR="0" lvl="4"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5pPr>
            <a:lvl6pPr marL="0" marR="0" lvl="5"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6pPr>
            <a:lvl7pPr marL="0" marR="0" lvl="6"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7pPr>
            <a:lvl8pPr marL="0" marR="0" lvl="7"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8pPr>
            <a:lvl9pPr marL="0" marR="0" lvl="8" indent="0" algn="r">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p:nvPr/>
        </p:nvSpPr>
        <p:spPr>
          <a:xfrm>
            <a:off x="304800" y="1143000"/>
            <a:ext cx="8226425" cy="46037"/>
          </a:xfrm>
          <a:prstGeom prst="rect">
            <a:avLst/>
          </a:prstGeom>
          <a:gradFill>
            <a:gsLst>
              <a:gs pos="0">
                <a:srgbClr val="008080">
                  <a:alpha val="94901"/>
                </a:srgbClr>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11" name="Google Shape;11;p74"/>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1pPr>
            <a:lvl2pPr marR="0" lvl="1"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2pPr>
            <a:lvl3pPr marR="0" lvl="2"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3pPr>
            <a:lvl4pPr marR="0" lvl="3"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4pPr>
            <a:lvl5pPr marR="0" lvl="4"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5pPr>
            <a:lvl6pPr marR="0" lvl="5"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6pPr>
            <a:lvl7pPr marR="0" lvl="6"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7pPr>
            <a:lvl8pPr marR="0" lvl="7"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8pPr>
            <a:lvl9pPr marR="0" lvl="8"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9pPr>
          </a:lstStyle>
          <a:p>
            <a:endParaRPr/>
          </a:p>
        </p:txBody>
      </p:sp>
      <p:sp>
        <p:nvSpPr>
          <p:cNvPr id="12" name="Google Shape;12;p74"/>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3" name="Google Shape;13;p74"/>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sp>
        <p:nvSpPr>
          <p:cNvPr id="19" name="Google Shape;19;p76"/>
          <p:cNvSpPr txBox="1"/>
          <p:nvPr/>
        </p:nvSpPr>
        <p:spPr>
          <a:xfrm>
            <a:off x="304800" y="1143000"/>
            <a:ext cx="8226425" cy="46037"/>
          </a:xfrm>
          <a:prstGeom prst="rect">
            <a:avLst/>
          </a:prstGeom>
          <a:gradFill>
            <a:gsLst>
              <a:gs pos="0">
                <a:srgbClr val="008080">
                  <a:alpha val="94901"/>
                </a:srgbClr>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20" name="Google Shape;20;p76"/>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1pPr>
            <a:lvl2pPr marR="0" lvl="1"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2pPr>
            <a:lvl3pPr marR="0" lvl="2"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3pPr>
            <a:lvl4pPr marR="0" lvl="3"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4pPr>
            <a:lvl5pPr marR="0" lvl="4"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5pPr>
            <a:lvl6pPr marR="0" lvl="5"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6pPr>
            <a:lvl7pPr marR="0" lvl="6"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7pPr>
            <a:lvl8pPr marR="0" lvl="7"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8pPr>
            <a:lvl9pPr marR="0" lvl="8"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9pPr>
          </a:lstStyle>
          <a:p>
            <a:endParaRPr/>
          </a:p>
        </p:txBody>
      </p:sp>
      <p:sp>
        <p:nvSpPr>
          <p:cNvPr id="21" name="Google Shape;21;p76"/>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22" name="Google Shape;22;p76"/>
          <p:cNvSpPr txBox="1">
            <a:spLocks noGrp="1"/>
          </p:cNvSpPr>
          <p:nvPr>
            <p:ph type="dt" idx="10"/>
          </p:nvPr>
        </p:nvSpPr>
        <p:spPr>
          <a:xfrm>
            <a:off x="152400" y="6477000"/>
            <a:ext cx="1905000" cy="3810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23" name="Google Shape;23;p76"/>
          <p:cNvSpPr txBox="1">
            <a:spLocks noGrp="1"/>
          </p:cNvSpPr>
          <p:nvPr>
            <p:ph type="ftr" idx="11"/>
          </p:nvPr>
        </p:nvSpPr>
        <p:spPr>
          <a:xfrm>
            <a:off x="3124200" y="6477000"/>
            <a:ext cx="2895600" cy="3810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2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24" name="Google Shape;24;p76"/>
          <p:cNvSpPr txBox="1">
            <a:spLocks noGrp="1"/>
          </p:cNvSpPr>
          <p:nvPr>
            <p:ph type="sldNum" idx="12"/>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200"/>
              <a:buFont typeface="Tahoma"/>
              <a:buNone/>
              <a:defRPr sz="12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sp>
        <p:nvSpPr>
          <p:cNvPr id="94" name="Google Shape;94;p79"/>
          <p:cNvSpPr txBox="1"/>
          <p:nvPr/>
        </p:nvSpPr>
        <p:spPr>
          <a:xfrm>
            <a:off x="304800" y="1143000"/>
            <a:ext cx="8226425" cy="46037"/>
          </a:xfrm>
          <a:prstGeom prst="rect">
            <a:avLst/>
          </a:prstGeom>
          <a:gradFill>
            <a:gsLst>
              <a:gs pos="0">
                <a:srgbClr val="008080">
                  <a:alpha val="94901"/>
                </a:srgbClr>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95" name="Google Shape;95;p79"/>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1pPr>
            <a:lvl2pPr marR="0" lvl="1"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2pPr>
            <a:lvl3pPr marR="0" lvl="2"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3pPr>
            <a:lvl4pPr marR="0" lvl="3"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4pPr>
            <a:lvl5pPr marR="0" lvl="4"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5pPr>
            <a:lvl6pPr marR="0" lvl="5"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6pPr>
            <a:lvl7pPr marR="0" lvl="6"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7pPr>
            <a:lvl8pPr marR="0" lvl="7"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8pPr>
            <a:lvl9pPr marR="0" lvl="8"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9pPr>
          </a:lstStyle>
          <a:p>
            <a:endParaRPr/>
          </a:p>
        </p:txBody>
      </p:sp>
      <p:sp>
        <p:nvSpPr>
          <p:cNvPr id="96" name="Google Shape;96;p79"/>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grpSp>
        <p:nvGrpSpPr>
          <p:cNvPr id="99" name="Google Shape;99;p89"/>
          <p:cNvGrpSpPr/>
          <p:nvPr/>
        </p:nvGrpSpPr>
        <p:grpSpPr>
          <a:xfrm>
            <a:off x="0" y="2438400"/>
            <a:ext cx="9009062" cy="1052512"/>
            <a:chOff x="0" y="1536"/>
            <a:chExt cx="5675" cy="663"/>
          </a:xfrm>
        </p:grpSpPr>
        <p:grpSp>
          <p:nvGrpSpPr>
            <p:cNvPr id="100" name="Google Shape;100;p89"/>
            <p:cNvGrpSpPr/>
            <p:nvPr/>
          </p:nvGrpSpPr>
          <p:grpSpPr>
            <a:xfrm>
              <a:off x="185" y="1604"/>
              <a:ext cx="449" cy="299"/>
              <a:chOff x="720" y="336"/>
              <a:chExt cx="624" cy="432"/>
            </a:xfrm>
          </p:grpSpPr>
          <p:sp>
            <p:nvSpPr>
              <p:cNvPr id="101" name="Google Shape;101;p89"/>
              <p:cNvSpPr txBox="1"/>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102" name="Google Shape;102;p89"/>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103" name="Google Shape;103;p89"/>
            <p:cNvGrpSpPr/>
            <p:nvPr/>
          </p:nvGrpSpPr>
          <p:grpSpPr>
            <a:xfrm>
              <a:off x="263" y="1870"/>
              <a:ext cx="466" cy="299"/>
              <a:chOff x="912" y="2640"/>
              <a:chExt cx="672" cy="432"/>
            </a:xfrm>
          </p:grpSpPr>
          <p:sp>
            <p:nvSpPr>
              <p:cNvPr id="104" name="Google Shape;104;p89"/>
              <p:cNvSpPr txBox="1"/>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105" name="Google Shape;105;p89"/>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sp>
          <p:nvSpPr>
            <p:cNvPr id="106" name="Google Shape;106;p89"/>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107" name="Google Shape;107;p89"/>
            <p:cNvSpPr txBox="1"/>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108" name="Google Shape;108;p89"/>
            <p:cNvSpPr txBox="1"/>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sp>
        <p:nvSpPr>
          <p:cNvPr id="109" name="Google Shape;109;p89"/>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1pPr>
            <a:lvl2pPr marR="0" lvl="1"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2pPr>
            <a:lvl3pPr marR="0" lvl="2"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3pPr>
            <a:lvl4pPr marR="0" lvl="3"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4pPr>
            <a:lvl5pPr marR="0" lvl="4"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5pPr>
            <a:lvl6pPr marR="0" lvl="5"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6pPr>
            <a:lvl7pPr marR="0" lvl="6"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7pPr>
            <a:lvl8pPr marR="0" lvl="7"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8pPr>
            <a:lvl9pPr marR="0" lvl="8" algn="ctr" rtl="0">
              <a:spcBef>
                <a:spcPts val="0"/>
              </a:spcBef>
              <a:spcAft>
                <a:spcPts val="0"/>
              </a:spcAft>
              <a:buSzPts val="1400"/>
              <a:buNone/>
              <a:defRPr sz="3600" b="1" i="0" u="none" strike="noStrike" cap="none">
                <a:solidFill>
                  <a:schemeClr val="dk2"/>
                </a:solidFill>
                <a:latin typeface="Overlock"/>
                <a:ea typeface="Overlock"/>
                <a:cs typeface="Overlock"/>
                <a:sym typeface="Overlock"/>
              </a:defRPr>
            </a:lvl9pPr>
          </a:lstStyle>
          <a:p>
            <a:endParaRPr/>
          </a:p>
        </p:txBody>
      </p:sp>
      <p:sp>
        <p:nvSpPr>
          <p:cNvPr id="110" name="Google Shape;110;p89"/>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26390" algn="l" rtl="0">
              <a:spcBef>
                <a:spcPts val="560"/>
              </a:spcBef>
              <a:spcAft>
                <a:spcPts val="0"/>
              </a:spcAft>
              <a:buClr>
                <a:schemeClr val="hlink"/>
              </a:buClr>
              <a:buSzPts val="1540"/>
              <a:buFont typeface="Noto Sans Symbols"/>
              <a:buChar char="■"/>
              <a:defRPr sz="2800" b="0" i="0" u="none" strike="noStrike" cap="none">
                <a:solidFill>
                  <a:schemeClr val="dk1"/>
                </a:solidFill>
                <a:latin typeface="Tahoma"/>
                <a:ea typeface="Tahoma"/>
                <a:cs typeface="Tahoma"/>
                <a:sym typeface="Tahoma"/>
              </a:defRPr>
            </a:lvl2pPr>
            <a:lvl3pPr marL="1371600" marR="0" lvl="2" indent="-304800" algn="l" rtl="0">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11" name="Google Shape;111;p89"/>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400" b="0" i="0" u="none">
                <a:solidFill>
                  <a:schemeClr val="lt2"/>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12" name="Google Shape;112;p89"/>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lt2"/>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13" name="Google Shape;113;p89"/>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1pPr>
            <a:lvl2pPr marL="0" marR="0" lvl="1"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2pPr>
            <a:lvl3pPr marL="0" marR="0" lvl="2"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3pPr>
            <a:lvl4pPr marL="0" marR="0" lvl="3"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4pPr>
            <a:lvl5pPr marL="0" marR="0" lvl="4"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5pPr>
            <a:lvl6pPr marL="0" marR="0" lvl="5"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6pPr>
            <a:lvl7pPr marL="0" marR="0" lvl="6"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7pPr>
            <a:lvl8pPr marL="0" marR="0" lvl="7"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8pPr>
            <a:lvl9pPr marL="0" marR="0" lvl="8" indent="0" algn="r" rtl="0">
              <a:lnSpc>
                <a:spcPct val="100000"/>
              </a:lnSpc>
              <a:spcBef>
                <a:spcPts val="0"/>
              </a:spcBef>
              <a:spcAft>
                <a:spcPts val="0"/>
              </a:spcAft>
              <a:buClr>
                <a:schemeClr val="lt2"/>
              </a:buClr>
              <a:buSzPts val="1400"/>
              <a:buFont typeface="Tahoma"/>
              <a:buNone/>
              <a:defRPr sz="1400" b="0" i="0" u="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hyperlink" Target="https://www.geeksforgeeks.org/introduction-to-web-scraping/" TargetMode="External"/><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a:t>
            </a:fld>
            <a:endParaRPr/>
          </a:p>
        </p:txBody>
      </p:sp>
      <p:sp>
        <p:nvSpPr>
          <p:cNvPr id="126" name="Google Shape;126;p1"/>
          <p:cNvSpPr txBox="1">
            <a:spLocks noGrp="1"/>
          </p:cNvSpPr>
          <p:nvPr>
            <p:ph type="title"/>
          </p:nvPr>
        </p:nvSpPr>
        <p:spPr>
          <a:xfrm>
            <a:off x="533400" y="304800"/>
            <a:ext cx="8077200" cy="3733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6000"/>
              <a:buFont typeface="Overlock"/>
              <a:buNone/>
            </a:pPr>
            <a:r>
              <a:rPr lang="en-US" sz="6000" b="1" i="0" u="none">
                <a:solidFill>
                  <a:schemeClr val="dk2"/>
                </a:solidFill>
                <a:latin typeface="Overlock"/>
                <a:ea typeface="Overlock"/>
                <a:cs typeface="Overlock"/>
                <a:sym typeface="Overlock"/>
              </a:rPr>
              <a:t>Data Mining: </a:t>
            </a:r>
            <a:br>
              <a:rPr lang="en-US" sz="6000" b="1" i="0" u="none">
                <a:solidFill>
                  <a:schemeClr val="dk2"/>
                </a:solidFill>
                <a:latin typeface="Overlock"/>
                <a:ea typeface="Overlock"/>
                <a:cs typeface="Overlock"/>
                <a:sym typeface="Overlock"/>
              </a:rPr>
            </a:br>
            <a:r>
              <a:rPr lang="en-US" sz="6000" b="1" i="0" u="none">
                <a:solidFill>
                  <a:schemeClr val="dk2"/>
                </a:solidFill>
                <a:latin typeface="Overlock"/>
                <a:ea typeface="Overlock"/>
                <a:cs typeface="Overlock"/>
                <a:sym typeface="Overlock"/>
              </a:rPr>
              <a:t> </a:t>
            </a:r>
            <a:r>
              <a:rPr lang="en-US" sz="4800" b="1" i="0" u="none">
                <a:solidFill>
                  <a:schemeClr val="dk2"/>
                </a:solidFill>
                <a:latin typeface="Overlock"/>
                <a:ea typeface="Overlock"/>
                <a:cs typeface="Overlock"/>
                <a:sym typeface="Overlock"/>
              </a:rPr>
              <a:t>Concepts and Techniques</a:t>
            </a:r>
            <a:br>
              <a:rPr lang="en-US" sz="4800" b="1" i="0" u="none">
                <a:solidFill>
                  <a:schemeClr val="dk2"/>
                </a:solidFill>
                <a:latin typeface="Overlock"/>
                <a:ea typeface="Overlock"/>
                <a:cs typeface="Overlock"/>
                <a:sym typeface="Overlock"/>
              </a:rPr>
            </a:br>
            <a:r>
              <a:rPr lang="en-US" sz="4800" b="1" i="0" u="none">
                <a:solidFill>
                  <a:schemeClr val="dk2"/>
                </a:solidFill>
                <a:latin typeface="Overlock"/>
                <a:ea typeface="Overlock"/>
                <a:cs typeface="Overlock"/>
                <a:sym typeface="Overlock"/>
              </a:rPr>
              <a:t> </a:t>
            </a:r>
            <a:r>
              <a:rPr lang="en-US" sz="2800" b="1" i="0" u="none">
                <a:solidFill>
                  <a:schemeClr val="dk2"/>
                </a:solidFill>
                <a:latin typeface="Overlock"/>
                <a:ea typeface="Overlock"/>
                <a:cs typeface="Overlock"/>
                <a:sym typeface="Overlock"/>
              </a:rPr>
              <a:t>(3</a:t>
            </a:r>
            <a:r>
              <a:rPr lang="en-US" sz="2800" b="1" i="0" u="none" baseline="30000">
                <a:solidFill>
                  <a:schemeClr val="dk2"/>
                </a:solidFill>
                <a:latin typeface="Overlock"/>
                <a:ea typeface="Overlock"/>
                <a:cs typeface="Overlock"/>
                <a:sym typeface="Overlock"/>
              </a:rPr>
              <a:t>rd</a:t>
            </a:r>
            <a:r>
              <a:rPr lang="en-US" sz="2800" b="1" i="0" u="none">
                <a:solidFill>
                  <a:schemeClr val="dk2"/>
                </a:solidFill>
                <a:latin typeface="Overlock"/>
                <a:ea typeface="Overlock"/>
                <a:cs typeface="Overlock"/>
                <a:sym typeface="Overlock"/>
              </a:rPr>
              <a:t> ed.)</a:t>
            </a:r>
            <a:br>
              <a:rPr lang="en-US" sz="4800" b="1" i="0" u="none">
                <a:solidFill>
                  <a:schemeClr val="dk2"/>
                </a:solidFill>
                <a:latin typeface="Overlock"/>
                <a:ea typeface="Overlock"/>
                <a:cs typeface="Overlock"/>
                <a:sym typeface="Overlock"/>
              </a:rPr>
            </a:br>
            <a:br>
              <a:rPr lang="en-US" sz="4800" b="1" i="0" u="none">
                <a:solidFill>
                  <a:schemeClr val="dk2"/>
                </a:solidFill>
                <a:latin typeface="Overlock"/>
                <a:ea typeface="Overlock"/>
                <a:cs typeface="Overlock"/>
                <a:sym typeface="Overlock"/>
              </a:rPr>
            </a:br>
            <a:r>
              <a:rPr lang="en-US" sz="3200" b="1" i="0" u="none">
                <a:solidFill>
                  <a:schemeClr val="dk2"/>
                </a:solidFill>
                <a:latin typeface="Overlock"/>
                <a:ea typeface="Overlock"/>
                <a:cs typeface="Overlock"/>
                <a:sym typeface="Overlock"/>
              </a:rPr>
              <a:t>— Chapter 3</a:t>
            </a:r>
            <a:r>
              <a:rPr lang="en-US" sz="2800" b="1" i="0" u="none">
                <a:solidFill>
                  <a:schemeClr val="dk2"/>
                </a:solidFill>
                <a:latin typeface="Overlock"/>
                <a:ea typeface="Overlock"/>
                <a:cs typeface="Overlock"/>
                <a:sym typeface="Overlock"/>
              </a:rPr>
              <a:t> —</a:t>
            </a:r>
            <a:endParaRPr/>
          </a:p>
        </p:txBody>
      </p:sp>
      <p:sp>
        <p:nvSpPr>
          <p:cNvPr id="127" name="Google Shape;127;p1"/>
          <p:cNvSpPr txBox="1">
            <a:spLocks noGrp="1"/>
          </p:cNvSpPr>
          <p:nvPr>
            <p:ph type="body" idx="1"/>
          </p:nvPr>
        </p:nvSpPr>
        <p:spPr>
          <a:xfrm>
            <a:off x="304800" y="4267200"/>
            <a:ext cx="8305800" cy="2286000"/>
          </a:xfrm>
          <a:prstGeom prst="rect">
            <a:avLst/>
          </a:prstGeom>
          <a:noFill/>
          <a:ln>
            <a:noFill/>
          </a:ln>
        </p:spPr>
        <p:txBody>
          <a:bodyPr spcFirstLastPara="1" wrap="square" lIns="91425" tIns="45700" rIns="91425" bIns="45700" anchor="t" anchorCtr="0">
            <a:noAutofit/>
          </a:bodyPr>
          <a:lstStyle/>
          <a:p>
            <a:pPr marL="342900" lvl="0" indent="-342900" algn="ctr" rtl="0">
              <a:lnSpc>
                <a:spcPct val="110000"/>
              </a:lnSpc>
              <a:spcBef>
                <a:spcPts val="0"/>
              </a:spcBef>
              <a:spcAft>
                <a:spcPts val="0"/>
              </a:spcAft>
              <a:buSzPts val="1680"/>
              <a:buNone/>
            </a:pPr>
            <a:r>
              <a:rPr lang="en-US" sz="2800" b="0" i="0" u="none">
                <a:solidFill>
                  <a:schemeClr val="dk1"/>
                </a:solidFill>
                <a:latin typeface="Tahoma"/>
                <a:ea typeface="Tahoma"/>
                <a:cs typeface="Tahoma"/>
                <a:sym typeface="Tahoma"/>
              </a:rPr>
              <a:t>Jiawei Han, Micheline Kamber, and Jian Pei</a:t>
            </a:r>
            <a:endParaRPr/>
          </a:p>
          <a:p>
            <a:pPr marL="342900" lvl="0" indent="-342900" algn="ctr" rtl="0">
              <a:lnSpc>
                <a:spcPct val="110000"/>
              </a:lnSpc>
              <a:spcBef>
                <a:spcPts val="560"/>
              </a:spcBef>
              <a:spcAft>
                <a:spcPts val="0"/>
              </a:spcAft>
              <a:buSzPts val="1680"/>
              <a:buNone/>
            </a:pPr>
            <a:r>
              <a:rPr lang="en-US" sz="2800" b="0" i="0" u="none">
                <a:solidFill>
                  <a:schemeClr val="dk1"/>
                </a:solidFill>
                <a:latin typeface="Tahoma"/>
                <a:ea typeface="Tahoma"/>
                <a:cs typeface="Tahoma"/>
                <a:sym typeface="Tahoma"/>
              </a:rPr>
              <a:t>University of Illinois at Urbana-Champaign &amp;</a:t>
            </a:r>
            <a:endParaRPr/>
          </a:p>
          <a:p>
            <a:pPr marL="342900" lvl="0" indent="-342900" algn="ctr" rtl="0">
              <a:lnSpc>
                <a:spcPct val="110000"/>
              </a:lnSpc>
              <a:spcBef>
                <a:spcPts val="560"/>
              </a:spcBef>
              <a:spcAft>
                <a:spcPts val="0"/>
              </a:spcAft>
              <a:buSzPts val="1680"/>
              <a:buNone/>
            </a:pPr>
            <a:r>
              <a:rPr lang="en-US" sz="2800" b="0" i="0" u="none">
                <a:solidFill>
                  <a:schemeClr val="dk1"/>
                </a:solidFill>
                <a:latin typeface="Tahoma"/>
                <a:ea typeface="Tahoma"/>
                <a:cs typeface="Tahoma"/>
                <a:sym typeface="Tahoma"/>
              </a:rPr>
              <a:t>Simon Fraser University</a:t>
            </a:r>
            <a:endParaRPr/>
          </a:p>
          <a:p>
            <a:pPr marL="342900" lvl="0" indent="-342900" algn="ctr" rtl="0">
              <a:lnSpc>
                <a:spcPct val="110000"/>
              </a:lnSpc>
              <a:spcBef>
                <a:spcPts val="480"/>
              </a:spcBef>
              <a:spcAft>
                <a:spcPts val="0"/>
              </a:spcAft>
              <a:buSzPts val="1440"/>
              <a:buNone/>
            </a:pPr>
            <a:r>
              <a:rPr lang="en-US" sz="2400" b="0" i="0" u="none">
                <a:solidFill>
                  <a:schemeClr val="dk1"/>
                </a:solidFill>
                <a:latin typeface="Tahoma"/>
                <a:ea typeface="Tahoma"/>
                <a:cs typeface="Tahoma"/>
                <a:sym typeface="Tahoma"/>
              </a:rPr>
              <a:t>©2011 Han, Kamber &amp; Pei.  All rights reserved.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a:t>
            </a:fld>
            <a:endParaRPr/>
          </a:p>
        </p:txBody>
      </p:sp>
      <p:sp>
        <p:nvSpPr>
          <p:cNvPr id="134" name="Google Shape;134;p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a:t>
            </a:fld>
            <a:endParaRPr/>
          </a:p>
        </p:txBody>
      </p:sp>
      <p:sp>
        <p:nvSpPr>
          <p:cNvPr id="135" name="Google Shape;135;p2"/>
          <p:cNvSpPr txBox="1">
            <a:spLocks noGrp="1"/>
          </p:cNvSpPr>
          <p:nvPr>
            <p:ph type="title"/>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Chapter 3: Data Preprocessing</a:t>
            </a:r>
            <a:endParaRPr/>
          </a:p>
        </p:txBody>
      </p:sp>
      <p:sp>
        <p:nvSpPr>
          <p:cNvPr id="136" name="Google Shape;136;p2"/>
          <p:cNvSpPr txBox="1">
            <a:spLocks noGrp="1"/>
          </p:cNvSpPr>
          <p:nvPr>
            <p:ph type="body" idx="1"/>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lvl="0" indent="-342900" algn="l" rtl="0">
              <a:lnSpc>
                <a:spcPct val="15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Preprocessing: An Overview</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Quality</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Major Tasks in Data Preprocessing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Cleaning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Integration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Reduction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Transformation and Data Discretization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Summary</a:t>
            </a:r>
            <a:endParaRPr/>
          </a:p>
        </p:txBody>
      </p:sp>
      <p:sp>
        <p:nvSpPr>
          <p:cNvPr id="137" name="Google Shape;137;p2"/>
          <p:cNvSpPr/>
          <p:nvPr/>
        </p:nvSpPr>
        <p:spPr>
          <a:xfrm rot="9420000">
            <a:off x="5559425" y="137795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a:t>
            </a:fld>
            <a:endParaRPr/>
          </a:p>
        </p:txBody>
      </p:sp>
      <p:sp>
        <p:nvSpPr>
          <p:cNvPr id="144" name="Google Shape;144;p3"/>
          <p:cNvSpPr txBox="1">
            <a:spLocks noGrp="1"/>
          </p:cNvSpPr>
          <p:nvPr>
            <p:ph type="title"/>
          </p:nvPr>
        </p:nvSpPr>
        <p:spPr>
          <a:xfrm>
            <a:off x="0" y="304800"/>
            <a:ext cx="9144000" cy="685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Data Quality: Why Preprocess the Data?</a:t>
            </a:r>
            <a:endParaRPr/>
          </a:p>
        </p:txBody>
      </p:sp>
      <p:sp>
        <p:nvSpPr>
          <p:cNvPr id="145" name="Google Shape;145;p3"/>
          <p:cNvSpPr txBox="1">
            <a:spLocks noGrp="1"/>
          </p:cNvSpPr>
          <p:nvPr>
            <p:ph type="body" idx="1"/>
          </p:nvPr>
        </p:nvSpPr>
        <p:spPr>
          <a:xfrm>
            <a:off x="304800" y="1295400"/>
            <a:ext cx="8382000" cy="4946650"/>
          </a:xfrm>
          <a:prstGeom prst="rect">
            <a:avLst/>
          </a:prstGeom>
          <a:noFill/>
          <a:ln>
            <a:noFill/>
          </a:ln>
        </p:spPr>
        <p:txBody>
          <a:bodyPr spcFirstLastPara="1" wrap="square" lIns="91425" tIns="45700" rIns="91425" bIns="45700" anchor="t" anchorCtr="0">
            <a:noAutofit/>
          </a:bodyPr>
          <a:lstStyle/>
          <a:p>
            <a:pPr marL="342900" lvl="0" indent="-342900" algn="l" rtl="0">
              <a:lnSpc>
                <a:spcPct val="14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Measures for data quality: A multidimensional view</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Accuracy: correct or wrong, accurate or not</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Completeness: not recorded, unavailable, …</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Consistency: some modified but some not, dangling, …</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Timeliness: timely update? </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Believability: how trustable the data are correct?</a:t>
            </a:r>
            <a:endParaRPr/>
          </a:p>
          <a:p>
            <a:pPr marL="742950" lvl="1" indent="-285750" algn="l" rtl="0">
              <a:lnSpc>
                <a:spcPct val="14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Interpretability: how easily the data can be understood?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a:t>
            </a:fld>
            <a:endParaRPr/>
          </a:p>
        </p:txBody>
      </p:sp>
      <p:sp>
        <p:nvSpPr>
          <p:cNvPr id="152" name="Google Shape;152;p4"/>
          <p:cNvSpPr txBox="1">
            <a:spLocks noGrp="1"/>
          </p:cNvSpPr>
          <p:nvPr>
            <p:ph type="title"/>
          </p:nvPr>
        </p:nvSpPr>
        <p:spPr>
          <a:xfrm>
            <a:off x="-105875" y="316550"/>
            <a:ext cx="9144000" cy="685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Major Tasks in Data Preprocessing</a:t>
            </a:r>
            <a:endParaRPr/>
          </a:p>
        </p:txBody>
      </p:sp>
      <p:sp>
        <p:nvSpPr>
          <p:cNvPr id="153" name="Google Shape;153;p4"/>
          <p:cNvSpPr txBox="1">
            <a:spLocks noGrp="1"/>
          </p:cNvSpPr>
          <p:nvPr>
            <p:ph type="body" idx="1"/>
          </p:nvPr>
        </p:nvSpPr>
        <p:spPr>
          <a:xfrm>
            <a:off x="381000" y="1295400"/>
            <a:ext cx="83058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cleaning</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Fill in missing values, smooth noisy data, identify or remove outliers, and resolve inconsistencies</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integration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Integration of multiple databases, data cubes, or files</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reduction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Dimensionality reduction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Numerosity reduction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Data compression</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transformation and data discretization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Normalization </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Concept hierarchy generation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a:t>
            </a:fld>
            <a:endParaRPr/>
          </a:p>
        </p:txBody>
      </p:sp>
      <p:sp>
        <p:nvSpPr>
          <p:cNvPr id="160" name="Google Shape;160;p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a:t>
            </a:fld>
            <a:endParaRPr/>
          </a:p>
        </p:txBody>
      </p:sp>
      <p:sp>
        <p:nvSpPr>
          <p:cNvPr id="161" name="Google Shape;161;p5"/>
          <p:cNvSpPr txBox="1">
            <a:spLocks noGrp="1"/>
          </p:cNvSpPr>
          <p:nvPr>
            <p:ph type="title"/>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Chapter 3: Data Preprocessing</a:t>
            </a:r>
            <a:endParaRPr/>
          </a:p>
        </p:txBody>
      </p:sp>
      <p:sp>
        <p:nvSpPr>
          <p:cNvPr id="162" name="Google Shape;162;p5"/>
          <p:cNvSpPr txBox="1">
            <a:spLocks noGrp="1"/>
          </p:cNvSpPr>
          <p:nvPr>
            <p:ph type="body" idx="1"/>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lvl="0" indent="-342900" algn="l" rtl="0">
              <a:lnSpc>
                <a:spcPct val="15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Preprocessing: An Overview</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Quality</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Major Tasks in Data Preprocessing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Cleaning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Integration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Reduction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Transformation and Data Discretization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Summary</a:t>
            </a:r>
            <a:endParaRPr/>
          </a:p>
        </p:txBody>
      </p:sp>
      <p:sp>
        <p:nvSpPr>
          <p:cNvPr id="163" name="Google Shape;163;p5"/>
          <p:cNvSpPr/>
          <p:nvPr/>
        </p:nvSpPr>
        <p:spPr>
          <a:xfrm rot="9420000">
            <a:off x="2968625" y="320675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6</a:t>
            </a:fld>
            <a:endParaRPr/>
          </a:p>
        </p:txBody>
      </p:sp>
      <p:sp>
        <p:nvSpPr>
          <p:cNvPr id="170" name="Google Shape;170;p6"/>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Data Cleaning</a:t>
            </a:r>
            <a:endParaRPr/>
          </a:p>
        </p:txBody>
      </p:sp>
      <p:sp>
        <p:nvSpPr>
          <p:cNvPr id="171" name="Google Shape;171;p6"/>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Data in the Real World Is Dirty: Lots of potentially incorrect data, e.g., instrument faulty, human or computer error, transmission error</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sng">
                <a:solidFill>
                  <a:schemeClr val="dk1"/>
                </a:solidFill>
                <a:latin typeface="Tahoma"/>
                <a:ea typeface="Tahoma"/>
                <a:cs typeface="Tahoma"/>
                <a:sym typeface="Tahoma"/>
              </a:rPr>
              <a:t>incomplete</a:t>
            </a:r>
            <a:r>
              <a:rPr lang="en-US" sz="2000" b="0" i="0" u="none">
                <a:solidFill>
                  <a:schemeClr val="dk1"/>
                </a:solidFill>
                <a:latin typeface="Tahoma"/>
                <a:ea typeface="Tahoma"/>
                <a:cs typeface="Tahoma"/>
                <a:sym typeface="Tahoma"/>
              </a:rPr>
              <a:t>: lacking attribute values, lacking certain attributes of interest, or containing only aggregate data</a:t>
            </a:r>
            <a:endParaRPr/>
          </a:p>
          <a:p>
            <a:pPr marL="1143000" lvl="2" indent="-228600" algn="l" rtl="0">
              <a:lnSpc>
                <a:spcPct val="11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e.g., </a:t>
            </a:r>
            <a:r>
              <a:rPr lang="en-US" sz="2000" b="0" i="1" u="none">
                <a:solidFill>
                  <a:schemeClr val="dk1"/>
                </a:solidFill>
                <a:latin typeface="Tahoma"/>
                <a:ea typeface="Tahoma"/>
                <a:cs typeface="Tahoma"/>
                <a:sym typeface="Tahoma"/>
              </a:rPr>
              <a:t>Occupation</a:t>
            </a:r>
            <a:r>
              <a:rPr lang="en-US" sz="2000" b="0" i="0" u="none">
                <a:solidFill>
                  <a:schemeClr val="dk1"/>
                </a:solidFill>
                <a:latin typeface="Tahoma"/>
                <a:ea typeface="Tahoma"/>
                <a:cs typeface="Tahoma"/>
                <a:sym typeface="Tahoma"/>
              </a:rPr>
              <a:t>=“ ” (missing data)</a:t>
            </a:r>
            <a:endParaRPr/>
          </a:p>
          <a:p>
            <a:pPr marL="742950" lvl="1" indent="-285750" algn="l" rtl="0">
              <a:lnSpc>
                <a:spcPct val="110000"/>
              </a:lnSpc>
              <a:spcBef>
                <a:spcPts val="400"/>
              </a:spcBef>
              <a:spcAft>
                <a:spcPts val="0"/>
              </a:spcAft>
              <a:buClr>
                <a:schemeClr val="hlink"/>
              </a:buClr>
              <a:buSzPts val="1100"/>
              <a:buFont typeface="Noto Sans Symbols"/>
              <a:buChar char="■"/>
            </a:pPr>
            <a:r>
              <a:rPr lang="en-US" sz="2000" b="0" i="0" u="sng">
                <a:solidFill>
                  <a:schemeClr val="dk1"/>
                </a:solidFill>
                <a:latin typeface="Tahoma"/>
                <a:ea typeface="Tahoma"/>
                <a:cs typeface="Tahoma"/>
                <a:sym typeface="Tahoma"/>
              </a:rPr>
              <a:t>noisy</a:t>
            </a:r>
            <a:r>
              <a:rPr lang="en-US" sz="2000" b="0" i="0" u="none">
                <a:solidFill>
                  <a:schemeClr val="dk1"/>
                </a:solidFill>
                <a:latin typeface="Tahoma"/>
                <a:ea typeface="Tahoma"/>
                <a:cs typeface="Tahoma"/>
                <a:sym typeface="Tahoma"/>
              </a:rPr>
              <a:t>: containing noise, errors, or outliers</a:t>
            </a:r>
            <a:endParaRPr/>
          </a:p>
          <a:p>
            <a:pPr marL="1143000" lvl="2" indent="-228600" algn="l" rtl="0">
              <a:lnSpc>
                <a:spcPct val="11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e.g., </a:t>
            </a:r>
            <a:r>
              <a:rPr lang="en-US" sz="2000" b="0" i="1" u="none">
                <a:solidFill>
                  <a:schemeClr val="dk1"/>
                </a:solidFill>
                <a:latin typeface="Tahoma"/>
                <a:ea typeface="Tahoma"/>
                <a:cs typeface="Tahoma"/>
                <a:sym typeface="Tahoma"/>
              </a:rPr>
              <a:t>Salary</a:t>
            </a:r>
            <a:r>
              <a:rPr lang="en-US" sz="2000" b="0" i="0" u="none">
                <a:solidFill>
                  <a:schemeClr val="dk1"/>
                </a:solidFill>
                <a:latin typeface="Tahoma"/>
                <a:ea typeface="Tahoma"/>
                <a:cs typeface="Tahoma"/>
                <a:sym typeface="Tahoma"/>
              </a:rPr>
              <a:t>=“−10” (an error)</a:t>
            </a:r>
            <a:endParaRPr/>
          </a:p>
          <a:p>
            <a:pPr marL="742950" lvl="1" indent="-285750" algn="l" rtl="0">
              <a:lnSpc>
                <a:spcPct val="110000"/>
              </a:lnSpc>
              <a:spcBef>
                <a:spcPts val="400"/>
              </a:spcBef>
              <a:spcAft>
                <a:spcPts val="0"/>
              </a:spcAft>
              <a:buClr>
                <a:schemeClr val="hlink"/>
              </a:buClr>
              <a:buSzPts val="1100"/>
              <a:buFont typeface="Noto Sans Symbols"/>
              <a:buChar char="■"/>
            </a:pPr>
            <a:r>
              <a:rPr lang="en-US" sz="2000" b="0" i="0" u="sng">
                <a:solidFill>
                  <a:schemeClr val="dk1"/>
                </a:solidFill>
                <a:latin typeface="Tahoma"/>
                <a:ea typeface="Tahoma"/>
                <a:cs typeface="Tahoma"/>
                <a:sym typeface="Tahoma"/>
              </a:rPr>
              <a:t>inconsistent</a:t>
            </a:r>
            <a:r>
              <a:rPr lang="en-US" sz="2000" b="0" i="0" u="none">
                <a:solidFill>
                  <a:schemeClr val="dk1"/>
                </a:solidFill>
                <a:latin typeface="Tahoma"/>
                <a:ea typeface="Tahoma"/>
                <a:cs typeface="Tahoma"/>
                <a:sym typeface="Tahoma"/>
              </a:rPr>
              <a:t>: containing discrepancies in codes or names, e.g.,</a:t>
            </a:r>
            <a:endParaRPr/>
          </a:p>
          <a:p>
            <a:pPr marL="1143000" lvl="2" indent="-228600" algn="l" rtl="0">
              <a:lnSpc>
                <a:spcPct val="110000"/>
              </a:lnSpc>
              <a:spcBef>
                <a:spcPts val="400"/>
              </a:spcBef>
              <a:spcAft>
                <a:spcPts val="0"/>
              </a:spcAft>
              <a:buClr>
                <a:schemeClr val="folHlink"/>
              </a:buClr>
              <a:buSzPts val="1000"/>
              <a:buFont typeface="Noto Sans Symbols"/>
              <a:buChar char="■"/>
            </a:pPr>
            <a:r>
              <a:rPr lang="en-US" sz="2000" b="0" i="1" u="none">
                <a:solidFill>
                  <a:schemeClr val="dk1"/>
                </a:solidFill>
                <a:latin typeface="Tahoma"/>
                <a:ea typeface="Tahoma"/>
                <a:cs typeface="Tahoma"/>
                <a:sym typeface="Tahoma"/>
              </a:rPr>
              <a:t>Age</a:t>
            </a:r>
            <a:r>
              <a:rPr lang="en-US" sz="2000" b="0" i="0" u="none">
                <a:solidFill>
                  <a:schemeClr val="dk1"/>
                </a:solidFill>
                <a:latin typeface="Tahoma"/>
                <a:ea typeface="Tahoma"/>
                <a:cs typeface="Tahoma"/>
                <a:sym typeface="Tahoma"/>
              </a:rPr>
              <a:t>=“42”, </a:t>
            </a:r>
            <a:r>
              <a:rPr lang="en-US" sz="2000" b="0" i="1" u="none">
                <a:solidFill>
                  <a:schemeClr val="dk1"/>
                </a:solidFill>
                <a:latin typeface="Tahoma"/>
                <a:ea typeface="Tahoma"/>
                <a:cs typeface="Tahoma"/>
                <a:sym typeface="Tahoma"/>
              </a:rPr>
              <a:t>Birthday</a:t>
            </a:r>
            <a:r>
              <a:rPr lang="en-US" sz="2000" b="0" i="0" u="none">
                <a:solidFill>
                  <a:schemeClr val="dk1"/>
                </a:solidFill>
                <a:latin typeface="Tahoma"/>
                <a:ea typeface="Tahoma"/>
                <a:cs typeface="Tahoma"/>
                <a:sym typeface="Tahoma"/>
              </a:rPr>
              <a:t>=“03/07/2010”</a:t>
            </a:r>
            <a:endParaRPr/>
          </a:p>
          <a:p>
            <a:pPr marL="1143000" lvl="2" indent="-228600" algn="l" rtl="0">
              <a:lnSpc>
                <a:spcPct val="11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Was rating “1, 2, 3”, now rating “A, B, C”</a:t>
            </a:r>
            <a:endParaRPr/>
          </a:p>
          <a:p>
            <a:pPr marL="1143000" lvl="2" indent="-228600" algn="l" rtl="0">
              <a:lnSpc>
                <a:spcPct val="11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discrepancy between duplicate records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sng">
                <a:solidFill>
                  <a:schemeClr val="dk1"/>
                </a:solidFill>
                <a:latin typeface="Tahoma"/>
                <a:ea typeface="Tahoma"/>
                <a:cs typeface="Tahoma"/>
                <a:sym typeface="Tahoma"/>
              </a:rPr>
              <a:t>Intentional</a:t>
            </a:r>
            <a:r>
              <a:rPr lang="en-US" sz="2000" b="1" i="0" u="sng">
                <a:solidFill>
                  <a:schemeClr val="dk1"/>
                </a:solidFill>
                <a:latin typeface="Tahoma"/>
                <a:ea typeface="Tahoma"/>
                <a:cs typeface="Tahoma"/>
                <a:sym typeface="Tahoma"/>
              </a:rPr>
              <a:t> </a:t>
            </a:r>
            <a:r>
              <a:rPr lang="en-US" sz="2000" b="0" i="0" u="none">
                <a:solidFill>
                  <a:schemeClr val="dk1"/>
                </a:solidFill>
                <a:latin typeface="Tahoma"/>
                <a:ea typeface="Tahoma"/>
                <a:cs typeface="Tahoma"/>
                <a:sym typeface="Tahoma"/>
              </a:rPr>
              <a:t>(e.g., </a:t>
            </a:r>
            <a:r>
              <a:rPr lang="en-US" sz="2000" b="0" i="1" u="none">
                <a:solidFill>
                  <a:schemeClr val="dk1"/>
                </a:solidFill>
                <a:latin typeface="Tahoma"/>
                <a:ea typeface="Tahoma"/>
                <a:cs typeface="Tahoma"/>
                <a:sym typeface="Tahoma"/>
              </a:rPr>
              <a:t>disguised missing</a:t>
            </a:r>
            <a:r>
              <a:rPr lang="en-US" sz="2000" b="0" i="0" u="none">
                <a:solidFill>
                  <a:schemeClr val="dk1"/>
                </a:solidFill>
                <a:latin typeface="Tahoma"/>
                <a:ea typeface="Tahoma"/>
                <a:cs typeface="Tahoma"/>
                <a:sym typeface="Tahoma"/>
              </a:rPr>
              <a:t> data)</a:t>
            </a:r>
            <a:endParaRPr/>
          </a:p>
          <a:p>
            <a:pPr marL="1143000" lvl="2" indent="-228600" algn="l" rtl="0">
              <a:lnSpc>
                <a:spcPct val="12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Jan. 1 as everyone’s birthday?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7</a:t>
            </a:fld>
            <a:endParaRPr/>
          </a:p>
        </p:txBody>
      </p:sp>
      <p:sp>
        <p:nvSpPr>
          <p:cNvPr id="178" name="Google Shape;178;p7"/>
          <p:cNvSpPr txBox="1">
            <a:spLocks noGrp="1"/>
          </p:cNvSpPr>
          <p:nvPr>
            <p:ph type="title"/>
          </p:nvPr>
        </p:nvSpPr>
        <p:spPr>
          <a:xfrm>
            <a:off x="869950" y="304800"/>
            <a:ext cx="716915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Incomplete (Missing) Data</a:t>
            </a:r>
            <a:endParaRPr/>
          </a:p>
        </p:txBody>
      </p:sp>
      <p:sp>
        <p:nvSpPr>
          <p:cNvPr id="179" name="Google Shape;179;p7"/>
          <p:cNvSpPr txBox="1">
            <a:spLocks noGrp="1"/>
          </p:cNvSpPr>
          <p:nvPr>
            <p:ph type="body" idx="1"/>
          </p:nvPr>
        </p:nvSpPr>
        <p:spPr>
          <a:xfrm>
            <a:off x="381000" y="1371600"/>
            <a:ext cx="83058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is not always available</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E.g., many tuples have no recorded value for several attributes, such as customer income in sales data</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Missing data may be due to </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equipment malfunction</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inconsistent with other recorded data and thus deleted</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not entered due to misunderstanding</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certain data may not be considered important at the time of entry</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not register history or changes of the data</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Missing data may need to be inferred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8</a:t>
            </a:fld>
            <a:endParaRPr/>
          </a:p>
        </p:txBody>
      </p:sp>
      <p:sp>
        <p:nvSpPr>
          <p:cNvPr id="186" name="Google Shape;186;p8"/>
          <p:cNvSpPr txBox="1">
            <a:spLocks noGrp="1"/>
          </p:cNvSpPr>
          <p:nvPr>
            <p:ph type="title"/>
          </p:nvPr>
        </p:nvSpPr>
        <p:spPr>
          <a:xfrm>
            <a:off x="762000" y="228600"/>
            <a:ext cx="7543800" cy="762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How to Handle Missing Data?</a:t>
            </a:r>
            <a:endParaRPr/>
          </a:p>
        </p:txBody>
      </p:sp>
      <p:sp>
        <p:nvSpPr>
          <p:cNvPr id="187" name="Google Shape;187;p8"/>
          <p:cNvSpPr txBox="1">
            <a:spLocks noGrp="1"/>
          </p:cNvSpPr>
          <p:nvPr>
            <p:ph type="body" idx="1"/>
          </p:nvPr>
        </p:nvSpPr>
        <p:spPr>
          <a:xfrm>
            <a:off x="304800" y="1295400"/>
            <a:ext cx="8534400" cy="52578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Ignore the tuple: usually done when class label is missing (when doing classification)—not effective when the % of missing values per attribute varies considerably</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Fill in the missing value manually: tedious + infeasible?</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Fill in it automatically with</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 global constant : e.g., “unknown”, a new class?! </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the attribute mean</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the attribute mean for all samples belonging to the same class: smarter</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the most probable value: inference-based such as Bayesian formula or decision tree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9</a:t>
            </a:fld>
            <a:endParaRPr/>
          </a:p>
        </p:txBody>
      </p:sp>
      <p:sp>
        <p:nvSpPr>
          <p:cNvPr id="194" name="Google Shape;194;p9"/>
          <p:cNvSpPr txBox="1">
            <a:spLocks noGrp="1"/>
          </p:cNvSpPr>
          <p:nvPr>
            <p:ph type="title"/>
          </p:nvPr>
        </p:nvSpPr>
        <p:spPr>
          <a:xfrm>
            <a:off x="1676400" y="228600"/>
            <a:ext cx="5638800" cy="762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Noisy Data</a:t>
            </a:r>
            <a:endParaRPr/>
          </a:p>
        </p:txBody>
      </p:sp>
      <p:sp>
        <p:nvSpPr>
          <p:cNvPr id="195" name="Google Shape;195;p9"/>
          <p:cNvSpPr txBox="1">
            <a:spLocks noGrp="1"/>
          </p:cNvSpPr>
          <p:nvPr>
            <p:ph type="body" idx="1"/>
          </p:nvPr>
        </p:nvSpPr>
        <p:spPr>
          <a:xfrm>
            <a:off x="304800" y="1371600"/>
            <a:ext cx="8382000" cy="4953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Noise</a:t>
            </a:r>
            <a:r>
              <a:rPr lang="en-US" sz="2400" b="0" i="0" u="none">
                <a:solidFill>
                  <a:schemeClr val="dk1"/>
                </a:solidFill>
                <a:latin typeface="Tahoma"/>
                <a:ea typeface="Tahoma"/>
                <a:cs typeface="Tahoma"/>
                <a:sym typeface="Tahoma"/>
              </a:rPr>
              <a:t>: random error or variance in a measured variable</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Incorrect attribute values</a:t>
            </a:r>
            <a:r>
              <a:rPr lang="en-US" sz="2400" b="0" i="0" u="none">
                <a:solidFill>
                  <a:schemeClr val="dk1"/>
                </a:solidFill>
                <a:latin typeface="Tahoma"/>
                <a:ea typeface="Tahoma"/>
                <a:cs typeface="Tahoma"/>
                <a:sym typeface="Tahoma"/>
              </a:rPr>
              <a:t> may be due to</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faulty data collection instruments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entry problems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transmission problems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technology limitation</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inconsistency in naming convention </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Other data problems</a:t>
            </a:r>
            <a:r>
              <a:rPr lang="en-US" sz="2400" b="0" i="0" u="none">
                <a:solidFill>
                  <a:schemeClr val="dk1"/>
                </a:solidFill>
                <a:latin typeface="Tahoma"/>
                <a:ea typeface="Tahoma"/>
                <a:cs typeface="Tahoma"/>
                <a:sym typeface="Tahoma"/>
              </a:rPr>
              <a:t> which require data cleaning</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duplicate records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incomplete data</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inconsistent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10</a:t>
            </a:fld>
            <a:endParaRPr/>
          </a:p>
        </p:txBody>
      </p:sp>
      <p:sp>
        <p:nvSpPr>
          <p:cNvPr id="202" name="Google Shape;202;p10"/>
          <p:cNvSpPr txBox="1">
            <a:spLocks noGrp="1"/>
          </p:cNvSpPr>
          <p:nvPr>
            <p:ph type="title"/>
          </p:nvPr>
        </p:nvSpPr>
        <p:spPr>
          <a:xfrm>
            <a:off x="323850" y="304800"/>
            <a:ext cx="859155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How to Handle Noisy Data?</a:t>
            </a:r>
            <a:endParaRPr/>
          </a:p>
        </p:txBody>
      </p:sp>
      <p:sp>
        <p:nvSpPr>
          <p:cNvPr id="203" name="Google Shape;203;p10"/>
          <p:cNvSpPr txBox="1">
            <a:spLocks noGrp="1"/>
          </p:cNvSpPr>
          <p:nvPr>
            <p:ph type="body" idx="1"/>
          </p:nvPr>
        </p:nvSpPr>
        <p:spPr>
          <a:xfrm>
            <a:off x="304800" y="1371600"/>
            <a:ext cx="8382000" cy="5029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Binning</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first sort data and partition into (equal-frequency) bins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then one can </a:t>
            </a:r>
            <a:r>
              <a:rPr lang="en-US" sz="2400" b="0" i="0" u="none">
                <a:solidFill>
                  <a:schemeClr val="hlink"/>
                </a:solidFill>
                <a:latin typeface="Tahoma"/>
                <a:ea typeface="Tahoma"/>
                <a:cs typeface="Tahoma"/>
                <a:sym typeface="Tahoma"/>
              </a:rPr>
              <a:t>smooth by bin means,  smooth by bin median, smooth by bin boundaries</a:t>
            </a:r>
            <a:r>
              <a:rPr lang="en-US" sz="2400" b="0" i="0" u="none">
                <a:solidFill>
                  <a:schemeClr val="dk1"/>
                </a:solidFill>
                <a:latin typeface="Tahoma"/>
                <a:ea typeface="Tahoma"/>
                <a:cs typeface="Tahoma"/>
                <a:sym typeface="Tahoma"/>
              </a:rPr>
              <a:t>, etc.</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Regression</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smooth by fitting the data into regression functions</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Clustering</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detect and remove outliers</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Combined computer and human inspection</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detect suspicious values and check by human (e.g., deal with possible outliers)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11</a:t>
            </a:fld>
            <a:endParaRPr/>
          </a:p>
        </p:txBody>
      </p:sp>
      <p:sp>
        <p:nvSpPr>
          <p:cNvPr id="210" name="Google Shape;210;p11"/>
          <p:cNvSpPr txBox="1">
            <a:spLocks noGrp="1"/>
          </p:cNvSpPr>
          <p:nvPr>
            <p:ph type="title"/>
          </p:nvPr>
        </p:nvSpPr>
        <p:spPr>
          <a:xfrm>
            <a:off x="323850" y="304800"/>
            <a:ext cx="859155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Data Cleaning as a Process</a:t>
            </a:r>
            <a:endParaRPr/>
          </a:p>
        </p:txBody>
      </p:sp>
      <p:sp>
        <p:nvSpPr>
          <p:cNvPr id="211" name="Google Shape;211;p11"/>
          <p:cNvSpPr txBox="1">
            <a:spLocks noGrp="1"/>
          </p:cNvSpPr>
          <p:nvPr>
            <p:ph type="body" idx="1"/>
          </p:nvPr>
        </p:nvSpPr>
        <p:spPr>
          <a:xfrm>
            <a:off x="304800" y="1295400"/>
            <a:ext cx="85344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200"/>
              <a:buFont typeface="Noto Sans Symbols"/>
              <a:buChar char="■"/>
            </a:pPr>
            <a:r>
              <a:rPr lang="en-US" sz="2000" b="0" i="0" u="none">
                <a:solidFill>
                  <a:schemeClr val="folHlink"/>
                </a:solidFill>
                <a:latin typeface="Tahoma"/>
                <a:ea typeface="Tahoma"/>
                <a:cs typeface="Tahoma"/>
                <a:sym typeface="Tahoma"/>
              </a:rPr>
              <a:t>Data discrepancy detection</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Use metadata (e.g., domain, range, dependency, distribution)</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Check field overloading </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Check uniqueness rule, consecutive rule and null rule</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Use commercial tools</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Data scrubbing: use simple domain knowledge (e.g., postal code, spell-check) to detect errors and make corrections</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dk1"/>
                </a:solidFill>
                <a:latin typeface="Tahoma"/>
                <a:ea typeface="Tahoma"/>
                <a:cs typeface="Tahoma"/>
                <a:sym typeface="Tahoma"/>
              </a:rPr>
              <a:t>Data auditing: by analyzing data to discover rules and relationship to detect violators (e.g., correlation and clustering to find outliers)</a:t>
            </a:r>
            <a:endParaRPr/>
          </a:p>
          <a:p>
            <a:pPr marL="342900" lvl="0" indent="-342900" algn="l" rtl="0">
              <a:lnSpc>
                <a:spcPct val="90000"/>
              </a:lnSpc>
              <a:spcBef>
                <a:spcPts val="400"/>
              </a:spcBef>
              <a:spcAft>
                <a:spcPts val="0"/>
              </a:spcAft>
              <a:buClr>
                <a:schemeClr val="folHlink"/>
              </a:buClr>
              <a:buSzPts val="1200"/>
              <a:buFont typeface="Noto Sans Symbols"/>
              <a:buChar char="■"/>
            </a:pPr>
            <a:r>
              <a:rPr lang="en-US" sz="2000" b="0" i="0" u="none">
                <a:solidFill>
                  <a:schemeClr val="folHlink"/>
                </a:solidFill>
                <a:latin typeface="Tahoma"/>
                <a:ea typeface="Tahoma"/>
                <a:cs typeface="Tahoma"/>
                <a:sym typeface="Tahoma"/>
              </a:rPr>
              <a:t>Data migration and integration</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Data migration tools: allow transformations to be specified</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ETL (Extraction/Transformation/Loading) tools: allow users to specify transformations through a graphical user interface</a:t>
            </a:r>
            <a:endParaRPr/>
          </a:p>
          <a:p>
            <a:pPr marL="342900" lvl="0" indent="-342900" algn="l" rtl="0">
              <a:lnSpc>
                <a:spcPct val="9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Integration of the two processes</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Iterative and interactive (e.g., Potter’s Wheels)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12</a:t>
            </a:fld>
            <a:endParaRPr/>
          </a:p>
        </p:txBody>
      </p:sp>
      <p:sp>
        <p:nvSpPr>
          <p:cNvPr id="218" name="Google Shape;218;p1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12</a:t>
            </a:fld>
            <a:endParaRPr/>
          </a:p>
        </p:txBody>
      </p:sp>
      <p:sp>
        <p:nvSpPr>
          <p:cNvPr id="219" name="Google Shape;219;p12"/>
          <p:cNvSpPr txBox="1">
            <a:spLocks noGrp="1"/>
          </p:cNvSpPr>
          <p:nvPr>
            <p:ph type="title"/>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Chapter 3: Data Preprocessing</a:t>
            </a:r>
            <a:endParaRPr/>
          </a:p>
        </p:txBody>
      </p:sp>
      <p:sp>
        <p:nvSpPr>
          <p:cNvPr id="220" name="Google Shape;220;p12"/>
          <p:cNvSpPr txBox="1">
            <a:spLocks noGrp="1"/>
          </p:cNvSpPr>
          <p:nvPr>
            <p:ph type="body" idx="1"/>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lvl="0" indent="-342900" algn="l" rtl="0">
              <a:lnSpc>
                <a:spcPct val="15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Preprocessing: An Overview</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Quality</a:t>
            </a:r>
            <a:endParaRPr/>
          </a:p>
          <a:p>
            <a:pPr marL="742950" lvl="1" indent="-285750" algn="l" rtl="0">
              <a:lnSpc>
                <a:spcPct val="15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Major Tasks in Data Preprocessing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Cleaning</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Integration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Reduction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Transformation and Data Discretization</a:t>
            </a:r>
            <a:endParaRPr/>
          </a:p>
          <a:p>
            <a:pPr marL="34290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Summary</a:t>
            </a:r>
            <a:endParaRPr/>
          </a:p>
        </p:txBody>
      </p:sp>
      <p:sp>
        <p:nvSpPr>
          <p:cNvPr id="221" name="Google Shape;221;p12"/>
          <p:cNvSpPr/>
          <p:nvPr/>
        </p:nvSpPr>
        <p:spPr>
          <a:xfrm rot="9420000">
            <a:off x="3197225" y="381635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13</a:t>
            </a:fld>
            <a:endParaRPr/>
          </a:p>
        </p:txBody>
      </p:sp>
      <p:sp>
        <p:nvSpPr>
          <p:cNvPr id="228" name="Google Shape;228;p1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13</a:t>
            </a:fld>
            <a:endParaRPr/>
          </a:p>
        </p:txBody>
      </p:sp>
      <p:sp>
        <p:nvSpPr>
          <p:cNvPr id="229" name="Google Shape;229;p13"/>
          <p:cNvSpPr txBox="1">
            <a:spLocks noGrp="1"/>
          </p:cNvSpPr>
          <p:nvPr>
            <p:ph type="title"/>
          </p:nvPr>
        </p:nvSpPr>
        <p:spPr>
          <a:xfrm>
            <a:off x="1095375" y="304800"/>
            <a:ext cx="6683375"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Data Integration</a:t>
            </a:r>
            <a:endParaRPr/>
          </a:p>
        </p:txBody>
      </p:sp>
      <p:sp>
        <p:nvSpPr>
          <p:cNvPr id="230" name="Google Shape;230;p13"/>
          <p:cNvSpPr txBox="1">
            <a:spLocks noGrp="1"/>
          </p:cNvSpPr>
          <p:nvPr>
            <p:ph type="body" idx="1"/>
          </p:nvPr>
        </p:nvSpPr>
        <p:spPr>
          <a:xfrm>
            <a:off x="304800" y="1295400"/>
            <a:ext cx="85344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3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integration</a:t>
            </a:r>
            <a:r>
              <a:rPr lang="en-US" sz="2000" b="0" i="0" u="none">
                <a:solidFill>
                  <a:schemeClr val="dk1"/>
                </a:solidFill>
                <a:latin typeface="Tahoma"/>
                <a:ea typeface="Tahoma"/>
                <a:cs typeface="Tahoma"/>
                <a:sym typeface="Tahoma"/>
              </a:rPr>
              <a:t>: </a:t>
            </a:r>
            <a:endParaRPr/>
          </a:p>
          <a:p>
            <a:pPr marL="742950" lvl="1" indent="-285750" algn="l" rtl="0">
              <a:lnSpc>
                <a:spcPct val="13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Combines data from multiple sources into a coherent store</a:t>
            </a:r>
            <a:endParaRPr/>
          </a:p>
          <a:p>
            <a:pPr marL="342900" lvl="0" indent="-342900" algn="l" rtl="0">
              <a:lnSpc>
                <a:spcPct val="13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Schema integration: e.g., A.cust-id ≡ B.cust-#</a:t>
            </a:r>
            <a:endParaRPr/>
          </a:p>
          <a:p>
            <a:pPr marL="742950" lvl="1" indent="-285750" algn="l" rtl="0">
              <a:lnSpc>
                <a:spcPct val="13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Integrate metadata from different sources</a:t>
            </a:r>
            <a:endParaRPr/>
          </a:p>
          <a:p>
            <a:pPr marL="342900" lvl="0" indent="-342900" algn="l" rtl="0">
              <a:lnSpc>
                <a:spcPct val="130000"/>
              </a:lnSpc>
              <a:spcBef>
                <a:spcPts val="400"/>
              </a:spcBef>
              <a:spcAft>
                <a:spcPts val="0"/>
              </a:spcAft>
              <a:buClr>
                <a:schemeClr val="folHlink"/>
              </a:buClr>
              <a:buSzPts val="1200"/>
              <a:buFont typeface="Noto Sans Symbols"/>
              <a:buChar char="■"/>
            </a:pPr>
            <a:r>
              <a:rPr lang="en-US" sz="2000" b="0" i="0" u="none">
                <a:solidFill>
                  <a:schemeClr val="hlink"/>
                </a:solidFill>
                <a:latin typeface="Tahoma"/>
                <a:ea typeface="Tahoma"/>
                <a:cs typeface="Tahoma"/>
                <a:sym typeface="Tahoma"/>
              </a:rPr>
              <a:t>Entity identification problem</a:t>
            </a:r>
            <a:r>
              <a:rPr lang="en-US" sz="2000" b="0" i="0" u="none">
                <a:solidFill>
                  <a:schemeClr val="dk1"/>
                </a:solidFill>
                <a:latin typeface="Tahoma"/>
                <a:ea typeface="Tahoma"/>
                <a:cs typeface="Tahoma"/>
                <a:sym typeface="Tahoma"/>
              </a:rPr>
              <a:t>: </a:t>
            </a:r>
            <a:endParaRPr/>
          </a:p>
          <a:p>
            <a:pPr marL="742950" lvl="1" indent="-285750" algn="l" rtl="0">
              <a:lnSpc>
                <a:spcPct val="13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Identify real world entities from multiple data sources, e.g., Bill Clinton = William Clinton</a:t>
            </a:r>
            <a:endParaRPr/>
          </a:p>
          <a:p>
            <a:pPr marL="342900" lvl="0" indent="-342900" algn="l" rtl="0">
              <a:lnSpc>
                <a:spcPct val="13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Detecting and resolving data value conflicts</a:t>
            </a:r>
            <a:endParaRPr/>
          </a:p>
          <a:p>
            <a:pPr marL="742950" lvl="1" indent="-285750" algn="l" rtl="0">
              <a:lnSpc>
                <a:spcPct val="13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For the same real world entity, attribute values from different sources are different</a:t>
            </a:r>
            <a:endParaRPr/>
          </a:p>
          <a:p>
            <a:pPr marL="742950" lvl="1" indent="-285750" algn="l" rtl="0">
              <a:lnSpc>
                <a:spcPct val="13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Possible reasons: different representations, different scales, e.g., metric vs. British units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14</a:t>
            </a:fld>
            <a:endParaRPr/>
          </a:p>
        </p:txBody>
      </p:sp>
      <p:sp>
        <p:nvSpPr>
          <p:cNvPr id="237" name="Google Shape;237;p1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14</a:t>
            </a:fld>
            <a:endParaRPr/>
          </a:p>
        </p:txBody>
      </p:sp>
      <p:sp>
        <p:nvSpPr>
          <p:cNvPr id="238" name="Google Shape;238;p14"/>
          <p:cNvSpPr txBox="1">
            <a:spLocks noGrp="1"/>
          </p:cNvSpPr>
          <p:nvPr>
            <p:ph type="title"/>
          </p:nvPr>
        </p:nvSpPr>
        <p:spPr>
          <a:xfrm>
            <a:off x="0" y="228600"/>
            <a:ext cx="9067800" cy="685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Handling Redundancy in Data Integration</a:t>
            </a:r>
            <a:endParaRPr/>
          </a:p>
        </p:txBody>
      </p:sp>
      <p:sp>
        <p:nvSpPr>
          <p:cNvPr id="239" name="Google Shape;239;p14"/>
          <p:cNvSpPr txBox="1">
            <a:spLocks noGrp="1"/>
          </p:cNvSpPr>
          <p:nvPr>
            <p:ph type="body" idx="1"/>
          </p:nvPr>
        </p:nvSpPr>
        <p:spPr>
          <a:xfrm>
            <a:off x="381000" y="1295400"/>
            <a:ext cx="83058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Redundant data occur often when integration of multiple databases</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1" u="none">
                <a:solidFill>
                  <a:schemeClr val="dk1"/>
                </a:solidFill>
                <a:latin typeface="Tahoma"/>
                <a:ea typeface="Tahoma"/>
                <a:cs typeface="Tahoma"/>
                <a:sym typeface="Tahoma"/>
              </a:rPr>
              <a:t>Object identification</a:t>
            </a:r>
            <a:r>
              <a:rPr lang="en-US" sz="2400" b="0" i="0" u="none">
                <a:solidFill>
                  <a:schemeClr val="dk1"/>
                </a:solidFill>
                <a:latin typeface="Tahoma"/>
                <a:ea typeface="Tahoma"/>
                <a:cs typeface="Tahoma"/>
                <a:sym typeface="Tahoma"/>
              </a:rPr>
              <a:t>:  The same attribute or object may have different names in different databases</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1" u="none">
                <a:solidFill>
                  <a:schemeClr val="dk1"/>
                </a:solidFill>
                <a:latin typeface="Tahoma"/>
                <a:ea typeface="Tahoma"/>
                <a:cs typeface="Tahoma"/>
                <a:sym typeface="Tahoma"/>
              </a:rPr>
              <a:t>Derivable data:</a:t>
            </a:r>
            <a:r>
              <a:rPr lang="en-US" sz="2400" b="0" i="0" u="none">
                <a:solidFill>
                  <a:schemeClr val="dk1"/>
                </a:solidFill>
                <a:latin typeface="Tahoma"/>
                <a:ea typeface="Tahoma"/>
                <a:cs typeface="Tahoma"/>
                <a:sym typeface="Tahoma"/>
              </a:rPr>
              <a:t> One attribute may be a “derived” attribute in another table, e.g., annual revenue</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folHlink"/>
                </a:solidFill>
                <a:latin typeface="Tahoma"/>
                <a:ea typeface="Tahoma"/>
                <a:cs typeface="Tahoma"/>
                <a:sym typeface="Tahoma"/>
              </a:rPr>
              <a:t>Redundant attributes may be able to be detected by </a:t>
            </a:r>
            <a:r>
              <a:rPr lang="en-US" sz="2400" b="0" i="1" u="none">
                <a:solidFill>
                  <a:schemeClr val="folHlink"/>
                </a:solidFill>
                <a:latin typeface="Tahoma"/>
                <a:ea typeface="Tahoma"/>
                <a:cs typeface="Tahoma"/>
                <a:sym typeface="Tahoma"/>
              </a:rPr>
              <a:t>correlation analysis </a:t>
            </a:r>
            <a:r>
              <a:rPr lang="en-US" sz="2400" b="0" i="0" u="none">
                <a:solidFill>
                  <a:schemeClr val="folHlink"/>
                </a:solidFill>
                <a:latin typeface="Tahoma"/>
                <a:ea typeface="Tahoma"/>
                <a:cs typeface="Tahoma"/>
                <a:sym typeface="Tahoma"/>
              </a:rPr>
              <a:t>and</a:t>
            </a:r>
            <a:r>
              <a:rPr lang="en-US" sz="2400" b="0" i="1" u="none">
                <a:solidFill>
                  <a:schemeClr val="folHlink"/>
                </a:solidFill>
                <a:latin typeface="Tahoma"/>
                <a:ea typeface="Tahoma"/>
                <a:cs typeface="Tahoma"/>
                <a:sym typeface="Tahoma"/>
              </a:rPr>
              <a:t> covariance analysis</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Careful integration of the data from multiple sources may help reduce/avoid redundancies and inconsistencies and improve mining speed and quality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15</a:t>
            </a:fld>
            <a:endParaRPr/>
          </a:p>
        </p:txBody>
      </p:sp>
      <p:sp>
        <p:nvSpPr>
          <p:cNvPr id="245" name="Google Shape;245;p15"/>
          <p:cNvSpPr txBox="1">
            <a:spLocks noGrp="1"/>
          </p:cNvSpPr>
          <p:nvPr>
            <p:ph type="title"/>
          </p:nvPr>
        </p:nvSpPr>
        <p:spPr>
          <a:xfrm>
            <a:off x="0" y="3810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Correlation Analysis (Nominal Data)</a:t>
            </a:r>
            <a:endParaRPr/>
          </a:p>
        </p:txBody>
      </p:sp>
      <p:sp>
        <p:nvSpPr>
          <p:cNvPr id="246" name="Google Shape;246;p15"/>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440"/>
              <a:buFont typeface="Noto Sans Symbols"/>
              <a:buChar char="■"/>
            </a:pPr>
            <a:r>
              <a:rPr lang="en-US" sz="2400" b="1" i="0" u="none">
                <a:solidFill>
                  <a:schemeClr val="folHlink"/>
                </a:solidFill>
                <a:latin typeface="Tahoma"/>
                <a:ea typeface="Tahoma"/>
                <a:cs typeface="Tahoma"/>
                <a:sym typeface="Tahoma"/>
              </a:rPr>
              <a:t>Χ</a:t>
            </a:r>
            <a:r>
              <a:rPr lang="en-US" sz="2400" b="1" i="0" u="none" baseline="30000">
                <a:solidFill>
                  <a:schemeClr val="folHlink"/>
                </a:solidFill>
                <a:latin typeface="Tahoma"/>
                <a:ea typeface="Tahoma"/>
                <a:cs typeface="Tahoma"/>
                <a:sym typeface="Tahoma"/>
              </a:rPr>
              <a:t>2</a:t>
            </a:r>
            <a:r>
              <a:rPr lang="en-US" sz="2400" b="1" i="0" u="none">
                <a:solidFill>
                  <a:schemeClr val="folHlink"/>
                </a:solidFill>
                <a:latin typeface="Tahoma"/>
                <a:ea typeface="Tahoma"/>
                <a:cs typeface="Tahoma"/>
                <a:sym typeface="Tahoma"/>
              </a:rPr>
              <a:t> (chi-square) test</a:t>
            </a:r>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 larger the Χ</a:t>
            </a:r>
            <a:r>
              <a:rPr lang="en-US" sz="2400" b="0" i="0" u="none" baseline="30000">
                <a:solidFill>
                  <a:schemeClr val="dk1"/>
                </a:solidFill>
                <a:latin typeface="Tahoma"/>
                <a:ea typeface="Tahoma"/>
                <a:cs typeface="Tahoma"/>
                <a:sym typeface="Tahoma"/>
              </a:rPr>
              <a:t>2</a:t>
            </a:r>
            <a:r>
              <a:rPr lang="en-US" sz="2400" b="0" i="0" u="none">
                <a:solidFill>
                  <a:schemeClr val="dk1"/>
                </a:solidFill>
                <a:latin typeface="Tahoma"/>
                <a:ea typeface="Tahoma"/>
                <a:cs typeface="Tahoma"/>
                <a:sym typeface="Tahoma"/>
              </a:rPr>
              <a:t> value, the more likely the variables are related</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 cells that contribute the most to the Χ</a:t>
            </a:r>
            <a:r>
              <a:rPr lang="en-US" sz="2400" b="0" i="0" u="none" baseline="30000">
                <a:solidFill>
                  <a:schemeClr val="dk1"/>
                </a:solidFill>
                <a:latin typeface="Tahoma"/>
                <a:ea typeface="Tahoma"/>
                <a:cs typeface="Tahoma"/>
                <a:sym typeface="Tahoma"/>
              </a:rPr>
              <a:t>2</a:t>
            </a:r>
            <a:r>
              <a:rPr lang="en-US" sz="2400" b="0" i="0" u="none">
                <a:solidFill>
                  <a:schemeClr val="dk1"/>
                </a:solidFill>
                <a:latin typeface="Tahoma"/>
                <a:ea typeface="Tahoma"/>
                <a:cs typeface="Tahoma"/>
                <a:sym typeface="Tahoma"/>
              </a:rPr>
              <a:t> value are those whose actual count is very different from the expected count</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Correlation does not imply causality</a:t>
            </a:r>
            <a:endParaRPr/>
          </a:p>
          <a:p>
            <a:pPr marL="742950" lvl="1" indent="-285750" algn="l" rtl="0">
              <a:lnSpc>
                <a:spcPct val="11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 of hospitals and # of car-theft in a city are correlated</a:t>
            </a:r>
            <a:endParaRPr/>
          </a:p>
          <a:p>
            <a:pPr marL="742950" lvl="1" indent="-285750" algn="l" rtl="0">
              <a:lnSpc>
                <a:spcPct val="11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Both are causally linked to the third variable: population</a:t>
            </a:r>
            <a:endParaRPr/>
          </a:p>
        </p:txBody>
      </p:sp>
      <p:pic>
        <p:nvPicPr>
          <p:cNvPr id="247" name="Google Shape;247;p15"/>
          <p:cNvPicPr preferRelativeResize="0">
            <a:picLocks noGrp="1"/>
          </p:cNvPicPr>
          <p:nvPr>
            <p:ph type="body" idx="1"/>
          </p:nvPr>
        </p:nvPicPr>
        <p:blipFill rotWithShape="1">
          <a:blip r:embed="rId3">
            <a:alphaModFix/>
          </a:blip>
          <a:srcRect/>
          <a:stretch/>
        </p:blipFill>
        <p:spPr>
          <a:xfrm>
            <a:off x="2187575" y="1844675"/>
            <a:ext cx="4540250" cy="10112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16</a:t>
            </a:fld>
            <a:endParaRPr/>
          </a:p>
        </p:txBody>
      </p:sp>
      <p:sp>
        <p:nvSpPr>
          <p:cNvPr id="253" name="Google Shape;253;p16"/>
          <p:cNvSpPr txBox="1">
            <a:spLocks noGrp="1"/>
          </p:cNvSpPr>
          <p:nvPr>
            <p:ph type="title"/>
          </p:nvPr>
        </p:nvSpPr>
        <p:spPr>
          <a:xfrm>
            <a:off x="685800" y="304800"/>
            <a:ext cx="7793037"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Chi-Square Calculation: An Example</a:t>
            </a:r>
            <a:endParaRPr/>
          </a:p>
        </p:txBody>
      </p:sp>
      <p:sp>
        <p:nvSpPr>
          <p:cNvPr id="254" name="Google Shape;254;p16"/>
          <p:cNvSpPr txBox="1">
            <a:spLocks noGrp="1"/>
          </p:cNvSpPr>
          <p:nvPr>
            <p:ph type="body" idx="1"/>
          </p:nvPr>
        </p:nvSpPr>
        <p:spPr>
          <a:xfrm>
            <a:off x="304800" y="1447800"/>
            <a:ext cx="8534400" cy="5029200"/>
          </a:xfrm>
          <a:prstGeom prst="rect">
            <a:avLst/>
          </a:prstGeom>
          <a:noFill/>
          <a:ln>
            <a:noFill/>
          </a:ln>
        </p:spPr>
        <p:txBody>
          <a:bodyPr spcFirstLastPara="1" wrap="square" lIns="91425" tIns="45700" rIns="91425" bIns="45700" anchor="t" anchorCtr="0">
            <a:noAutofit/>
          </a:bodyPr>
          <a:lstStyle/>
          <a:p>
            <a:pPr marL="342900" lvl="0" indent="-251459" algn="l" rtl="0">
              <a:lnSpc>
                <a:spcPct val="110000"/>
              </a:lnSpc>
              <a:spcBef>
                <a:spcPts val="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Χ</a:t>
            </a:r>
            <a:r>
              <a:rPr lang="en-US" sz="2400" b="0" i="0" u="none" baseline="30000">
                <a:solidFill>
                  <a:schemeClr val="dk1"/>
                </a:solidFill>
                <a:latin typeface="Tahoma"/>
                <a:ea typeface="Tahoma"/>
                <a:cs typeface="Tahoma"/>
                <a:sym typeface="Tahoma"/>
              </a:rPr>
              <a:t>2</a:t>
            </a:r>
            <a:r>
              <a:rPr lang="en-US" sz="2400" b="0" i="0" u="none">
                <a:solidFill>
                  <a:schemeClr val="dk1"/>
                </a:solidFill>
                <a:latin typeface="Tahoma"/>
                <a:ea typeface="Tahoma"/>
                <a:cs typeface="Tahoma"/>
                <a:sym typeface="Tahoma"/>
              </a:rPr>
              <a:t> (chi-square) calculation (numbers in parenthesis are expected counts calculated based on the data distribution in the two categories)</a:t>
            </a:r>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It shows that like_science_fiction and play_chess are correlated in the group</a:t>
            </a:r>
            <a:endParaRPr/>
          </a:p>
        </p:txBody>
      </p:sp>
      <p:pic>
        <p:nvPicPr>
          <p:cNvPr id="255" name="Google Shape;255;p16"/>
          <p:cNvPicPr preferRelativeResize="0">
            <a:picLocks noGrp="1"/>
          </p:cNvPicPr>
          <p:nvPr>
            <p:ph type="body" idx="1"/>
          </p:nvPr>
        </p:nvPicPr>
        <p:blipFill rotWithShape="1">
          <a:blip r:embed="rId3">
            <a:alphaModFix/>
          </a:blip>
          <a:srcRect/>
          <a:stretch/>
        </p:blipFill>
        <p:spPr>
          <a:xfrm>
            <a:off x="762000" y="4749800"/>
            <a:ext cx="7772400" cy="744537"/>
          </a:xfrm>
          <a:prstGeom prst="rect">
            <a:avLst/>
          </a:prstGeom>
          <a:noFill/>
          <a:ln>
            <a:noFill/>
          </a:ln>
        </p:spPr>
      </p:pic>
      <p:graphicFrame>
        <p:nvGraphicFramePr>
          <p:cNvPr id="256" name="Google Shape;256;p16"/>
          <p:cNvGraphicFramePr/>
          <p:nvPr/>
        </p:nvGraphicFramePr>
        <p:xfrm>
          <a:off x="1371600" y="1447800"/>
          <a:ext cx="6096000" cy="1618270"/>
        </p:xfrm>
        <a:graphic>
          <a:graphicData uri="http://schemas.openxmlformats.org/drawingml/2006/table">
            <a:tbl>
              <a:tblPr>
                <a:noFill/>
                <a:tableStyleId>{5E30D1B1-A82E-4288-B21F-1B488FB1F6C6}</a:tableStyleId>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Play chess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Not play chess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Sum (row)</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175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Like science fiction</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250(90)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200(360)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450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175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Not like science fiction</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50(210)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1000(840)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1050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175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Sum(col.)</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300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1200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1500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17</a:t>
            </a:fld>
            <a:endParaRPr/>
          </a:p>
        </p:txBody>
      </p:sp>
      <p:sp>
        <p:nvSpPr>
          <p:cNvPr id="262" name="Google Shape;262;p17"/>
          <p:cNvSpPr txBox="1">
            <a:spLocks noGrp="1"/>
          </p:cNvSpPr>
          <p:nvPr>
            <p:ph type="title"/>
          </p:nvPr>
        </p:nvSpPr>
        <p:spPr>
          <a:xfrm>
            <a:off x="0" y="3048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Correlation Analysis (Numeric Data)</a:t>
            </a:r>
            <a:endParaRPr/>
          </a:p>
        </p:txBody>
      </p:sp>
      <p:sp>
        <p:nvSpPr>
          <p:cNvPr id="263" name="Google Shape;263;p17"/>
          <p:cNvSpPr txBox="1">
            <a:spLocks noGrp="1"/>
          </p:cNvSpPr>
          <p:nvPr>
            <p:ph type="body" idx="1"/>
          </p:nvPr>
        </p:nvSpPr>
        <p:spPr>
          <a:xfrm>
            <a:off x="304800" y="1447800"/>
            <a:ext cx="8534400" cy="50292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Correlation coefficient (also called </a:t>
            </a:r>
            <a:r>
              <a:rPr lang="en-US" sz="2400" b="0" i="0" u="none">
                <a:solidFill>
                  <a:schemeClr val="folHlink"/>
                </a:solidFill>
                <a:latin typeface="Tahoma"/>
                <a:ea typeface="Tahoma"/>
                <a:cs typeface="Tahoma"/>
                <a:sym typeface="Tahoma"/>
              </a:rPr>
              <a:t>Pearson’s product moment coefficient</a:t>
            </a:r>
            <a:r>
              <a:rPr lang="en-US" sz="2400" b="0" i="0" u="none">
                <a:solidFill>
                  <a:schemeClr val="dk1"/>
                </a:solidFill>
                <a:latin typeface="Tahoma"/>
                <a:ea typeface="Tahoma"/>
                <a:cs typeface="Tahoma"/>
                <a:sym typeface="Tahoma"/>
              </a:rPr>
              <a:t>)</a:t>
            </a:r>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342900" lvl="0" indent="-251459" algn="l" rtl="0">
              <a:lnSpc>
                <a:spcPct val="110000"/>
              </a:lnSpc>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a:p>
            <a:pPr marL="742950" lvl="1" indent="-285750" algn="l" rtl="0">
              <a:lnSpc>
                <a:spcPct val="110000"/>
              </a:lnSpc>
              <a:spcBef>
                <a:spcPts val="400"/>
              </a:spcBef>
              <a:spcAft>
                <a:spcPts val="0"/>
              </a:spcAft>
              <a:buSzPts val="1100"/>
              <a:buNone/>
            </a:pPr>
            <a:r>
              <a:rPr lang="en-US" sz="2000" b="0" i="0" u="none">
                <a:solidFill>
                  <a:schemeClr val="dk1"/>
                </a:solidFill>
                <a:latin typeface="Tahoma"/>
                <a:ea typeface="Tahoma"/>
                <a:cs typeface="Tahoma"/>
                <a:sym typeface="Tahoma"/>
              </a:rPr>
              <a:t>where n is the number of tuples,       and      are the respective means of A and B, σ</a:t>
            </a:r>
            <a:r>
              <a:rPr lang="en-US" sz="2000" b="0" i="0" u="none" baseline="-25000">
                <a:solidFill>
                  <a:schemeClr val="dk1"/>
                </a:solidFill>
                <a:latin typeface="Tahoma"/>
                <a:ea typeface="Tahoma"/>
                <a:cs typeface="Tahoma"/>
                <a:sym typeface="Tahoma"/>
              </a:rPr>
              <a:t>A </a:t>
            </a:r>
            <a:r>
              <a:rPr lang="en-US" sz="2000" b="0" i="0" u="none">
                <a:solidFill>
                  <a:schemeClr val="dk1"/>
                </a:solidFill>
                <a:latin typeface="Tahoma"/>
                <a:ea typeface="Tahoma"/>
                <a:cs typeface="Tahoma"/>
                <a:sym typeface="Tahoma"/>
              </a:rPr>
              <a:t>and σ</a:t>
            </a:r>
            <a:r>
              <a:rPr lang="en-US" sz="2000" b="0" i="0" u="none" baseline="-25000">
                <a:solidFill>
                  <a:schemeClr val="dk1"/>
                </a:solidFill>
                <a:latin typeface="Tahoma"/>
                <a:ea typeface="Tahoma"/>
                <a:cs typeface="Tahoma"/>
                <a:sym typeface="Tahoma"/>
              </a:rPr>
              <a:t>B </a:t>
            </a:r>
            <a:r>
              <a:rPr lang="en-US" sz="2000" b="0" i="0" u="none">
                <a:solidFill>
                  <a:schemeClr val="dk1"/>
                </a:solidFill>
                <a:latin typeface="Tahoma"/>
                <a:ea typeface="Tahoma"/>
                <a:cs typeface="Tahoma"/>
                <a:sym typeface="Tahoma"/>
              </a:rPr>
              <a:t>are the respective standard deviation of A and B, and Σ(a</a:t>
            </a:r>
            <a:r>
              <a:rPr lang="en-US" sz="2000" b="0" i="0" u="none" baseline="-25000">
                <a:solidFill>
                  <a:schemeClr val="dk1"/>
                </a:solidFill>
                <a:latin typeface="Tahoma"/>
                <a:ea typeface="Tahoma"/>
                <a:cs typeface="Tahoma"/>
                <a:sym typeface="Tahoma"/>
              </a:rPr>
              <a:t>i</a:t>
            </a:r>
            <a:r>
              <a:rPr lang="en-US" sz="2000" b="0" i="0" u="none">
                <a:solidFill>
                  <a:schemeClr val="dk1"/>
                </a:solidFill>
                <a:latin typeface="Tahoma"/>
                <a:ea typeface="Tahoma"/>
                <a:cs typeface="Tahoma"/>
                <a:sym typeface="Tahoma"/>
              </a:rPr>
              <a:t>b</a:t>
            </a:r>
            <a:r>
              <a:rPr lang="en-US" sz="2000" b="0" i="0" u="none" baseline="-25000">
                <a:solidFill>
                  <a:schemeClr val="dk1"/>
                </a:solidFill>
                <a:latin typeface="Tahoma"/>
                <a:ea typeface="Tahoma"/>
                <a:cs typeface="Tahoma"/>
                <a:sym typeface="Tahoma"/>
              </a:rPr>
              <a:t>i</a:t>
            </a:r>
            <a:r>
              <a:rPr lang="en-US" sz="2000" b="0" i="0" u="none">
                <a:solidFill>
                  <a:schemeClr val="dk1"/>
                </a:solidFill>
                <a:latin typeface="Tahoma"/>
                <a:ea typeface="Tahoma"/>
                <a:cs typeface="Tahoma"/>
                <a:sym typeface="Tahoma"/>
              </a:rPr>
              <a:t>) is the sum of the AB cross-product.</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If r</a:t>
            </a:r>
            <a:r>
              <a:rPr lang="en-US" sz="2400" b="0" i="0" u="none" baseline="-25000">
                <a:solidFill>
                  <a:schemeClr val="dk1"/>
                </a:solidFill>
                <a:latin typeface="Tahoma"/>
                <a:ea typeface="Tahoma"/>
                <a:cs typeface="Tahoma"/>
                <a:sym typeface="Tahoma"/>
              </a:rPr>
              <a:t>A,B</a:t>
            </a:r>
            <a:r>
              <a:rPr lang="en-US" sz="2400" b="0" i="0" u="none">
                <a:solidFill>
                  <a:schemeClr val="dk1"/>
                </a:solidFill>
                <a:latin typeface="Tahoma"/>
                <a:ea typeface="Tahoma"/>
                <a:cs typeface="Tahoma"/>
                <a:sym typeface="Tahoma"/>
              </a:rPr>
              <a:t> &gt; 0, A and B are positively correlated (A’s values increase as B’s).  The higher, the stronger correlation.</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r</a:t>
            </a:r>
            <a:r>
              <a:rPr lang="en-US" sz="2400" b="0" i="0" u="none" baseline="-25000">
                <a:solidFill>
                  <a:schemeClr val="dk1"/>
                </a:solidFill>
                <a:latin typeface="Tahoma"/>
                <a:ea typeface="Tahoma"/>
                <a:cs typeface="Tahoma"/>
                <a:sym typeface="Tahoma"/>
              </a:rPr>
              <a:t>A,B</a:t>
            </a:r>
            <a:r>
              <a:rPr lang="en-US" sz="2400" b="0" i="0" u="none">
                <a:solidFill>
                  <a:schemeClr val="dk1"/>
                </a:solidFill>
                <a:latin typeface="Tahoma"/>
                <a:ea typeface="Tahoma"/>
                <a:cs typeface="Tahoma"/>
                <a:sym typeface="Tahoma"/>
              </a:rPr>
              <a:t> = 0: independent;  r</a:t>
            </a:r>
            <a:r>
              <a:rPr lang="en-US" sz="2400" b="0" i="0" u="none" baseline="-25000">
                <a:solidFill>
                  <a:schemeClr val="dk1"/>
                </a:solidFill>
                <a:latin typeface="Tahoma"/>
                <a:ea typeface="Tahoma"/>
                <a:cs typeface="Tahoma"/>
                <a:sym typeface="Tahoma"/>
              </a:rPr>
              <a:t>AB</a:t>
            </a:r>
            <a:r>
              <a:rPr lang="en-US" sz="2400" b="0" i="0" u="none">
                <a:solidFill>
                  <a:schemeClr val="dk1"/>
                </a:solidFill>
                <a:latin typeface="Tahoma"/>
                <a:ea typeface="Tahoma"/>
                <a:cs typeface="Tahoma"/>
                <a:sym typeface="Tahoma"/>
              </a:rPr>
              <a:t> &lt; 0: negatively correlated</a:t>
            </a:r>
            <a:endParaRPr/>
          </a:p>
        </p:txBody>
      </p:sp>
      <p:pic>
        <p:nvPicPr>
          <p:cNvPr id="264" name="Google Shape;264;p17"/>
          <p:cNvPicPr preferRelativeResize="0">
            <a:picLocks noGrp="1"/>
          </p:cNvPicPr>
          <p:nvPr>
            <p:ph type="body" idx="1"/>
          </p:nvPr>
        </p:nvPicPr>
        <p:blipFill rotWithShape="1">
          <a:blip r:embed="rId3">
            <a:alphaModFix/>
          </a:blip>
          <a:srcRect/>
          <a:stretch/>
        </p:blipFill>
        <p:spPr>
          <a:xfrm>
            <a:off x="1905000" y="2473325"/>
            <a:ext cx="5081587" cy="900112"/>
          </a:xfrm>
          <a:prstGeom prst="rect">
            <a:avLst/>
          </a:prstGeom>
          <a:noFill/>
          <a:ln>
            <a:noFill/>
          </a:ln>
        </p:spPr>
      </p:pic>
      <p:pic>
        <p:nvPicPr>
          <p:cNvPr id="265" name="Google Shape;265;p17"/>
          <p:cNvPicPr preferRelativeResize="0">
            <a:picLocks noGrp="1"/>
          </p:cNvPicPr>
          <p:nvPr>
            <p:ph type="body" idx="2"/>
          </p:nvPr>
        </p:nvPicPr>
        <p:blipFill rotWithShape="1">
          <a:blip r:embed="rId4">
            <a:alphaModFix/>
          </a:blip>
          <a:srcRect/>
          <a:stretch/>
        </p:blipFill>
        <p:spPr>
          <a:xfrm>
            <a:off x="4665662" y="3817937"/>
            <a:ext cx="255587" cy="341312"/>
          </a:xfrm>
          <a:prstGeom prst="rect">
            <a:avLst/>
          </a:prstGeom>
          <a:noFill/>
          <a:ln>
            <a:noFill/>
          </a:ln>
        </p:spPr>
      </p:pic>
      <p:pic>
        <p:nvPicPr>
          <p:cNvPr id="266" name="Google Shape;266;p17"/>
          <p:cNvPicPr preferRelativeResize="0"/>
          <p:nvPr/>
        </p:nvPicPr>
        <p:blipFill rotWithShape="1">
          <a:blip r:embed="rId5">
            <a:alphaModFix/>
          </a:blip>
          <a:srcRect/>
          <a:stretch/>
        </p:blipFill>
        <p:spPr>
          <a:xfrm>
            <a:off x="5562600" y="3760787"/>
            <a:ext cx="295275" cy="3921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18</a:t>
            </a:fld>
            <a:endParaRPr/>
          </a:p>
        </p:txBody>
      </p:sp>
      <p:sp>
        <p:nvSpPr>
          <p:cNvPr id="272" name="Google Shape;272;p18"/>
          <p:cNvSpPr txBox="1">
            <a:spLocks noGrp="1"/>
          </p:cNvSpPr>
          <p:nvPr>
            <p:ph type="title"/>
          </p:nvPr>
        </p:nvSpPr>
        <p:spPr>
          <a:xfrm>
            <a:off x="381000" y="152400"/>
            <a:ext cx="8280400" cy="5524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Visually Evaluating Correlation</a:t>
            </a:r>
            <a:endParaRPr/>
          </a:p>
        </p:txBody>
      </p:sp>
      <p:graphicFrame>
        <p:nvGraphicFramePr>
          <p:cNvPr id="273" name="Google Shape;273;p18"/>
          <p:cNvGraphicFramePr/>
          <p:nvPr/>
        </p:nvGraphicFramePr>
        <p:xfrm>
          <a:off x="228600" y="990600"/>
          <a:ext cx="6096000" cy="5381625"/>
        </p:xfrm>
        <a:graphic>
          <a:graphicData uri="http://schemas.openxmlformats.org/presentationml/2006/ole">
            <mc:AlternateContent xmlns:mc="http://schemas.openxmlformats.org/markup-compatibility/2006">
              <mc:Choice xmlns:v="urn:schemas-microsoft-com:vml" Requires="v">
                <p:oleObj r:id="rId3" imgW="6096000" imgH="5381625" progId="">
                  <p:embed/>
                </p:oleObj>
              </mc:Choice>
              <mc:Fallback>
                <p:oleObj r:id="rId3" imgW="6096000" imgH="5381625" progId="">
                  <p:embed/>
                  <p:pic>
                    <p:nvPicPr>
                      <p:cNvPr id="273" name="Google Shape;273;p18"/>
                      <p:cNvPicPr preferRelativeResize="0"/>
                      <p:nvPr/>
                    </p:nvPicPr>
                    <p:blipFill rotWithShape="1">
                      <a:blip r:embed="rId4">
                        <a:alphaModFix/>
                      </a:blip>
                      <a:srcRect b="7916"/>
                      <a:stretch/>
                    </p:blipFill>
                    <p:spPr>
                      <a:xfrm>
                        <a:off x="228600" y="990600"/>
                        <a:ext cx="6096000" cy="5381625"/>
                      </a:xfrm>
                      <a:prstGeom prst="rect">
                        <a:avLst/>
                      </a:prstGeom>
                      <a:noFill/>
                      <a:ln>
                        <a:noFill/>
                      </a:ln>
                    </p:spPr>
                  </p:pic>
                </p:oleObj>
              </mc:Fallback>
            </mc:AlternateContent>
          </a:graphicData>
        </a:graphic>
      </p:graphicFrame>
      <p:sp>
        <p:nvSpPr>
          <p:cNvPr id="274" name="Google Shape;274;p18"/>
          <p:cNvSpPr txBox="1"/>
          <p:nvPr/>
        </p:nvSpPr>
        <p:spPr>
          <a:xfrm>
            <a:off x="6858000" y="2971800"/>
            <a:ext cx="1828800" cy="1190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Scatter plots showing the similarity from –1 to 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19</a:t>
            </a:fld>
            <a:endParaRPr/>
          </a:p>
        </p:txBody>
      </p:sp>
      <p:sp>
        <p:nvSpPr>
          <p:cNvPr id="280" name="Google Shape;280;p19"/>
          <p:cNvSpPr txBox="1">
            <a:spLocks noGrp="1"/>
          </p:cNvSpPr>
          <p:nvPr>
            <p:ph type="title"/>
          </p:nvPr>
        </p:nvSpPr>
        <p:spPr>
          <a:xfrm>
            <a:off x="0" y="304800"/>
            <a:ext cx="9144000" cy="838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Correlation (viewed as linear relationship)</a:t>
            </a:r>
            <a:endParaRPr/>
          </a:p>
        </p:txBody>
      </p:sp>
      <p:sp>
        <p:nvSpPr>
          <p:cNvPr id="281" name="Google Shape;281;p19"/>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ahoma"/>
                <a:ea typeface="Tahoma"/>
                <a:cs typeface="Tahoma"/>
                <a:sym typeface="Tahoma"/>
              </a:rPr>
              <a:t>Correlation measures the linear relationship between objects</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ahoma"/>
                <a:ea typeface="Tahoma"/>
                <a:cs typeface="Tahoma"/>
                <a:sym typeface="Tahoma"/>
              </a:rPr>
              <a:t>To compute correlation, we standardize data objects, A and B, and then take their dot product</a:t>
            </a:r>
            <a:endParaRPr/>
          </a:p>
        </p:txBody>
      </p:sp>
      <p:pic>
        <p:nvPicPr>
          <p:cNvPr id="282" name="Google Shape;282;p19"/>
          <p:cNvPicPr preferRelativeResize="0"/>
          <p:nvPr/>
        </p:nvPicPr>
        <p:blipFill rotWithShape="1">
          <a:blip r:embed="rId3">
            <a:alphaModFix/>
          </a:blip>
          <a:srcRect/>
          <a:stretch/>
        </p:blipFill>
        <p:spPr>
          <a:xfrm>
            <a:off x="1670050" y="3443287"/>
            <a:ext cx="5321300" cy="685800"/>
          </a:xfrm>
          <a:prstGeom prst="rect">
            <a:avLst/>
          </a:prstGeom>
          <a:noFill/>
          <a:ln>
            <a:noFill/>
          </a:ln>
        </p:spPr>
      </p:pic>
      <p:pic>
        <p:nvPicPr>
          <p:cNvPr id="283" name="Google Shape;283;p19"/>
          <p:cNvPicPr preferRelativeResize="0"/>
          <p:nvPr/>
        </p:nvPicPr>
        <p:blipFill rotWithShape="1">
          <a:blip r:embed="rId4">
            <a:alphaModFix/>
          </a:blip>
          <a:srcRect/>
          <a:stretch/>
        </p:blipFill>
        <p:spPr>
          <a:xfrm>
            <a:off x="1651000" y="4357687"/>
            <a:ext cx="5256212" cy="687387"/>
          </a:xfrm>
          <a:prstGeom prst="rect">
            <a:avLst/>
          </a:prstGeom>
          <a:noFill/>
          <a:ln>
            <a:noFill/>
          </a:ln>
        </p:spPr>
      </p:pic>
      <p:pic>
        <p:nvPicPr>
          <p:cNvPr id="284" name="Google Shape;284;p19"/>
          <p:cNvPicPr preferRelativeResize="0"/>
          <p:nvPr/>
        </p:nvPicPr>
        <p:blipFill rotWithShape="1">
          <a:blip r:embed="rId5">
            <a:alphaModFix/>
          </a:blip>
          <a:srcRect/>
          <a:stretch/>
        </p:blipFill>
        <p:spPr>
          <a:xfrm>
            <a:off x="1647825" y="5348287"/>
            <a:ext cx="4605337" cy="5953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0"/>
          <p:cNvPicPr preferRelativeResize="0"/>
          <p:nvPr/>
        </p:nvPicPr>
        <p:blipFill rotWithShape="1">
          <a:blip r:embed="rId3">
            <a:alphaModFix/>
          </a:blip>
          <a:srcRect/>
          <a:stretch/>
        </p:blipFill>
        <p:spPr>
          <a:xfrm>
            <a:off x="3886200" y="2274887"/>
            <a:ext cx="2447925" cy="703262"/>
          </a:xfrm>
          <a:prstGeom prst="rect">
            <a:avLst/>
          </a:prstGeom>
          <a:noFill/>
          <a:ln>
            <a:noFill/>
          </a:ln>
        </p:spPr>
      </p:pic>
      <p:pic>
        <p:nvPicPr>
          <p:cNvPr id="290" name="Google Shape;290;p20"/>
          <p:cNvPicPr preferRelativeResize="0"/>
          <p:nvPr/>
        </p:nvPicPr>
        <p:blipFill rotWithShape="1">
          <a:blip r:embed="rId4">
            <a:alphaModFix/>
          </a:blip>
          <a:srcRect/>
          <a:stretch/>
        </p:blipFill>
        <p:spPr>
          <a:xfrm>
            <a:off x="533400" y="1524000"/>
            <a:ext cx="8504237" cy="762000"/>
          </a:xfrm>
          <a:prstGeom prst="rect">
            <a:avLst/>
          </a:prstGeom>
          <a:noFill/>
          <a:ln>
            <a:noFill/>
          </a:ln>
        </p:spPr>
      </p:pic>
      <p:sp>
        <p:nvSpPr>
          <p:cNvPr id="291" name="Google Shape;291;p2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20</a:t>
            </a:fld>
            <a:endParaRPr/>
          </a:p>
        </p:txBody>
      </p:sp>
      <p:sp>
        <p:nvSpPr>
          <p:cNvPr id="292" name="Google Shape;292;p20"/>
          <p:cNvSpPr txBox="1">
            <a:spLocks noGrp="1"/>
          </p:cNvSpPr>
          <p:nvPr>
            <p:ph type="title"/>
          </p:nvPr>
        </p:nvSpPr>
        <p:spPr>
          <a:xfrm>
            <a:off x="0" y="3048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Covariance (Numeric Data)</a:t>
            </a:r>
            <a:endParaRPr/>
          </a:p>
        </p:txBody>
      </p:sp>
      <p:sp>
        <p:nvSpPr>
          <p:cNvPr id="293" name="Google Shape;293;p20"/>
          <p:cNvSpPr txBox="1">
            <a:spLocks noGrp="1"/>
          </p:cNvSpPr>
          <p:nvPr>
            <p:ph type="body" idx="1"/>
          </p:nvPr>
        </p:nvSpPr>
        <p:spPr>
          <a:xfrm>
            <a:off x="304800" y="1219200"/>
            <a:ext cx="8839200" cy="53340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Covariance is similar to correlation</a:t>
            </a:r>
            <a:endParaRPr/>
          </a:p>
          <a:p>
            <a:pPr marL="342900" lvl="0" indent="-274320" algn="l" rtl="0">
              <a:lnSpc>
                <a:spcPct val="110000"/>
              </a:lnSpc>
              <a:spcBef>
                <a:spcPts val="360"/>
              </a:spcBef>
              <a:spcAft>
                <a:spcPts val="0"/>
              </a:spcAft>
              <a:buClr>
                <a:schemeClr val="folHlink"/>
              </a:buClr>
              <a:buSzPts val="1080"/>
              <a:buFont typeface="Noto Sans Symbols"/>
              <a:buNone/>
            </a:pPr>
            <a:endParaRPr sz="1800" b="0" i="0" u="none">
              <a:solidFill>
                <a:schemeClr val="dk1"/>
              </a:solidFill>
              <a:latin typeface="Tahoma"/>
              <a:ea typeface="Tahoma"/>
              <a:cs typeface="Tahoma"/>
              <a:sym typeface="Tahoma"/>
            </a:endParaRPr>
          </a:p>
          <a:p>
            <a:pPr marL="342900" lvl="0" indent="-274320" algn="l" rtl="0">
              <a:lnSpc>
                <a:spcPct val="110000"/>
              </a:lnSpc>
              <a:spcBef>
                <a:spcPts val="360"/>
              </a:spcBef>
              <a:spcAft>
                <a:spcPts val="0"/>
              </a:spcAft>
              <a:buClr>
                <a:schemeClr val="folHlink"/>
              </a:buClr>
              <a:buSzPts val="1080"/>
              <a:buFont typeface="Noto Sans Symbols"/>
              <a:buNone/>
            </a:pPr>
            <a:endParaRPr sz="1800" b="0" i="0" u="none">
              <a:solidFill>
                <a:schemeClr val="dk1"/>
              </a:solidFill>
              <a:latin typeface="Tahoma"/>
              <a:ea typeface="Tahoma"/>
              <a:cs typeface="Tahoma"/>
              <a:sym typeface="Tahoma"/>
            </a:endParaRPr>
          </a:p>
          <a:p>
            <a:pPr marL="342900" lvl="0" indent="-274320" algn="l" rtl="0">
              <a:lnSpc>
                <a:spcPct val="110000"/>
              </a:lnSpc>
              <a:spcBef>
                <a:spcPts val="360"/>
              </a:spcBef>
              <a:spcAft>
                <a:spcPts val="0"/>
              </a:spcAft>
              <a:buClr>
                <a:schemeClr val="folHlink"/>
              </a:buClr>
              <a:buSzPts val="1080"/>
              <a:buFont typeface="Noto Sans Symbols"/>
              <a:buNone/>
            </a:pPr>
            <a:endParaRPr sz="1800" b="0" i="0" u="none">
              <a:solidFill>
                <a:schemeClr val="dk1"/>
              </a:solidFill>
              <a:latin typeface="Tahoma"/>
              <a:ea typeface="Tahoma"/>
              <a:cs typeface="Tahoma"/>
              <a:sym typeface="Tahoma"/>
            </a:endParaRPr>
          </a:p>
          <a:p>
            <a:pPr marL="342900" lvl="0" indent="-274320" algn="l" rtl="0">
              <a:lnSpc>
                <a:spcPct val="110000"/>
              </a:lnSpc>
              <a:spcBef>
                <a:spcPts val="360"/>
              </a:spcBef>
              <a:spcAft>
                <a:spcPts val="0"/>
              </a:spcAft>
              <a:buClr>
                <a:schemeClr val="folHlink"/>
              </a:buClr>
              <a:buSzPts val="1080"/>
              <a:buFont typeface="Noto Sans Symbols"/>
              <a:buNone/>
            </a:pPr>
            <a:endParaRPr sz="1800" b="0" i="0" u="none">
              <a:solidFill>
                <a:schemeClr val="dk1"/>
              </a:solidFill>
              <a:latin typeface="Tahoma"/>
              <a:ea typeface="Tahoma"/>
              <a:cs typeface="Tahoma"/>
              <a:sym typeface="Tahoma"/>
            </a:endParaRPr>
          </a:p>
          <a:p>
            <a:pPr marL="742950" lvl="1" indent="-285750" algn="l" rtl="0">
              <a:lnSpc>
                <a:spcPct val="110000"/>
              </a:lnSpc>
              <a:spcBef>
                <a:spcPts val="400"/>
              </a:spcBef>
              <a:spcAft>
                <a:spcPts val="0"/>
              </a:spcAft>
              <a:buSzPts val="1100"/>
              <a:buNone/>
            </a:pPr>
            <a:r>
              <a:rPr lang="en-US" sz="2000" b="0" i="0" u="none">
                <a:solidFill>
                  <a:schemeClr val="dk1"/>
                </a:solidFill>
                <a:latin typeface="Tahoma"/>
                <a:ea typeface="Tahoma"/>
                <a:cs typeface="Tahoma"/>
                <a:sym typeface="Tahoma"/>
              </a:rPr>
              <a:t>where n is the number of tuples,      and      are the respective mean or </a:t>
            </a:r>
            <a:r>
              <a:rPr lang="en-US" sz="2000" b="1" i="0" u="none">
                <a:solidFill>
                  <a:schemeClr val="dk1"/>
                </a:solidFill>
                <a:latin typeface="Tahoma"/>
                <a:ea typeface="Tahoma"/>
                <a:cs typeface="Tahoma"/>
                <a:sym typeface="Tahoma"/>
              </a:rPr>
              <a:t>expected values</a:t>
            </a:r>
            <a:r>
              <a:rPr lang="en-US" sz="2000" b="0" i="0" u="none">
                <a:solidFill>
                  <a:schemeClr val="dk1"/>
                </a:solidFill>
                <a:latin typeface="Tahoma"/>
                <a:ea typeface="Tahoma"/>
                <a:cs typeface="Tahoma"/>
                <a:sym typeface="Tahoma"/>
              </a:rPr>
              <a:t> of A and B, σ</a:t>
            </a:r>
            <a:r>
              <a:rPr lang="en-US" sz="2000" b="0" i="0" u="none" baseline="-25000">
                <a:solidFill>
                  <a:schemeClr val="dk1"/>
                </a:solidFill>
                <a:latin typeface="Tahoma"/>
                <a:ea typeface="Tahoma"/>
                <a:cs typeface="Tahoma"/>
                <a:sym typeface="Tahoma"/>
              </a:rPr>
              <a:t>A </a:t>
            </a:r>
            <a:r>
              <a:rPr lang="en-US" sz="2000" b="0" i="0" u="none">
                <a:solidFill>
                  <a:schemeClr val="dk1"/>
                </a:solidFill>
                <a:latin typeface="Tahoma"/>
                <a:ea typeface="Tahoma"/>
                <a:cs typeface="Tahoma"/>
                <a:sym typeface="Tahoma"/>
              </a:rPr>
              <a:t>and σ</a:t>
            </a:r>
            <a:r>
              <a:rPr lang="en-US" sz="2000" b="0" i="0" u="none" baseline="-25000">
                <a:solidFill>
                  <a:schemeClr val="dk1"/>
                </a:solidFill>
                <a:latin typeface="Tahoma"/>
                <a:ea typeface="Tahoma"/>
                <a:cs typeface="Tahoma"/>
                <a:sym typeface="Tahoma"/>
              </a:rPr>
              <a:t>B </a:t>
            </a:r>
            <a:r>
              <a:rPr lang="en-US" sz="2000" b="0" i="0" u="none">
                <a:solidFill>
                  <a:schemeClr val="dk1"/>
                </a:solidFill>
                <a:latin typeface="Tahoma"/>
                <a:ea typeface="Tahoma"/>
                <a:cs typeface="Tahoma"/>
                <a:sym typeface="Tahoma"/>
              </a:rPr>
              <a:t>are the respective standard deviation of A and B.</a:t>
            </a:r>
            <a:endParaRPr/>
          </a:p>
          <a:p>
            <a:pPr marL="342900" lvl="0" indent="-342900" algn="l" rtl="0">
              <a:lnSpc>
                <a:spcPct val="11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Positive covariance</a:t>
            </a:r>
            <a:r>
              <a:rPr lang="en-US" sz="2000" b="0" i="0" u="none">
                <a:solidFill>
                  <a:schemeClr val="dk1"/>
                </a:solidFill>
                <a:latin typeface="Tahoma"/>
                <a:ea typeface="Tahoma"/>
                <a:cs typeface="Tahoma"/>
                <a:sym typeface="Tahoma"/>
              </a:rPr>
              <a:t>: If Cov</a:t>
            </a:r>
            <a:r>
              <a:rPr lang="en-US" sz="2000" b="0" i="0" u="none" baseline="-25000">
                <a:solidFill>
                  <a:schemeClr val="dk1"/>
                </a:solidFill>
                <a:latin typeface="Tahoma"/>
                <a:ea typeface="Tahoma"/>
                <a:cs typeface="Tahoma"/>
                <a:sym typeface="Tahoma"/>
              </a:rPr>
              <a:t>A,B </a:t>
            </a:r>
            <a:r>
              <a:rPr lang="en-US" sz="2000" b="0" i="0" u="none">
                <a:solidFill>
                  <a:schemeClr val="dk1"/>
                </a:solidFill>
                <a:latin typeface="Tahoma"/>
                <a:ea typeface="Tahoma"/>
                <a:cs typeface="Tahoma"/>
                <a:sym typeface="Tahoma"/>
              </a:rPr>
              <a:t>&gt; 0, then A and B both tend to be larger than their expected values.</a:t>
            </a:r>
            <a:endParaRPr/>
          </a:p>
          <a:p>
            <a:pPr marL="342900" lvl="0" indent="-342900" algn="l" rtl="0">
              <a:lnSpc>
                <a:spcPct val="11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Negative covariance</a:t>
            </a:r>
            <a:r>
              <a:rPr lang="en-US" sz="2000" b="0" i="0" u="none">
                <a:solidFill>
                  <a:schemeClr val="dk1"/>
                </a:solidFill>
                <a:latin typeface="Tahoma"/>
                <a:ea typeface="Tahoma"/>
                <a:cs typeface="Tahoma"/>
                <a:sym typeface="Tahoma"/>
              </a:rPr>
              <a:t>: If Cov</a:t>
            </a:r>
            <a:r>
              <a:rPr lang="en-US" sz="2000" b="0" i="0" u="none" baseline="-25000">
                <a:solidFill>
                  <a:schemeClr val="dk1"/>
                </a:solidFill>
                <a:latin typeface="Tahoma"/>
                <a:ea typeface="Tahoma"/>
                <a:cs typeface="Tahoma"/>
                <a:sym typeface="Tahoma"/>
              </a:rPr>
              <a:t>A,B </a:t>
            </a:r>
            <a:r>
              <a:rPr lang="en-US" sz="2000" b="0" i="0" u="none">
                <a:solidFill>
                  <a:schemeClr val="dk1"/>
                </a:solidFill>
                <a:latin typeface="Tahoma"/>
                <a:ea typeface="Tahoma"/>
                <a:cs typeface="Tahoma"/>
                <a:sym typeface="Tahoma"/>
              </a:rPr>
              <a:t>&lt; 0 then if A is larger than its expected value, B is likely to be smaller than its expected value.</a:t>
            </a:r>
            <a:endParaRPr/>
          </a:p>
          <a:p>
            <a:pPr marL="342900" lvl="0" indent="-342900" algn="l" rtl="0">
              <a:lnSpc>
                <a:spcPct val="8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Independence</a:t>
            </a:r>
            <a:r>
              <a:rPr lang="en-US" sz="2000" b="0" i="0" u="none">
                <a:solidFill>
                  <a:schemeClr val="dk1"/>
                </a:solidFill>
                <a:latin typeface="Tahoma"/>
                <a:ea typeface="Tahoma"/>
                <a:cs typeface="Tahoma"/>
                <a:sym typeface="Tahoma"/>
              </a:rPr>
              <a:t>: Cov</a:t>
            </a:r>
            <a:r>
              <a:rPr lang="en-US" sz="2000" b="0" i="0" u="none" baseline="-25000">
                <a:solidFill>
                  <a:schemeClr val="dk1"/>
                </a:solidFill>
                <a:latin typeface="Tahoma"/>
                <a:ea typeface="Tahoma"/>
                <a:cs typeface="Tahoma"/>
                <a:sym typeface="Tahoma"/>
              </a:rPr>
              <a:t>A,B</a:t>
            </a:r>
            <a:r>
              <a:rPr lang="en-US" sz="2000" b="0" i="0" u="none">
                <a:solidFill>
                  <a:schemeClr val="dk1"/>
                </a:solidFill>
                <a:latin typeface="Tahoma"/>
                <a:ea typeface="Tahoma"/>
                <a:cs typeface="Tahoma"/>
                <a:sym typeface="Tahoma"/>
              </a:rPr>
              <a:t> = 0 but the converse is not true:</a:t>
            </a:r>
            <a:endParaRPr/>
          </a:p>
          <a:p>
            <a:pPr marL="742950" lvl="1" indent="-285750" algn="l" rtl="0">
              <a:lnSpc>
                <a:spcPct val="100000"/>
              </a:lnSpc>
              <a:spcBef>
                <a:spcPts val="360"/>
              </a:spcBef>
              <a:spcAft>
                <a:spcPts val="0"/>
              </a:spcAft>
              <a:buClr>
                <a:schemeClr val="hlink"/>
              </a:buClr>
              <a:buSzPts val="990"/>
              <a:buFont typeface="Noto Sans Symbols"/>
              <a:buChar char="■"/>
            </a:pPr>
            <a:r>
              <a:rPr lang="en-US" sz="1800" b="0" i="0" u="none">
                <a:solidFill>
                  <a:schemeClr val="dk1"/>
                </a:solidFill>
                <a:latin typeface="Tahoma"/>
                <a:ea typeface="Tahoma"/>
                <a:cs typeface="Tahoma"/>
                <a:sym typeface="Tahoma"/>
              </a:rPr>
              <a:t>Some pairs of random variables may have a covariance of 0 but are not independent. Only under some additional assumptions (e.g., the data follow multivariate normal distributions) does a covariance of 0 imply independence</a:t>
            </a:r>
            <a:endParaRPr/>
          </a:p>
        </p:txBody>
      </p:sp>
      <p:pic>
        <p:nvPicPr>
          <p:cNvPr id="294" name="Google Shape;294;p20"/>
          <p:cNvPicPr preferRelativeResize="0"/>
          <p:nvPr/>
        </p:nvPicPr>
        <p:blipFill rotWithShape="1">
          <a:blip r:embed="rId5">
            <a:alphaModFix/>
          </a:blip>
          <a:srcRect/>
          <a:stretch/>
        </p:blipFill>
        <p:spPr>
          <a:xfrm>
            <a:off x="4657725" y="3124200"/>
            <a:ext cx="255587" cy="339725"/>
          </a:xfrm>
          <a:prstGeom prst="rect">
            <a:avLst/>
          </a:prstGeom>
          <a:noFill/>
          <a:ln>
            <a:noFill/>
          </a:ln>
        </p:spPr>
      </p:pic>
      <p:pic>
        <p:nvPicPr>
          <p:cNvPr id="295" name="Google Shape;295;p20"/>
          <p:cNvPicPr preferRelativeResize="0"/>
          <p:nvPr/>
        </p:nvPicPr>
        <p:blipFill rotWithShape="1">
          <a:blip r:embed="rId6">
            <a:alphaModFix/>
          </a:blip>
          <a:srcRect/>
          <a:stretch/>
        </p:blipFill>
        <p:spPr>
          <a:xfrm>
            <a:off x="5486400" y="3113087"/>
            <a:ext cx="295275" cy="392112"/>
          </a:xfrm>
          <a:prstGeom prst="rect">
            <a:avLst/>
          </a:prstGeom>
          <a:noFill/>
          <a:ln>
            <a:noFill/>
          </a:ln>
        </p:spPr>
      </p:pic>
      <p:sp>
        <p:nvSpPr>
          <p:cNvPr id="296" name="Google Shape;296;p20"/>
          <p:cNvSpPr txBox="1"/>
          <p:nvPr/>
        </p:nvSpPr>
        <p:spPr>
          <a:xfrm>
            <a:off x="569912" y="2439987"/>
            <a:ext cx="2746375"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a:solidFill>
                  <a:schemeClr val="dk1"/>
                </a:solidFill>
                <a:latin typeface="Tahoma"/>
                <a:ea typeface="Tahoma"/>
                <a:cs typeface="Tahoma"/>
                <a:sym typeface="Tahoma"/>
              </a:rPr>
              <a:t>Correlation coefficient: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21"/>
          <p:cNvPicPr preferRelativeResize="0"/>
          <p:nvPr/>
        </p:nvPicPr>
        <p:blipFill rotWithShape="1">
          <a:blip r:embed="rId3">
            <a:alphaModFix/>
          </a:blip>
          <a:srcRect/>
          <a:stretch/>
        </p:blipFill>
        <p:spPr>
          <a:xfrm>
            <a:off x="990600" y="1185862"/>
            <a:ext cx="6705600" cy="642937"/>
          </a:xfrm>
          <a:prstGeom prst="rect">
            <a:avLst/>
          </a:prstGeom>
          <a:noFill/>
          <a:ln>
            <a:noFill/>
          </a:ln>
        </p:spPr>
      </p:pic>
      <p:sp>
        <p:nvSpPr>
          <p:cNvPr id="303" name="Google Shape;303;p21"/>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Co-Variance: An Example</a:t>
            </a:r>
            <a:endParaRPr/>
          </a:p>
        </p:txBody>
      </p:sp>
      <p:sp>
        <p:nvSpPr>
          <p:cNvPr id="304" name="Google Shape;304;p21"/>
          <p:cNvSpPr txBox="1">
            <a:spLocks noGrp="1"/>
          </p:cNvSpPr>
          <p:nvPr>
            <p:ph type="body" idx="1"/>
          </p:nvPr>
        </p:nvSpPr>
        <p:spPr>
          <a:xfrm>
            <a:off x="304800" y="1066800"/>
            <a:ext cx="8534400" cy="5486400"/>
          </a:xfrm>
          <a:prstGeom prst="rect">
            <a:avLst/>
          </a:prstGeom>
          <a:noFill/>
          <a:ln>
            <a:noFill/>
          </a:ln>
        </p:spPr>
        <p:txBody>
          <a:bodyPr spcFirstLastPara="1" wrap="square" lIns="91425" tIns="45700" rIns="91425" bIns="45700" anchor="t" anchorCtr="0">
            <a:noAutofit/>
          </a:bodyPr>
          <a:lstStyle/>
          <a:p>
            <a:pPr marL="342900" lvl="0" indent="-266700" algn="l" rtl="0">
              <a:lnSpc>
                <a:spcPct val="150000"/>
              </a:lnSpc>
              <a:spcBef>
                <a:spcPts val="0"/>
              </a:spcBef>
              <a:spcAft>
                <a:spcPts val="0"/>
              </a:spcAft>
              <a:buClr>
                <a:schemeClr val="folHlink"/>
              </a:buClr>
              <a:buSzPts val="1200"/>
              <a:buFont typeface="Noto Sans Symbols"/>
              <a:buNone/>
            </a:pPr>
            <a:endParaRPr sz="2000" b="0" i="0" u="none">
              <a:solidFill>
                <a:schemeClr val="dk1"/>
              </a:solidFill>
              <a:latin typeface="Tahoma"/>
              <a:ea typeface="Tahoma"/>
              <a:cs typeface="Tahoma"/>
              <a:sym typeface="Tahoma"/>
            </a:endParaRPr>
          </a:p>
          <a:p>
            <a:pPr marL="342900" lvl="0" indent="-342900" algn="l" rtl="0">
              <a:lnSpc>
                <a:spcPct val="15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It can be simplified in computation as</a:t>
            </a:r>
            <a:endParaRPr/>
          </a:p>
          <a:p>
            <a:pPr marL="342900" lvl="0" indent="-266700" algn="l" rtl="0">
              <a:lnSpc>
                <a:spcPct val="150000"/>
              </a:lnSpc>
              <a:spcBef>
                <a:spcPts val="400"/>
              </a:spcBef>
              <a:spcAft>
                <a:spcPts val="0"/>
              </a:spcAft>
              <a:buClr>
                <a:schemeClr val="folHlink"/>
              </a:buClr>
              <a:buSzPts val="1200"/>
              <a:buFont typeface="Noto Sans Symbols"/>
              <a:buNone/>
            </a:pPr>
            <a:endParaRPr sz="2000" b="0" i="0" u="none">
              <a:solidFill>
                <a:schemeClr val="dk1"/>
              </a:solidFill>
              <a:latin typeface="Tahoma"/>
              <a:ea typeface="Tahoma"/>
              <a:cs typeface="Tahoma"/>
              <a:sym typeface="Tahoma"/>
            </a:endParaRPr>
          </a:p>
          <a:p>
            <a:pPr marL="342900" lvl="0" indent="-342900" algn="l" rtl="0">
              <a:lnSpc>
                <a:spcPct val="15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Suppose two stocks A and B have the following values in one week:  (2, 5), (3, 8), (5, 10), (4, 11), (6, 14). </a:t>
            </a:r>
            <a:endParaRPr/>
          </a:p>
          <a:p>
            <a:pPr marL="342900" lvl="0" indent="-342900" algn="l" rtl="0">
              <a:lnSpc>
                <a:spcPct val="15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Question:  If the stocks are affected by the same industry trends, will their prices rise or fall together?</a:t>
            </a:r>
            <a:endParaRPr/>
          </a:p>
          <a:p>
            <a:pPr marL="742950" lvl="1" indent="-285750" algn="l" rtl="0">
              <a:lnSpc>
                <a:spcPct val="15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E(A) = (2 + 3 + 5 + 4 + 6)/ 5 = 20/5 = 4</a:t>
            </a:r>
            <a:endParaRPr/>
          </a:p>
          <a:p>
            <a:pPr marL="742950" lvl="1" indent="-285750" algn="l" rtl="0">
              <a:lnSpc>
                <a:spcPct val="15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E(B) = (5 + 8 + 10 + 11 + 14) /5 = 48/5 = 9.6</a:t>
            </a:r>
            <a:endParaRPr/>
          </a:p>
          <a:p>
            <a:pPr marL="742950" lvl="1" indent="-285750" algn="l" rtl="0">
              <a:lnSpc>
                <a:spcPct val="15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Cov(A,B) = (2×5+3×8+5×10+4×11+6×14)/5 − 4 × 9.6 = 4</a:t>
            </a:r>
            <a:endParaRPr/>
          </a:p>
          <a:p>
            <a:pPr marL="342900" lvl="0" indent="-342900" algn="l" rtl="0">
              <a:lnSpc>
                <a:spcPct val="15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Thus, A and B rise together since Cov(A, B) &gt; 0.</a:t>
            </a:r>
            <a:endParaRPr/>
          </a:p>
        </p:txBody>
      </p:sp>
      <p:pic>
        <p:nvPicPr>
          <p:cNvPr id="305" name="Google Shape;305;p21"/>
          <p:cNvPicPr preferRelativeResize="0"/>
          <p:nvPr/>
        </p:nvPicPr>
        <p:blipFill rotWithShape="1">
          <a:blip r:embed="rId4">
            <a:alphaModFix/>
          </a:blip>
          <a:srcRect/>
          <a:stretch/>
        </p:blipFill>
        <p:spPr>
          <a:xfrm>
            <a:off x="2057400" y="2133600"/>
            <a:ext cx="4267200" cy="4587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22</a:t>
            </a:fld>
            <a:endParaRPr/>
          </a:p>
        </p:txBody>
      </p:sp>
      <p:sp>
        <p:nvSpPr>
          <p:cNvPr id="312" name="Google Shape;312;p2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22</a:t>
            </a:fld>
            <a:endParaRPr/>
          </a:p>
        </p:txBody>
      </p:sp>
      <p:sp>
        <p:nvSpPr>
          <p:cNvPr id="313" name="Google Shape;313;p22"/>
          <p:cNvSpPr txBox="1">
            <a:spLocks noGrp="1"/>
          </p:cNvSpPr>
          <p:nvPr>
            <p:ph type="title" idx="4294967295"/>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2"/>
              </a:buClr>
              <a:buSzPts val="3200"/>
              <a:buFont typeface="Overlock"/>
              <a:buNone/>
            </a:pPr>
            <a:r>
              <a:rPr lang="en-US" sz="3200" b="1" i="0" u="none" strike="noStrike" cap="none">
                <a:solidFill>
                  <a:schemeClr val="dk2"/>
                </a:solidFill>
                <a:latin typeface="Overlock"/>
                <a:ea typeface="Overlock"/>
                <a:cs typeface="Overlock"/>
                <a:sym typeface="Overlock"/>
              </a:rPr>
              <a:t>Chapter 3: Data Preprocessing</a:t>
            </a:r>
            <a:endParaRPr/>
          </a:p>
        </p:txBody>
      </p:sp>
      <p:sp>
        <p:nvSpPr>
          <p:cNvPr id="314" name="Google Shape;314;p22"/>
          <p:cNvSpPr txBox="1">
            <a:spLocks noGrp="1"/>
          </p:cNvSpPr>
          <p:nvPr>
            <p:ph type="body" idx="4294967295"/>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Data Preprocessing: An Overview</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Data Quality</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Major Tasks in Data Preprocessing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Data Cleaning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Data Integration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Data Reduction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Data Transformation and Data Discretization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strike="noStrike" cap="none">
                <a:solidFill>
                  <a:schemeClr val="dk1"/>
                </a:solidFill>
                <a:latin typeface="Tahoma"/>
                <a:ea typeface="Tahoma"/>
                <a:cs typeface="Tahoma"/>
                <a:sym typeface="Tahoma"/>
              </a:rPr>
              <a:t>Summary</a:t>
            </a:r>
            <a:endParaRPr/>
          </a:p>
        </p:txBody>
      </p:sp>
      <p:sp>
        <p:nvSpPr>
          <p:cNvPr id="315" name="Google Shape;315;p22"/>
          <p:cNvSpPr/>
          <p:nvPr/>
        </p:nvSpPr>
        <p:spPr>
          <a:xfrm rot="9420000">
            <a:off x="3048000" y="449580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23</a:t>
            </a:fld>
            <a:endParaRPr/>
          </a:p>
        </p:txBody>
      </p:sp>
      <p:sp>
        <p:nvSpPr>
          <p:cNvPr id="322" name="Google Shape;322;p23"/>
          <p:cNvSpPr txBox="1">
            <a:spLocks noGrp="1"/>
          </p:cNvSpPr>
          <p:nvPr>
            <p:ph type="title"/>
          </p:nvPr>
        </p:nvSpPr>
        <p:spPr>
          <a:xfrm>
            <a:off x="1295400" y="228600"/>
            <a:ext cx="6248400" cy="685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Data Reduction Strategies</a:t>
            </a:r>
            <a:endParaRPr/>
          </a:p>
        </p:txBody>
      </p:sp>
      <p:sp>
        <p:nvSpPr>
          <p:cNvPr id="323" name="Google Shape;323;p23"/>
          <p:cNvSpPr txBox="1">
            <a:spLocks noGrp="1"/>
          </p:cNvSpPr>
          <p:nvPr>
            <p:ph type="body" idx="1"/>
          </p:nvPr>
        </p:nvSpPr>
        <p:spPr>
          <a:xfrm>
            <a:off x="304800" y="1295400"/>
            <a:ext cx="8610600" cy="5410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reduction</a:t>
            </a:r>
            <a:r>
              <a:rPr lang="en-US" sz="2000" b="0" i="0" u="none">
                <a:solidFill>
                  <a:schemeClr val="dk1"/>
                </a:solidFill>
                <a:latin typeface="Tahoma"/>
                <a:ea typeface="Tahoma"/>
                <a:cs typeface="Tahoma"/>
                <a:sym typeface="Tahoma"/>
              </a:rPr>
              <a:t>: Obtain a reduced representation of the data set that is much smaller in volume but yet produces the same (or almost the same) analytical results</a:t>
            </a:r>
            <a:endParaRPr/>
          </a:p>
          <a:p>
            <a:pPr marL="342900" lvl="0" indent="-342900" algn="l" rtl="0">
              <a:lnSpc>
                <a:spcPct val="9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Why data reduction? — A database/data warehouse may store terabytes of data.  Complex data analysis may take a very long time to run on the complete data set.</a:t>
            </a:r>
            <a:endParaRPr/>
          </a:p>
          <a:p>
            <a:pPr marL="342900" lvl="0" indent="-342900" algn="l" rtl="0">
              <a:lnSpc>
                <a:spcPct val="9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Data reduction strategies</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hlink"/>
                </a:solidFill>
                <a:latin typeface="Tahoma"/>
                <a:ea typeface="Tahoma"/>
                <a:cs typeface="Tahoma"/>
                <a:sym typeface="Tahoma"/>
              </a:rPr>
              <a:t>Dimensionality reduction</a:t>
            </a:r>
            <a:r>
              <a:rPr lang="en-US" sz="2000" b="0" i="0" u="none">
                <a:solidFill>
                  <a:schemeClr val="folHlink"/>
                </a:solidFill>
                <a:latin typeface="Tahoma"/>
                <a:ea typeface="Tahoma"/>
                <a:cs typeface="Tahoma"/>
                <a:sym typeface="Tahoma"/>
              </a:rPr>
              <a:t>, </a:t>
            </a:r>
            <a:r>
              <a:rPr lang="en-US" sz="2000" b="0" i="0" u="none">
                <a:solidFill>
                  <a:schemeClr val="dk1"/>
                </a:solidFill>
                <a:latin typeface="Tahoma"/>
                <a:ea typeface="Tahoma"/>
                <a:cs typeface="Tahoma"/>
                <a:sym typeface="Tahoma"/>
              </a:rPr>
              <a:t>e.g.,</a:t>
            </a:r>
            <a:r>
              <a:rPr lang="en-US" sz="2000" b="0" i="0" u="none">
                <a:solidFill>
                  <a:schemeClr val="folHlink"/>
                </a:solidFill>
                <a:latin typeface="Tahoma"/>
                <a:ea typeface="Tahoma"/>
                <a:cs typeface="Tahoma"/>
                <a:sym typeface="Tahoma"/>
              </a:rPr>
              <a:t> </a:t>
            </a:r>
            <a:r>
              <a:rPr lang="en-US" sz="2000" b="0" i="0" u="none">
                <a:solidFill>
                  <a:schemeClr val="dk1"/>
                </a:solidFill>
                <a:latin typeface="Tahoma"/>
                <a:ea typeface="Tahoma"/>
                <a:cs typeface="Tahoma"/>
                <a:sym typeface="Tahoma"/>
              </a:rPr>
              <a:t>remove unimportant attributes</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Wavelet transforms</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Principal Components Analysis (PCA)</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Feature subset selection, feature creation</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hlink"/>
                </a:solidFill>
                <a:latin typeface="Tahoma"/>
                <a:ea typeface="Tahoma"/>
                <a:cs typeface="Tahoma"/>
                <a:sym typeface="Tahoma"/>
              </a:rPr>
              <a:t>Numerosity reduction</a:t>
            </a:r>
            <a:r>
              <a:rPr lang="en-US" sz="2000" b="0" i="0" u="none">
                <a:solidFill>
                  <a:schemeClr val="folHlink"/>
                </a:solidFill>
                <a:latin typeface="Tahoma"/>
                <a:ea typeface="Tahoma"/>
                <a:cs typeface="Tahoma"/>
                <a:sym typeface="Tahoma"/>
              </a:rPr>
              <a:t> (some simply call it: Data Reduction)</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Regression and Log-Linear Models</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Histograms, clustering, sampling</a:t>
            </a:r>
            <a:endParaRPr/>
          </a:p>
          <a:p>
            <a:pPr marL="1143000" lvl="2" indent="-228600" algn="l" rtl="0">
              <a:lnSpc>
                <a:spcPct val="90000"/>
              </a:lnSpc>
              <a:spcBef>
                <a:spcPts val="400"/>
              </a:spcBef>
              <a:spcAft>
                <a:spcPts val="0"/>
              </a:spcAft>
              <a:buClr>
                <a:schemeClr val="folHlink"/>
              </a:buClr>
              <a:buSzPts val="1000"/>
              <a:buFont typeface="Noto Sans Symbols"/>
              <a:buChar char="■"/>
            </a:pPr>
            <a:r>
              <a:rPr lang="en-US" sz="2000" b="0" i="0" u="none">
                <a:solidFill>
                  <a:schemeClr val="folHlink"/>
                </a:solidFill>
                <a:latin typeface="Tahoma"/>
                <a:ea typeface="Tahoma"/>
                <a:cs typeface="Tahoma"/>
                <a:sym typeface="Tahoma"/>
              </a:rPr>
              <a:t>Data cube aggregation</a:t>
            </a:r>
            <a:endParaRPr/>
          </a:p>
          <a:p>
            <a:pPr marL="742950" lvl="1" indent="-285750" algn="l" rtl="0">
              <a:lnSpc>
                <a:spcPct val="90000"/>
              </a:lnSpc>
              <a:spcBef>
                <a:spcPts val="400"/>
              </a:spcBef>
              <a:spcAft>
                <a:spcPts val="0"/>
              </a:spcAft>
              <a:buClr>
                <a:schemeClr val="hlink"/>
              </a:buClr>
              <a:buSzPts val="1100"/>
              <a:buFont typeface="Noto Sans Symbols"/>
              <a:buChar char="■"/>
            </a:pPr>
            <a:r>
              <a:rPr lang="en-US" sz="2000" b="0" i="0" u="none">
                <a:solidFill>
                  <a:schemeClr val="hlink"/>
                </a:solidFill>
                <a:latin typeface="Tahoma"/>
                <a:ea typeface="Tahoma"/>
                <a:cs typeface="Tahoma"/>
                <a:sym typeface="Tahoma"/>
              </a:rPr>
              <a:t>Data compression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24</a:t>
            </a:fld>
            <a:endParaRPr/>
          </a:p>
        </p:txBody>
      </p:sp>
      <p:sp>
        <p:nvSpPr>
          <p:cNvPr id="330" name="Google Shape;330;p24"/>
          <p:cNvSpPr txBox="1">
            <a:spLocks noGrp="1"/>
          </p:cNvSpPr>
          <p:nvPr>
            <p:ph type="title" idx="4294967295"/>
          </p:nvPr>
        </p:nvSpPr>
        <p:spPr>
          <a:xfrm>
            <a:off x="0" y="609600"/>
            <a:ext cx="9220200"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Data Reduction 1: Dimensionality Reduction</a:t>
            </a:r>
            <a:endParaRPr/>
          </a:p>
        </p:txBody>
      </p:sp>
      <p:sp>
        <p:nvSpPr>
          <p:cNvPr id="331" name="Google Shape;331;p24"/>
          <p:cNvSpPr txBox="1">
            <a:spLocks noGrp="1"/>
          </p:cNvSpPr>
          <p:nvPr>
            <p:ph type="body" idx="4294967295"/>
          </p:nvPr>
        </p:nvSpPr>
        <p:spPr>
          <a:xfrm>
            <a:off x="304800" y="1295400"/>
            <a:ext cx="85344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10000"/>
              </a:lnSpc>
              <a:spcBef>
                <a:spcPts val="0"/>
              </a:spcBef>
              <a:spcAft>
                <a:spcPts val="0"/>
              </a:spcAft>
              <a:buClr>
                <a:schemeClr val="folHlink"/>
              </a:buClr>
              <a:buSzPts val="1080"/>
              <a:buFont typeface="Noto Sans Symbols"/>
              <a:buChar char="■"/>
            </a:pPr>
            <a:r>
              <a:rPr lang="en-US" sz="1800" b="1" i="0" u="none" strike="noStrike" cap="none">
                <a:solidFill>
                  <a:schemeClr val="dk1"/>
                </a:solidFill>
                <a:latin typeface="Tahoma"/>
                <a:ea typeface="Tahoma"/>
                <a:cs typeface="Tahoma"/>
                <a:sym typeface="Tahoma"/>
              </a:rPr>
              <a:t>Curse of dimensionality</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When dimensionality increases, data becomes increasingly sparse</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Density and distance between points, which is critical to clustering, outlier analysis, becomes less meaningful</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The possible combinations of subspaces will grow exponentially</a:t>
            </a:r>
            <a:endParaRPr/>
          </a:p>
          <a:p>
            <a:pPr marL="342900" marR="0" lvl="0" indent="-342900" algn="l" rtl="0">
              <a:lnSpc>
                <a:spcPct val="110000"/>
              </a:lnSpc>
              <a:spcBef>
                <a:spcPts val="360"/>
              </a:spcBef>
              <a:spcAft>
                <a:spcPts val="0"/>
              </a:spcAft>
              <a:buClr>
                <a:schemeClr val="folHlink"/>
              </a:buClr>
              <a:buSzPts val="1080"/>
              <a:buFont typeface="Noto Sans Symbols"/>
              <a:buChar char="■"/>
            </a:pPr>
            <a:r>
              <a:rPr lang="en-US" sz="1800" b="1" i="0" u="none" strike="noStrike" cap="none">
                <a:solidFill>
                  <a:schemeClr val="dk1"/>
                </a:solidFill>
                <a:latin typeface="Tahoma"/>
                <a:ea typeface="Tahoma"/>
                <a:cs typeface="Tahoma"/>
                <a:sym typeface="Tahoma"/>
              </a:rPr>
              <a:t>Dimensionality reduction</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Avoid the curse of dimensionality</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Help eliminate irrelevant features and reduce noise</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Reduce time and space required in data mining</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Allow easier visualization</a:t>
            </a:r>
            <a:endParaRPr/>
          </a:p>
          <a:p>
            <a:pPr marL="342900" marR="0" lvl="0" indent="-342900" algn="l" rtl="0">
              <a:lnSpc>
                <a:spcPct val="110000"/>
              </a:lnSpc>
              <a:spcBef>
                <a:spcPts val="360"/>
              </a:spcBef>
              <a:spcAft>
                <a:spcPts val="0"/>
              </a:spcAft>
              <a:buClr>
                <a:schemeClr val="folHlink"/>
              </a:buClr>
              <a:buSzPts val="1080"/>
              <a:buFont typeface="Noto Sans Symbols"/>
              <a:buChar char="■"/>
            </a:pPr>
            <a:r>
              <a:rPr lang="en-US" sz="1800" b="1" i="0" u="none" strike="noStrike" cap="none">
                <a:solidFill>
                  <a:schemeClr val="dk1"/>
                </a:solidFill>
                <a:latin typeface="Tahoma"/>
                <a:ea typeface="Tahoma"/>
                <a:cs typeface="Tahoma"/>
                <a:sym typeface="Tahoma"/>
              </a:rPr>
              <a:t>Dimensionality reduction techniques</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Wavelet transforms</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Principal Component Analysis</a:t>
            </a:r>
            <a:endParaRPr/>
          </a:p>
          <a:p>
            <a:pPr marL="742950" marR="0" lvl="1" indent="-285750" algn="l" rtl="0">
              <a:lnSpc>
                <a:spcPct val="110000"/>
              </a:lnSpc>
              <a:spcBef>
                <a:spcPts val="360"/>
              </a:spcBef>
              <a:spcAft>
                <a:spcPts val="0"/>
              </a:spcAft>
              <a:buClr>
                <a:schemeClr val="hlink"/>
              </a:buClr>
              <a:buSzPts val="990"/>
              <a:buFont typeface="Noto Sans Symbols"/>
              <a:buChar char="■"/>
            </a:pPr>
            <a:r>
              <a:rPr lang="en-US" sz="1800" b="0" i="0" u="none" strike="noStrike" cap="none">
                <a:solidFill>
                  <a:schemeClr val="dk1"/>
                </a:solidFill>
                <a:latin typeface="Tahoma"/>
                <a:ea typeface="Tahoma"/>
                <a:cs typeface="Tahoma"/>
                <a:sym typeface="Tahoma"/>
              </a:rPr>
              <a:t>Supervised and nonlinear techniques (e.g., feature selection)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25</a:t>
            </a:fld>
            <a:endParaRPr/>
          </a:p>
        </p:txBody>
      </p:sp>
      <p:sp>
        <p:nvSpPr>
          <p:cNvPr id="338" name="Google Shape;338;p25"/>
          <p:cNvSpPr txBox="1">
            <a:spLocks noGrp="1"/>
          </p:cNvSpPr>
          <p:nvPr>
            <p:ph type="title" idx="4294967295"/>
          </p:nvPr>
        </p:nvSpPr>
        <p:spPr>
          <a:xfrm>
            <a:off x="304800" y="304800"/>
            <a:ext cx="8585200" cy="6858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Mapping Data to a New Space</a:t>
            </a:r>
            <a:endParaRPr/>
          </a:p>
        </p:txBody>
      </p:sp>
      <p:sp>
        <p:nvSpPr>
          <p:cNvPr id="339" name="Google Shape;339;p25"/>
          <p:cNvSpPr txBox="1">
            <a:spLocks noGrp="1"/>
          </p:cNvSpPr>
          <p:nvPr>
            <p:ph type="body" idx="4294967295"/>
          </p:nvPr>
        </p:nvSpPr>
        <p:spPr>
          <a:xfrm>
            <a:off x="146050" y="990600"/>
            <a:ext cx="8394700" cy="5029200"/>
          </a:xfrm>
          <a:prstGeom prst="rect">
            <a:avLst/>
          </a:prstGeom>
          <a:noFill/>
          <a:ln>
            <a:noFill/>
          </a:ln>
        </p:spPr>
        <p:txBody>
          <a:bodyPr spcFirstLastPara="1" wrap="square" lIns="90475" tIns="44450" rIns="90475" bIns="44450" anchor="t" anchorCtr="0">
            <a:noAutofit/>
          </a:bodyPr>
          <a:lstStyle/>
          <a:p>
            <a:pPr marL="285750" marR="0" lvl="0" indent="-179070" algn="just" rtl="0">
              <a:lnSpc>
                <a:spcPct val="95000"/>
              </a:lnSpc>
              <a:spcBef>
                <a:spcPts val="0"/>
              </a:spcBef>
              <a:spcAft>
                <a:spcPts val="0"/>
              </a:spcAft>
              <a:buClr>
                <a:schemeClr val="folHlink"/>
              </a:buClr>
              <a:buSzPts val="1680"/>
              <a:buFont typeface="Noto Sans Symbols"/>
              <a:buNone/>
            </a:pPr>
            <a:endParaRPr sz="2800" b="1" i="0" u="none" strike="noStrike" cap="none">
              <a:solidFill>
                <a:schemeClr val="dk1"/>
              </a:solidFill>
              <a:latin typeface="Times New Roman"/>
              <a:ea typeface="Times New Roman"/>
              <a:cs typeface="Times New Roman"/>
              <a:sym typeface="Times New Roman"/>
            </a:endParaRPr>
          </a:p>
          <a:p>
            <a:pPr marL="342900" marR="0" lvl="0" indent="-236220" algn="l" rtl="0">
              <a:spcBef>
                <a:spcPts val="560"/>
              </a:spcBef>
              <a:spcAft>
                <a:spcPts val="0"/>
              </a:spcAft>
              <a:buClr>
                <a:schemeClr val="folHlink"/>
              </a:buClr>
              <a:buSzPts val="1680"/>
              <a:buFont typeface="Noto Sans Symbols"/>
              <a:buNone/>
            </a:pPr>
            <a:endParaRPr sz="2800" b="1" i="0" u="none">
              <a:solidFill>
                <a:schemeClr val="dk1"/>
              </a:solidFill>
              <a:latin typeface="Times New Roman"/>
              <a:ea typeface="Times New Roman"/>
              <a:cs typeface="Times New Roman"/>
              <a:sym typeface="Times New Roman"/>
            </a:endParaRPr>
          </a:p>
        </p:txBody>
      </p:sp>
      <p:sp>
        <p:nvSpPr>
          <p:cNvPr id="340" name="Google Shape;340;p25"/>
          <p:cNvSpPr txBox="1"/>
          <p:nvPr/>
        </p:nvSpPr>
        <p:spPr>
          <a:xfrm>
            <a:off x="1676400" y="3657600"/>
            <a:ext cx="16002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341" name="Google Shape;341;p25"/>
          <p:cNvSpPr txBox="1"/>
          <p:nvPr/>
        </p:nvSpPr>
        <p:spPr>
          <a:xfrm>
            <a:off x="1717675" y="5984875"/>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pic>
        <p:nvPicPr>
          <p:cNvPr id="342" name="Google Shape;342;p25"/>
          <p:cNvPicPr preferRelativeResize="0"/>
          <p:nvPr/>
        </p:nvPicPr>
        <p:blipFill rotWithShape="1">
          <a:blip r:embed="rId3">
            <a:alphaModFix/>
          </a:blip>
          <a:srcRect r="8293"/>
          <a:stretch/>
        </p:blipFill>
        <p:spPr>
          <a:xfrm>
            <a:off x="5791200" y="2362200"/>
            <a:ext cx="3352800" cy="2741612"/>
          </a:xfrm>
          <a:prstGeom prst="rect">
            <a:avLst/>
          </a:prstGeom>
          <a:noFill/>
          <a:ln>
            <a:noFill/>
          </a:ln>
        </p:spPr>
      </p:pic>
      <p:pic>
        <p:nvPicPr>
          <p:cNvPr id="343" name="Google Shape;343;p25"/>
          <p:cNvPicPr preferRelativeResize="0"/>
          <p:nvPr/>
        </p:nvPicPr>
        <p:blipFill rotWithShape="1">
          <a:blip r:embed="rId4">
            <a:alphaModFix/>
          </a:blip>
          <a:srcRect l="6252"/>
          <a:stretch/>
        </p:blipFill>
        <p:spPr>
          <a:xfrm>
            <a:off x="0" y="2362200"/>
            <a:ext cx="3427412" cy="2741612"/>
          </a:xfrm>
          <a:prstGeom prst="rect">
            <a:avLst/>
          </a:prstGeom>
          <a:noFill/>
          <a:ln>
            <a:noFill/>
          </a:ln>
        </p:spPr>
      </p:pic>
      <p:pic>
        <p:nvPicPr>
          <p:cNvPr id="344" name="Google Shape;344;p25"/>
          <p:cNvPicPr preferRelativeResize="0"/>
          <p:nvPr/>
        </p:nvPicPr>
        <p:blipFill rotWithShape="1">
          <a:blip r:embed="rId5">
            <a:alphaModFix/>
          </a:blip>
          <a:srcRect l="8337" r="6207"/>
          <a:stretch/>
        </p:blipFill>
        <p:spPr>
          <a:xfrm>
            <a:off x="3048000" y="2362200"/>
            <a:ext cx="3124200" cy="2741612"/>
          </a:xfrm>
          <a:prstGeom prst="rect">
            <a:avLst/>
          </a:prstGeom>
          <a:noFill/>
          <a:ln>
            <a:noFill/>
          </a:ln>
        </p:spPr>
      </p:pic>
      <p:sp>
        <p:nvSpPr>
          <p:cNvPr id="345" name="Google Shape;345;p25"/>
          <p:cNvSpPr txBox="1"/>
          <p:nvPr/>
        </p:nvSpPr>
        <p:spPr>
          <a:xfrm>
            <a:off x="685800" y="5410200"/>
            <a:ext cx="19050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Two Sine Waves</a:t>
            </a:r>
            <a:endParaRPr/>
          </a:p>
        </p:txBody>
      </p:sp>
      <p:sp>
        <p:nvSpPr>
          <p:cNvPr id="346" name="Google Shape;346;p25"/>
          <p:cNvSpPr txBox="1"/>
          <p:nvPr/>
        </p:nvSpPr>
        <p:spPr>
          <a:xfrm>
            <a:off x="3429000" y="5486400"/>
            <a:ext cx="25146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Two Sine Waves + Noise</a:t>
            </a:r>
            <a:endParaRPr/>
          </a:p>
        </p:txBody>
      </p:sp>
      <p:sp>
        <p:nvSpPr>
          <p:cNvPr id="347" name="Google Shape;347;p25"/>
          <p:cNvSpPr txBox="1"/>
          <p:nvPr/>
        </p:nvSpPr>
        <p:spPr>
          <a:xfrm>
            <a:off x="6324600" y="5486400"/>
            <a:ext cx="25146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Frequency</a:t>
            </a:r>
            <a:endParaRPr/>
          </a:p>
        </p:txBody>
      </p:sp>
      <p:sp>
        <p:nvSpPr>
          <p:cNvPr id="348" name="Google Shape;348;p25"/>
          <p:cNvSpPr txBox="1"/>
          <p:nvPr/>
        </p:nvSpPr>
        <p:spPr>
          <a:xfrm>
            <a:off x="298450" y="1143000"/>
            <a:ext cx="8394700" cy="5029200"/>
          </a:xfrm>
          <a:prstGeom prst="rect">
            <a:avLst/>
          </a:prstGeom>
          <a:noFill/>
          <a:ln>
            <a:noFill/>
          </a:ln>
        </p:spPr>
        <p:txBody>
          <a:bodyPr spcFirstLastPara="1" wrap="square" lIns="90475" tIns="44450" rIns="90475" bIns="44450" anchor="t" anchorCtr="0">
            <a:noAutofit/>
          </a:bodyPr>
          <a:lstStyle/>
          <a:p>
            <a:pPr marL="285750" marR="0" lvl="0" indent="-285750" algn="just" rtl="0">
              <a:lnSpc>
                <a:spcPct val="95000"/>
              </a:lnSpc>
              <a:spcBef>
                <a:spcPts val="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Fourier transform</a:t>
            </a:r>
            <a:endParaRPr/>
          </a:p>
          <a:p>
            <a:pPr marL="285750" marR="0" lvl="0" indent="-285750" algn="just" rtl="0">
              <a:lnSpc>
                <a:spcPct val="95000"/>
              </a:lnSpc>
              <a:spcBef>
                <a:spcPts val="56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Wavelet transform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26</a:t>
            </a:fld>
            <a:endParaRPr/>
          </a:p>
        </p:txBody>
      </p:sp>
      <p:sp>
        <p:nvSpPr>
          <p:cNvPr id="355" name="Google Shape;355;p26"/>
          <p:cNvSpPr txBox="1">
            <a:spLocks noGrp="1"/>
          </p:cNvSpPr>
          <p:nvPr>
            <p:ph type="title" idx="4294967295"/>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What Is Wavelet Transform?</a:t>
            </a:r>
            <a:endParaRPr/>
          </a:p>
        </p:txBody>
      </p:sp>
      <p:sp>
        <p:nvSpPr>
          <p:cNvPr id="356" name="Google Shape;356;p26"/>
          <p:cNvSpPr txBox="1">
            <a:spLocks noGrp="1"/>
          </p:cNvSpPr>
          <p:nvPr>
            <p:ph type="body" idx="4294967295"/>
          </p:nvPr>
        </p:nvSpPr>
        <p:spPr>
          <a:xfrm>
            <a:off x="304800" y="1295400"/>
            <a:ext cx="45720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Decomposes a signal into different frequency subbands</a:t>
            </a:r>
            <a:endParaRPr/>
          </a:p>
          <a:p>
            <a:pPr marL="742950" marR="0" lvl="1" indent="-285750" algn="l" rtl="0">
              <a:lnSpc>
                <a:spcPct val="11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Applicable to n-dimensional signals</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are transformed to preserve relative distance between objects at different levels of resolution</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Allow natural clusters to become more distinguishable</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Used for image compression</a:t>
            </a:r>
            <a:endParaRPr/>
          </a:p>
        </p:txBody>
      </p:sp>
      <p:pic>
        <p:nvPicPr>
          <p:cNvPr id="357" name="Google Shape;357;p26" descr="Lina"/>
          <p:cNvPicPr preferRelativeResize="0"/>
          <p:nvPr/>
        </p:nvPicPr>
        <p:blipFill rotWithShape="1">
          <a:blip r:embed="rId3">
            <a:alphaModFix/>
          </a:blip>
          <a:srcRect/>
          <a:stretch/>
        </p:blipFill>
        <p:spPr>
          <a:xfrm>
            <a:off x="4953000" y="1435100"/>
            <a:ext cx="4111625" cy="4584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27</a:t>
            </a:fld>
            <a:endParaRPr/>
          </a:p>
        </p:txBody>
      </p:sp>
      <p:sp>
        <p:nvSpPr>
          <p:cNvPr id="364" name="Google Shape;364;p27"/>
          <p:cNvSpPr txBox="1">
            <a:spLocks noGrp="1"/>
          </p:cNvSpPr>
          <p:nvPr>
            <p:ph type="title" idx="4294967295"/>
          </p:nvPr>
        </p:nvSpPr>
        <p:spPr>
          <a:xfrm>
            <a:off x="228600" y="228600"/>
            <a:ext cx="6629400" cy="838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4000"/>
              <a:buFont typeface="Overlock"/>
              <a:buNone/>
            </a:pPr>
            <a:r>
              <a:rPr lang="en-US" sz="4000" b="1" i="0" u="none" strike="noStrike" cap="none">
                <a:solidFill>
                  <a:schemeClr val="dk2"/>
                </a:solidFill>
                <a:latin typeface="Overlock"/>
                <a:ea typeface="Overlock"/>
                <a:cs typeface="Overlock"/>
                <a:sym typeface="Overlock"/>
              </a:rPr>
              <a:t>Wavelet Transformation</a:t>
            </a:r>
            <a:r>
              <a:rPr lang="en-US" sz="3200" b="1" i="0" u="none" strike="noStrike" cap="none">
                <a:solidFill>
                  <a:schemeClr val="dk2"/>
                </a:solidFill>
                <a:latin typeface="Overlock"/>
                <a:ea typeface="Overlock"/>
                <a:cs typeface="Overlock"/>
                <a:sym typeface="Overlock"/>
              </a:rPr>
              <a:t> </a:t>
            </a:r>
            <a:endParaRPr/>
          </a:p>
        </p:txBody>
      </p:sp>
      <p:sp>
        <p:nvSpPr>
          <p:cNvPr id="365" name="Google Shape;365;p27"/>
          <p:cNvSpPr txBox="1">
            <a:spLocks noGrp="1"/>
          </p:cNvSpPr>
          <p:nvPr>
            <p:ph type="body" idx="4294967295"/>
          </p:nvPr>
        </p:nvSpPr>
        <p:spPr>
          <a:xfrm>
            <a:off x="304800" y="1447800"/>
            <a:ext cx="8458200" cy="49339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Discrete wavelet transform (DWT) for linear signal processing, multi-resolution analysis</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Compressed approximation: store only a small fraction of the strongest of the wavelet coefficients</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Similar to discrete Fourier transform (DFT), but better lossy compression, localized in space</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Method:</a:t>
            </a:r>
            <a:endParaRPr/>
          </a:p>
          <a:p>
            <a:pPr marL="742950" marR="0" lvl="1" indent="-285750" algn="l" rtl="0">
              <a:lnSpc>
                <a:spcPct val="11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Length, L, must be an integer power of 2 (padding with 0’s, when necessary)</a:t>
            </a:r>
            <a:endParaRPr/>
          </a:p>
          <a:p>
            <a:pPr marL="742950" marR="0" lvl="1" indent="-285750" algn="l" rtl="0">
              <a:lnSpc>
                <a:spcPct val="11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Each transform has 2 functions: smoothing, difference</a:t>
            </a:r>
            <a:endParaRPr/>
          </a:p>
          <a:p>
            <a:pPr marL="742950" marR="0" lvl="1" indent="-285750" algn="l" rtl="0">
              <a:lnSpc>
                <a:spcPct val="11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Applies to pairs of data, resulting in two set of data of length L/2</a:t>
            </a:r>
            <a:endParaRPr/>
          </a:p>
          <a:p>
            <a:pPr marL="742950" marR="0" lvl="1" indent="-285750" algn="l" rtl="0">
              <a:lnSpc>
                <a:spcPct val="11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Applies two functions recursively, until reaches the desired length</a:t>
            </a:r>
            <a:endParaRPr/>
          </a:p>
        </p:txBody>
      </p:sp>
      <p:grpSp>
        <p:nvGrpSpPr>
          <p:cNvPr id="366" name="Google Shape;366;p27"/>
          <p:cNvGrpSpPr/>
          <p:nvPr/>
        </p:nvGrpSpPr>
        <p:grpSpPr>
          <a:xfrm>
            <a:off x="6553200" y="0"/>
            <a:ext cx="2590800" cy="1579562"/>
            <a:chOff x="3936" y="96"/>
            <a:chExt cx="1632" cy="995"/>
          </a:xfrm>
        </p:grpSpPr>
        <p:sp>
          <p:nvSpPr>
            <p:cNvPr id="367" name="Google Shape;367;p27"/>
            <p:cNvSpPr txBox="1"/>
            <p:nvPr/>
          </p:nvSpPr>
          <p:spPr>
            <a:xfrm>
              <a:off x="3936" y="96"/>
              <a:ext cx="1632" cy="96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ahoma"/>
                <a:buNone/>
              </a:pPr>
              <a:r>
                <a:rPr lang="en-US" sz="2400" b="0" i="0" u="none">
                  <a:solidFill>
                    <a:schemeClr val="dk1"/>
                  </a:solidFill>
                  <a:latin typeface="Tahoma"/>
                  <a:ea typeface="Tahoma"/>
                  <a:cs typeface="Tahoma"/>
                  <a:sym typeface="Tahoma"/>
                </a:rPr>
                <a:t> </a:t>
              </a:r>
              <a:endParaRPr sz="1600" b="0" i="0" u="none">
                <a:solidFill>
                  <a:schemeClr val="dk1"/>
                </a:solidFill>
                <a:latin typeface="Tahoma"/>
                <a:ea typeface="Tahoma"/>
                <a:cs typeface="Tahoma"/>
                <a:sym typeface="Tahoma"/>
              </a:endParaRPr>
            </a:p>
            <a:p>
              <a:pPr marL="0" marR="0" lvl="0" indent="0" algn="l" rtl="0">
                <a:lnSpc>
                  <a:spcPct val="100000"/>
                </a:lnSpc>
                <a:spcBef>
                  <a:spcPts val="0"/>
                </a:spcBef>
                <a:spcAft>
                  <a:spcPts val="0"/>
                </a:spcAft>
                <a:buNone/>
              </a:pPr>
              <a:endParaRPr sz="1600" b="0" i="0" u="none">
                <a:solidFill>
                  <a:schemeClr val="dk1"/>
                </a:solidFill>
                <a:latin typeface="Tahoma"/>
                <a:ea typeface="Tahoma"/>
                <a:cs typeface="Tahoma"/>
                <a:sym typeface="Tahoma"/>
              </a:endParaRPr>
            </a:p>
          </p:txBody>
        </p:sp>
        <p:cxnSp>
          <p:nvCxnSpPr>
            <p:cNvPr id="368" name="Google Shape;368;p27"/>
            <p:cNvCxnSpPr/>
            <p:nvPr/>
          </p:nvCxnSpPr>
          <p:spPr>
            <a:xfrm>
              <a:off x="3984" y="864"/>
              <a:ext cx="144" cy="0"/>
            </a:xfrm>
            <a:prstGeom prst="straightConnector1">
              <a:avLst/>
            </a:prstGeom>
            <a:noFill/>
            <a:ln w="9525" cap="flat" cmpd="sng">
              <a:solidFill>
                <a:schemeClr val="dk1"/>
              </a:solidFill>
              <a:prstDash val="solid"/>
              <a:miter lim="800000"/>
              <a:headEnd type="none" w="med" len="med"/>
              <a:tailEnd type="none" w="med" len="med"/>
            </a:ln>
          </p:spPr>
        </p:cxnSp>
        <p:cxnSp>
          <p:nvCxnSpPr>
            <p:cNvPr id="369" name="Google Shape;369;p27"/>
            <p:cNvCxnSpPr/>
            <p:nvPr/>
          </p:nvCxnSpPr>
          <p:spPr>
            <a:xfrm rot="10800000">
              <a:off x="4128" y="288"/>
              <a:ext cx="0" cy="576"/>
            </a:xfrm>
            <a:prstGeom prst="straightConnector1">
              <a:avLst/>
            </a:prstGeom>
            <a:noFill/>
            <a:ln w="9525" cap="flat" cmpd="sng">
              <a:solidFill>
                <a:schemeClr val="dk1"/>
              </a:solidFill>
              <a:prstDash val="solid"/>
              <a:miter lim="800000"/>
              <a:headEnd type="none" w="med" len="med"/>
              <a:tailEnd type="none" w="med" len="med"/>
            </a:ln>
          </p:spPr>
        </p:cxnSp>
        <p:cxnSp>
          <p:nvCxnSpPr>
            <p:cNvPr id="370" name="Google Shape;370;p27"/>
            <p:cNvCxnSpPr/>
            <p:nvPr/>
          </p:nvCxnSpPr>
          <p:spPr>
            <a:xfrm>
              <a:off x="4128" y="288"/>
              <a:ext cx="288" cy="0"/>
            </a:xfrm>
            <a:prstGeom prst="straightConnector1">
              <a:avLst/>
            </a:prstGeom>
            <a:noFill/>
            <a:ln w="9525" cap="flat" cmpd="sng">
              <a:solidFill>
                <a:schemeClr val="dk1"/>
              </a:solidFill>
              <a:prstDash val="solid"/>
              <a:miter lim="800000"/>
              <a:headEnd type="none" w="med" len="med"/>
              <a:tailEnd type="none" w="med" len="med"/>
            </a:ln>
          </p:spPr>
        </p:cxnSp>
        <p:cxnSp>
          <p:nvCxnSpPr>
            <p:cNvPr id="371" name="Google Shape;371;p27"/>
            <p:cNvCxnSpPr/>
            <p:nvPr/>
          </p:nvCxnSpPr>
          <p:spPr>
            <a:xfrm>
              <a:off x="4416" y="288"/>
              <a:ext cx="0" cy="576"/>
            </a:xfrm>
            <a:prstGeom prst="straightConnector1">
              <a:avLst/>
            </a:prstGeom>
            <a:noFill/>
            <a:ln w="9525" cap="flat" cmpd="sng">
              <a:solidFill>
                <a:schemeClr val="dk1"/>
              </a:solidFill>
              <a:prstDash val="solid"/>
              <a:miter lim="800000"/>
              <a:headEnd type="none" w="med" len="med"/>
              <a:tailEnd type="none" w="med" len="med"/>
            </a:ln>
          </p:spPr>
        </p:cxnSp>
        <p:cxnSp>
          <p:nvCxnSpPr>
            <p:cNvPr id="372" name="Google Shape;372;p27"/>
            <p:cNvCxnSpPr/>
            <p:nvPr/>
          </p:nvCxnSpPr>
          <p:spPr>
            <a:xfrm>
              <a:off x="4416" y="864"/>
              <a:ext cx="192" cy="0"/>
            </a:xfrm>
            <a:prstGeom prst="straightConnector1">
              <a:avLst/>
            </a:prstGeom>
            <a:noFill/>
            <a:ln w="9525" cap="flat" cmpd="sng">
              <a:solidFill>
                <a:schemeClr val="dk1"/>
              </a:solidFill>
              <a:prstDash val="solid"/>
              <a:miter lim="800000"/>
              <a:headEnd type="none" w="med" len="med"/>
              <a:tailEnd type="none" w="med" len="med"/>
            </a:ln>
          </p:spPr>
        </p:cxnSp>
        <p:cxnSp>
          <p:nvCxnSpPr>
            <p:cNvPr id="373" name="Google Shape;373;p27"/>
            <p:cNvCxnSpPr/>
            <p:nvPr/>
          </p:nvCxnSpPr>
          <p:spPr>
            <a:xfrm>
              <a:off x="4848" y="864"/>
              <a:ext cx="96" cy="0"/>
            </a:xfrm>
            <a:prstGeom prst="straightConnector1">
              <a:avLst/>
            </a:prstGeom>
            <a:noFill/>
            <a:ln w="9525" cap="flat" cmpd="sng">
              <a:solidFill>
                <a:schemeClr val="dk1"/>
              </a:solidFill>
              <a:prstDash val="solid"/>
              <a:miter lim="800000"/>
              <a:headEnd type="none" w="med" len="med"/>
              <a:tailEnd type="none" w="med" len="med"/>
            </a:ln>
          </p:spPr>
        </p:cxnSp>
        <p:cxnSp>
          <p:nvCxnSpPr>
            <p:cNvPr id="374" name="Google Shape;374;p27"/>
            <p:cNvCxnSpPr/>
            <p:nvPr/>
          </p:nvCxnSpPr>
          <p:spPr>
            <a:xfrm rot="10800000" flipH="1">
              <a:off x="4944" y="336"/>
              <a:ext cx="192" cy="528"/>
            </a:xfrm>
            <a:prstGeom prst="straightConnector1">
              <a:avLst/>
            </a:prstGeom>
            <a:noFill/>
            <a:ln w="9525" cap="flat" cmpd="sng">
              <a:solidFill>
                <a:schemeClr val="dk1"/>
              </a:solidFill>
              <a:prstDash val="solid"/>
              <a:miter lim="800000"/>
              <a:headEnd type="none" w="med" len="med"/>
              <a:tailEnd type="none" w="med" len="med"/>
            </a:ln>
          </p:spPr>
        </p:cxnSp>
        <p:cxnSp>
          <p:nvCxnSpPr>
            <p:cNvPr id="375" name="Google Shape;375;p27"/>
            <p:cNvCxnSpPr/>
            <p:nvPr/>
          </p:nvCxnSpPr>
          <p:spPr>
            <a:xfrm>
              <a:off x="5136" y="336"/>
              <a:ext cx="96" cy="288"/>
            </a:xfrm>
            <a:prstGeom prst="straightConnector1">
              <a:avLst/>
            </a:prstGeom>
            <a:noFill/>
            <a:ln w="9525" cap="flat" cmpd="sng">
              <a:solidFill>
                <a:schemeClr val="dk1"/>
              </a:solidFill>
              <a:prstDash val="solid"/>
              <a:miter lim="800000"/>
              <a:headEnd type="none" w="med" len="med"/>
              <a:tailEnd type="none" w="med" len="med"/>
            </a:ln>
          </p:spPr>
        </p:cxnSp>
        <p:cxnSp>
          <p:nvCxnSpPr>
            <p:cNvPr id="376" name="Google Shape;376;p27"/>
            <p:cNvCxnSpPr/>
            <p:nvPr/>
          </p:nvCxnSpPr>
          <p:spPr>
            <a:xfrm>
              <a:off x="5232" y="624"/>
              <a:ext cx="96" cy="288"/>
            </a:xfrm>
            <a:prstGeom prst="straightConnector1">
              <a:avLst/>
            </a:prstGeom>
            <a:noFill/>
            <a:ln w="9525" cap="flat" cmpd="sng">
              <a:solidFill>
                <a:schemeClr val="dk1"/>
              </a:solidFill>
              <a:prstDash val="solid"/>
              <a:miter lim="800000"/>
              <a:headEnd type="none" w="med" len="med"/>
              <a:tailEnd type="none" w="med" len="med"/>
            </a:ln>
          </p:spPr>
        </p:cxnSp>
        <p:cxnSp>
          <p:nvCxnSpPr>
            <p:cNvPr id="377" name="Google Shape;377;p27"/>
            <p:cNvCxnSpPr/>
            <p:nvPr/>
          </p:nvCxnSpPr>
          <p:spPr>
            <a:xfrm rot="10800000" flipH="1">
              <a:off x="5328" y="864"/>
              <a:ext cx="96" cy="48"/>
            </a:xfrm>
            <a:prstGeom prst="straightConnector1">
              <a:avLst/>
            </a:prstGeom>
            <a:noFill/>
            <a:ln w="9525" cap="flat" cmpd="sng">
              <a:solidFill>
                <a:schemeClr val="dk1"/>
              </a:solidFill>
              <a:prstDash val="solid"/>
              <a:miter lim="800000"/>
              <a:headEnd type="none" w="med" len="med"/>
              <a:tailEnd type="none" w="med" len="med"/>
            </a:ln>
          </p:spPr>
        </p:cxnSp>
        <p:cxnSp>
          <p:nvCxnSpPr>
            <p:cNvPr id="378" name="Google Shape;378;p27"/>
            <p:cNvCxnSpPr/>
            <p:nvPr/>
          </p:nvCxnSpPr>
          <p:spPr>
            <a:xfrm>
              <a:off x="5424" y="864"/>
              <a:ext cx="96" cy="0"/>
            </a:xfrm>
            <a:prstGeom prst="straightConnector1">
              <a:avLst/>
            </a:prstGeom>
            <a:noFill/>
            <a:ln w="9525" cap="flat" cmpd="sng">
              <a:solidFill>
                <a:schemeClr val="dk1"/>
              </a:solidFill>
              <a:prstDash val="solid"/>
              <a:miter lim="800000"/>
              <a:headEnd type="none" w="med" len="med"/>
              <a:tailEnd type="none" w="med" len="med"/>
            </a:ln>
          </p:spPr>
        </p:cxnSp>
        <p:sp>
          <p:nvSpPr>
            <p:cNvPr id="379" name="Google Shape;379;p27"/>
            <p:cNvSpPr txBox="1"/>
            <p:nvPr/>
          </p:nvSpPr>
          <p:spPr>
            <a:xfrm>
              <a:off x="4080" y="864"/>
              <a:ext cx="45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Haar2</a:t>
              </a:r>
              <a:endParaRPr/>
            </a:p>
          </p:txBody>
        </p:sp>
        <p:sp>
          <p:nvSpPr>
            <p:cNvPr id="380" name="Google Shape;380;p27"/>
            <p:cNvSpPr txBox="1"/>
            <p:nvPr/>
          </p:nvSpPr>
          <p:spPr>
            <a:xfrm>
              <a:off x="4752" y="864"/>
              <a:ext cx="775" cy="227"/>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chemeClr val="dk1"/>
                </a:buClr>
                <a:buSzPts val="1600"/>
                <a:buFont typeface="Tahoma"/>
                <a:buNone/>
              </a:pPr>
              <a:r>
                <a:rPr lang="en-US" sz="1600" b="0" i="0" u="none">
                  <a:solidFill>
                    <a:schemeClr val="dk1"/>
                  </a:solidFill>
                  <a:latin typeface="Tahoma"/>
                  <a:ea typeface="Tahoma"/>
                  <a:cs typeface="Tahoma"/>
                  <a:sym typeface="Tahoma"/>
                </a:rPr>
                <a:t>Daubechie4</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28</a:t>
            </a:fld>
            <a:endParaRPr/>
          </a:p>
        </p:txBody>
      </p:sp>
      <p:sp>
        <p:nvSpPr>
          <p:cNvPr id="387" name="Google Shape;387;p28"/>
          <p:cNvSpPr txBox="1">
            <a:spLocks noGrp="1"/>
          </p:cNvSpPr>
          <p:nvPr>
            <p:ph type="title" idx="4294967295"/>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Wavelet Decomposition</a:t>
            </a:r>
            <a:endParaRPr/>
          </a:p>
        </p:txBody>
      </p:sp>
      <p:sp>
        <p:nvSpPr>
          <p:cNvPr id="388" name="Google Shape;388;p28"/>
          <p:cNvSpPr txBox="1">
            <a:spLocks noGrp="1"/>
          </p:cNvSpPr>
          <p:nvPr>
            <p:ph type="body" idx="4294967295"/>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Wavelets: A math tool for space-efficient hierarchical decomposition of functions </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 = [2, 2, 0, 2, 3, 5, 4, 4] can be transformed to S</a:t>
            </a:r>
            <a:r>
              <a:rPr lang="en-US" sz="2400" b="0" i="0" u="none" baseline="-25000">
                <a:solidFill>
                  <a:schemeClr val="dk1"/>
                </a:solidFill>
                <a:latin typeface="Tahoma"/>
                <a:ea typeface="Tahoma"/>
                <a:cs typeface="Tahoma"/>
                <a:sym typeface="Tahoma"/>
              </a:rPr>
              <a:t>^ </a:t>
            </a:r>
            <a:r>
              <a:rPr lang="en-US" sz="2400" b="0" i="0" u="none">
                <a:solidFill>
                  <a:schemeClr val="dk1"/>
                </a:solidFill>
                <a:latin typeface="Tahoma"/>
                <a:ea typeface="Tahoma"/>
                <a:cs typeface="Tahoma"/>
                <a:sym typeface="Tahoma"/>
              </a:rPr>
              <a:t>= [2</a:t>
            </a:r>
            <a:r>
              <a:rPr lang="en-US" sz="2400" b="0" i="0" u="none" baseline="30000">
                <a:solidFill>
                  <a:schemeClr val="dk1"/>
                </a:solidFill>
                <a:latin typeface="Tahoma"/>
                <a:ea typeface="Tahoma"/>
                <a:cs typeface="Tahoma"/>
                <a:sym typeface="Tahoma"/>
              </a:rPr>
              <a:t>3</a:t>
            </a:r>
            <a:r>
              <a:rPr lang="en-US" sz="2400" b="0" i="0" u="none">
                <a:solidFill>
                  <a:schemeClr val="dk1"/>
                </a:solidFill>
                <a:latin typeface="Tahoma"/>
                <a:ea typeface="Tahoma"/>
                <a:cs typeface="Tahoma"/>
                <a:sym typeface="Tahoma"/>
              </a:rPr>
              <a:t>/</a:t>
            </a:r>
            <a:r>
              <a:rPr lang="en-US" sz="2400" b="0" i="0" u="none" baseline="-25000">
                <a:solidFill>
                  <a:schemeClr val="dk1"/>
                </a:solidFill>
                <a:latin typeface="Tahoma"/>
                <a:ea typeface="Tahoma"/>
                <a:cs typeface="Tahoma"/>
                <a:sym typeface="Tahoma"/>
              </a:rPr>
              <a:t>4</a:t>
            </a:r>
            <a:r>
              <a:rPr lang="en-US" sz="2400" b="0" i="0" u="none">
                <a:solidFill>
                  <a:schemeClr val="dk1"/>
                </a:solidFill>
                <a:latin typeface="Tahoma"/>
                <a:ea typeface="Tahoma"/>
                <a:cs typeface="Tahoma"/>
                <a:sym typeface="Tahoma"/>
              </a:rPr>
              <a:t>, -1</a:t>
            </a:r>
            <a:r>
              <a:rPr lang="en-US" sz="2400" b="0" i="0" u="none" baseline="30000">
                <a:solidFill>
                  <a:schemeClr val="dk1"/>
                </a:solidFill>
                <a:latin typeface="Tahoma"/>
                <a:ea typeface="Tahoma"/>
                <a:cs typeface="Tahoma"/>
                <a:sym typeface="Tahoma"/>
              </a:rPr>
              <a:t>1</a:t>
            </a:r>
            <a:r>
              <a:rPr lang="en-US" sz="2400" b="0" i="0" u="none">
                <a:solidFill>
                  <a:schemeClr val="dk1"/>
                </a:solidFill>
                <a:latin typeface="Tahoma"/>
                <a:ea typeface="Tahoma"/>
                <a:cs typeface="Tahoma"/>
                <a:sym typeface="Tahoma"/>
              </a:rPr>
              <a:t>/</a:t>
            </a:r>
            <a:r>
              <a:rPr lang="en-US" sz="2400" b="0" i="0" u="none" baseline="-25000">
                <a:solidFill>
                  <a:schemeClr val="dk1"/>
                </a:solidFill>
                <a:latin typeface="Tahoma"/>
                <a:ea typeface="Tahoma"/>
                <a:cs typeface="Tahoma"/>
                <a:sym typeface="Tahoma"/>
              </a:rPr>
              <a:t>4</a:t>
            </a:r>
            <a:r>
              <a:rPr lang="en-US" sz="2400" b="0" i="0" u="none">
                <a:solidFill>
                  <a:schemeClr val="dk1"/>
                </a:solidFill>
                <a:latin typeface="Tahoma"/>
                <a:ea typeface="Tahoma"/>
                <a:cs typeface="Tahoma"/>
                <a:sym typeface="Tahoma"/>
              </a:rPr>
              <a:t>, </a:t>
            </a:r>
            <a:r>
              <a:rPr lang="en-US" sz="2400" b="0" i="0" u="none" baseline="30000">
                <a:solidFill>
                  <a:schemeClr val="dk1"/>
                </a:solidFill>
                <a:latin typeface="Tahoma"/>
                <a:ea typeface="Tahoma"/>
                <a:cs typeface="Tahoma"/>
                <a:sym typeface="Tahoma"/>
              </a:rPr>
              <a:t>1</a:t>
            </a:r>
            <a:r>
              <a:rPr lang="en-US" sz="2400" b="0" i="0" u="none">
                <a:solidFill>
                  <a:schemeClr val="dk1"/>
                </a:solidFill>
                <a:latin typeface="Tahoma"/>
                <a:ea typeface="Tahoma"/>
                <a:cs typeface="Tahoma"/>
                <a:sym typeface="Tahoma"/>
              </a:rPr>
              <a:t>/</a:t>
            </a:r>
            <a:r>
              <a:rPr lang="en-US" sz="2400" b="0" i="0" u="none" baseline="-25000">
                <a:solidFill>
                  <a:schemeClr val="dk1"/>
                </a:solidFill>
                <a:latin typeface="Tahoma"/>
                <a:ea typeface="Tahoma"/>
                <a:cs typeface="Tahoma"/>
                <a:sym typeface="Tahoma"/>
              </a:rPr>
              <a:t>2</a:t>
            </a:r>
            <a:r>
              <a:rPr lang="en-US" sz="2400" b="0" i="0" u="none">
                <a:solidFill>
                  <a:schemeClr val="dk1"/>
                </a:solidFill>
                <a:latin typeface="Tahoma"/>
                <a:ea typeface="Tahoma"/>
                <a:cs typeface="Tahoma"/>
                <a:sym typeface="Tahoma"/>
              </a:rPr>
              <a:t>, 0, 0, -1, -1, 0]</a:t>
            </a:r>
            <a:endParaRPr/>
          </a:p>
          <a:p>
            <a:pPr marL="342900" marR="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Compression: many small detail coefficients can be replaced by 0’s, and only the significant coefficients are retained</a:t>
            </a:r>
            <a:endParaRPr/>
          </a:p>
        </p:txBody>
      </p:sp>
      <p:pic>
        <p:nvPicPr>
          <p:cNvPr id="389" name="Google Shape;389;p28"/>
          <p:cNvPicPr preferRelativeResize="0"/>
          <p:nvPr/>
        </p:nvPicPr>
        <p:blipFill rotWithShape="1">
          <a:blip r:embed="rId3">
            <a:alphaModFix/>
          </a:blip>
          <a:srcRect/>
          <a:stretch/>
        </p:blipFill>
        <p:spPr>
          <a:xfrm>
            <a:off x="685800" y="4419600"/>
            <a:ext cx="7543800" cy="20478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29</a:t>
            </a:fld>
            <a:endParaRPr/>
          </a:p>
        </p:txBody>
      </p:sp>
      <p:sp>
        <p:nvSpPr>
          <p:cNvPr id="396" name="Google Shape;396;p29"/>
          <p:cNvSpPr txBox="1">
            <a:spLocks noGrp="1"/>
          </p:cNvSpPr>
          <p:nvPr>
            <p:ph type="title" idx="4294967295"/>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Haar Wavelet Coefficients </a:t>
            </a:r>
            <a:endParaRPr/>
          </a:p>
        </p:txBody>
      </p:sp>
      <p:sp>
        <p:nvSpPr>
          <p:cNvPr id="397" name="Google Shape;397;p29"/>
          <p:cNvSpPr txBox="1"/>
          <p:nvPr/>
        </p:nvSpPr>
        <p:spPr>
          <a:xfrm>
            <a:off x="6132512" y="1066800"/>
            <a:ext cx="3011487"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2400"/>
              <a:buFont typeface="Times New Roman"/>
              <a:buNone/>
            </a:pPr>
            <a:r>
              <a:rPr lang="en-US" sz="2400" b="0" i="0" u="none">
                <a:solidFill>
                  <a:schemeClr val="dk2"/>
                </a:solidFill>
                <a:latin typeface="Times New Roman"/>
                <a:ea typeface="Times New Roman"/>
                <a:cs typeface="Times New Roman"/>
                <a:sym typeface="Times New Roman"/>
              </a:rPr>
              <a:t> </a:t>
            </a:r>
            <a:r>
              <a:rPr lang="en-US" sz="2000" b="1" i="0" u="none">
                <a:solidFill>
                  <a:schemeClr val="dk2"/>
                </a:solidFill>
                <a:latin typeface="Arial"/>
                <a:ea typeface="Arial"/>
                <a:cs typeface="Arial"/>
                <a:sym typeface="Arial"/>
              </a:rPr>
              <a:t>Coefficient “Supports”</a:t>
            </a:r>
            <a:endParaRPr/>
          </a:p>
        </p:txBody>
      </p:sp>
      <p:sp>
        <p:nvSpPr>
          <p:cNvPr id="398" name="Google Shape;398;p29"/>
          <p:cNvSpPr txBox="1"/>
          <p:nvPr/>
        </p:nvSpPr>
        <p:spPr>
          <a:xfrm>
            <a:off x="381000" y="4953000"/>
            <a:ext cx="5641975"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2              2   0            2   3            5   4               4</a:t>
            </a:r>
            <a:endParaRPr/>
          </a:p>
        </p:txBody>
      </p:sp>
      <p:grpSp>
        <p:nvGrpSpPr>
          <p:cNvPr id="399" name="Google Shape;399;p29"/>
          <p:cNvGrpSpPr/>
          <p:nvPr/>
        </p:nvGrpSpPr>
        <p:grpSpPr>
          <a:xfrm>
            <a:off x="2743200" y="2514600"/>
            <a:ext cx="762000" cy="457200"/>
            <a:chOff x="1392" y="1344"/>
            <a:chExt cx="480" cy="288"/>
          </a:xfrm>
        </p:grpSpPr>
        <p:sp>
          <p:nvSpPr>
            <p:cNvPr id="400" name="Google Shape;400;p29"/>
            <p:cNvSpPr txBox="1"/>
            <p:nvPr/>
          </p:nvSpPr>
          <p:spPr>
            <a:xfrm>
              <a:off x="1392" y="1392"/>
              <a:ext cx="480"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-1.25</a:t>
              </a:r>
              <a:endParaRPr/>
            </a:p>
          </p:txBody>
        </p:sp>
        <p:sp>
          <p:nvSpPr>
            <p:cNvPr id="401" name="Google Shape;401;p29"/>
            <p:cNvSpPr/>
            <p:nvPr/>
          </p:nvSpPr>
          <p:spPr>
            <a:xfrm>
              <a:off x="1392" y="1344"/>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402" name="Google Shape;402;p29"/>
          <p:cNvGrpSpPr/>
          <p:nvPr/>
        </p:nvGrpSpPr>
        <p:grpSpPr>
          <a:xfrm>
            <a:off x="2743200" y="1752600"/>
            <a:ext cx="685800" cy="457200"/>
            <a:chOff x="1392" y="1008"/>
            <a:chExt cx="432" cy="288"/>
          </a:xfrm>
        </p:grpSpPr>
        <p:sp>
          <p:nvSpPr>
            <p:cNvPr id="403" name="Google Shape;403;p29"/>
            <p:cNvSpPr txBox="1"/>
            <p:nvPr/>
          </p:nvSpPr>
          <p:spPr>
            <a:xfrm>
              <a:off x="1392" y="1056"/>
              <a:ext cx="406"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2.75</a:t>
              </a:r>
              <a:endParaRPr/>
            </a:p>
          </p:txBody>
        </p:sp>
        <p:sp>
          <p:nvSpPr>
            <p:cNvPr id="404" name="Google Shape;404;p29"/>
            <p:cNvSpPr/>
            <p:nvPr/>
          </p:nvSpPr>
          <p:spPr>
            <a:xfrm>
              <a:off x="1392" y="1008"/>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405" name="Google Shape;405;p29"/>
          <p:cNvGrpSpPr/>
          <p:nvPr/>
        </p:nvGrpSpPr>
        <p:grpSpPr>
          <a:xfrm>
            <a:off x="1524000" y="3276600"/>
            <a:ext cx="762000" cy="457200"/>
            <a:chOff x="816" y="1632"/>
            <a:chExt cx="480" cy="288"/>
          </a:xfrm>
        </p:grpSpPr>
        <p:sp>
          <p:nvSpPr>
            <p:cNvPr id="406" name="Google Shape;406;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07" name="Google Shape;407;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0.5</a:t>
              </a:r>
              <a:endParaRPr/>
            </a:p>
          </p:txBody>
        </p:sp>
      </p:grpSp>
      <p:grpSp>
        <p:nvGrpSpPr>
          <p:cNvPr id="408" name="Google Shape;408;p29"/>
          <p:cNvGrpSpPr/>
          <p:nvPr/>
        </p:nvGrpSpPr>
        <p:grpSpPr>
          <a:xfrm>
            <a:off x="4038600" y="3276600"/>
            <a:ext cx="762000" cy="457200"/>
            <a:chOff x="816" y="1632"/>
            <a:chExt cx="480" cy="288"/>
          </a:xfrm>
        </p:grpSpPr>
        <p:sp>
          <p:nvSpPr>
            <p:cNvPr id="409" name="Google Shape;409;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10" name="Google Shape;410;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 0</a:t>
              </a:r>
              <a:endParaRPr/>
            </a:p>
          </p:txBody>
        </p:sp>
      </p:grpSp>
      <p:grpSp>
        <p:nvGrpSpPr>
          <p:cNvPr id="411" name="Google Shape;411;p29"/>
          <p:cNvGrpSpPr/>
          <p:nvPr/>
        </p:nvGrpSpPr>
        <p:grpSpPr>
          <a:xfrm>
            <a:off x="838200" y="4038600"/>
            <a:ext cx="762000" cy="457200"/>
            <a:chOff x="816" y="1632"/>
            <a:chExt cx="480" cy="288"/>
          </a:xfrm>
        </p:grpSpPr>
        <p:sp>
          <p:nvSpPr>
            <p:cNvPr id="412" name="Google Shape;412;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13" name="Google Shape;413;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 0</a:t>
              </a:r>
              <a:endParaRPr/>
            </a:p>
          </p:txBody>
        </p:sp>
      </p:grpSp>
      <p:grpSp>
        <p:nvGrpSpPr>
          <p:cNvPr id="414" name="Google Shape;414;p29"/>
          <p:cNvGrpSpPr/>
          <p:nvPr/>
        </p:nvGrpSpPr>
        <p:grpSpPr>
          <a:xfrm>
            <a:off x="2209800" y="4038600"/>
            <a:ext cx="762000" cy="457200"/>
            <a:chOff x="816" y="1632"/>
            <a:chExt cx="480" cy="288"/>
          </a:xfrm>
        </p:grpSpPr>
        <p:sp>
          <p:nvSpPr>
            <p:cNvPr id="415" name="Google Shape;415;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16" name="Google Shape;416;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 -1</a:t>
              </a:r>
              <a:endParaRPr/>
            </a:p>
          </p:txBody>
        </p:sp>
      </p:grpSp>
      <p:grpSp>
        <p:nvGrpSpPr>
          <p:cNvPr id="417" name="Google Shape;417;p29"/>
          <p:cNvGrpSpPr/>
          <p:nvPr/>
        </p:nvGrpSpPr>
        <p:grpSpPr>
          <a:xfrm>
            <a:off x="4876800" y="4038600"/>
            <a:ext cx="762000" cy="457200"/>
            <a:chOff x="816" y="1632"/>
            <a:chExt cx="480" cy="288"/>
          </a:xfrm>
        </p:grpSpPr>
        <p:sp>
          <p:nvSpPr>
            <p:cNvPr id="418" name="Google Shape;418;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19" name="Google Shape;419;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 0</a:t>
              </a:r>
              <a:endParaRPr/>
            </a:p>
          </p:txBody>
        </p:sp>
      </p:grpSp>
      <p:grpSp>
        <p:nvGrpSpPr>
          <p:cNvPr id="420" name="Google Shape;420;p29"/>
          <p:cNvGrpSpPr/>
          <p:nvPr/>
        </p:nvGrpSpPr>
        <p:grpSpPr>
          <a:xfrm>
            <a:off x="3429000" y="4038600"/>
            <a:ext cx="762000" cy="457200"/>
            <a:chOff x="816" y="1632"/>
            <a:chExt cx="480" cy="288"/>
          </a:xfrm>
        </p:grpSpPr>
        <p:sp>
          <p:nvSpPr>
            <p:cNvPr id="421" name="Google Shape;421;p29"/>
            <p:cNvSpPr/>
            <p:nvPr/>
          </p:nvSpPr>
          <p:spPr>
            <a:xfrm>
              <a:off x="816" y="1632"/>
              <a:ext cx="432" cy="288"/>
            </a:xfrm>
            <a:prstGeom prst="ellipse">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22" name="Google Shape;422;p29"/>
            <p:cNvSpPr txBox="1"/>
            <p:nvPr/>
          </p:nvSpPr>
          <p:spPr>
            <a:xfrm>
              <a:off x="864" y="1680"/>
              <a:ext cx="432"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Verdana"/>
                <a:buNone/>
              </a:pPr>
              <a:r>
                <a:rPr lang="en-US" sz="1600" b="0" i="0" u="none">
                  <a:solidFill>
                    <a:schemeClr val="dk1"/>
                  </a:solidFill>
                  <a:latin typeface="Verdana"/>
                  <a:ea typeface="Verdana"/>
                  <a:cs typeface="Verdana"/>
                  <a:sym typeface="Verdana"/>
                </a:rPr>
                <a:t> -1</a:t>
              </a:r>
              <a:endParaRPr/>
            </a:p>
          </p:txBody>
        </p:sp>
      </p:grpSp>
      <p:cxnSp>
        <p:nvCxnSpPr>
          <p:cNvPr id="423" name="Google Shape;423;p29"/>
          <p:cNvCxnSpPr/>
          <p:nvPr/>
        </p:nvCxnSpPr>
        <p:spPr>
          <a:xfrm flipH="1">
            <a:off x="6096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4" name="Google Shape;424;p29"/>
          <p:cNvCxnSpPr/>
          <p:nvPr/>
        </p:nvCxnSpPr>
        <p:spPr>
          <a:xfrm>
            <a:off x="13716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5" name="Google Shape;425;p29"/>
          <p:cNvCxnSpPr/>
          <p:nvPr/>
        </p:nvCxnSpPr>
        <p:spPr>
          <a:xfrm flipH="1">
            <a:off x="20574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6" name="Google Shape;426;p29"/>
          <p:cNvCxnSpPr/>
          <p:nvPr/>
        </p:nvCxnSpPr>
        <p:spPr>
          <a:xfrm flipH="1">
            <a:off x="32766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7" name="Google Shape;427;p29"/>
          <p:cNvCxnSpPr/>
          <p:nvPr/>
        </p:nvCxnSpPr>
        <p:spPr>
          <a:xfrm flipH="1">
            <a:off x="46482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8" name="Google Shape;428;p29"/>
          <p:cNvCxnSpPr/>
          <p:nvPr/>
        </p:nvCxnSpPr>
        <p:spPr>
          <a:xfrm>
            <a:off x="2743200" y="4495800"/>
            <a:ext cx="2286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29" name="Google Shape;429;p29"/>
          <p:cNvCxnSpPr/>
          <p:nvPr/>
        </p:nvCxnSpPr>
        <p:spPr>
          <a:xfrm>
            <a:off x="39624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30" name="Google Shape;430;p29"/>
          <p:cNvCxnSpPr/>
          <p:nvPr/>
        </p:nvCxnSpPr>
        <p:spPr>
          <a:xfrm>
            <a:off x="5486400" y="4419600"/>
            <a:ext cx="304800" cy="533400"/>
          </a:xfrm>
          <a:prstGeom prst="straightConnector1">
            <a:avLst/>
          </a:prstGeom>
          <a:noFill/>
          <a:ln w="28575" cap="flat" cmpd="sng">
            <a:solidFill>
              <a:schemeClr val="dk1"/>
            </a:solidFill>
            <a:prstDash val="solid"/>
            <a:miter lim="800000"/>
            <a:headEnd type="none" w="med" len="med"/>
            <a:tailEnd type="none" w="med" len="med"/>
          </a:ln>
        </p:spPr>
      </p:cxnSp>
      <p:cxnSp>
        <p:nvCxnSpPr>
          <p:cNvPr id="431" name="Google Shape;431;p29"/>
          <p:cNvCxnSpPr/>
          <p:nvPr/>
        </p:nvCxnSpPr>
        <p:spPr>
          <a:xfrm flipH="1">
            <a:off x="1219200" y="3657600"/>
            <a:ext cx="381000" cy="381000"/>
          </a:xfrm>
          <a:prstGeom prst="straightConnector1">
            <a:avLst/>
          </a:prstGeom>
          <a:noFill/>
          <a:ln w="28575" cap="flat" cmpd="sng">
            <a:solidFill>
              <a:schemeClr val="dk1"/>
            </a:solidFill>
            <a:prstDash val="solid"/>
            <a:miter lim="800000"/>
            <a:headEnd type="none" w="med" len="med"/>
            <a:tailEnd type="none" w="med" len="med"/>
          </a:ln>
        </p:spPr>
      </p:cxnSp>
      <p:cxnSp>
        <p:nvCxnSpPr>
          <p:cNvPr id="432" name="Google Shape;432;p29"/>
          <p:cNvCxnSpPr/>
          <p:nvPr/>
        </p:nvCxnSpPr>
        <p:spPr>
          <a:xfrm flipH="1">
            <a:off x="3733800" y="3657600"/>
            <a:ext cx="381000" cy="381000"/>
          </a:xfrm>
          <a:prstGeom prst="straightConnector1">
            <a:avLst/>
          </a:prstGeom>
          <a:noFill/>
          <a:ln w="28575" cap="flat" cmpd="sng">
            <a:solidFill>
              <a:schemeClr val="dk1"/>
            </a:solidFill>
            <a:prstDash val="solid"/>
            <a:miter lim="800000"/>
            <a:headEnd type="none" w="med" len="med"/>
            <a:tailEnd type="none" w="med" len="med"/>
          </a:ln>
        </p:spPr>
      </p:cxnSp>
      <p:cxnSp>
        <p:nvCxnSpPr>
          <p:cNvPr id="433" name="Google Shape;433;p29"/>
          <p:cNvCxnSpPr/>
          <p:nvPr/>
        </p:nvCxnSpPr>
        <p:spPr>
          <a:xfrm flipH="1">
            <a:off x="1981200" y="2819400"/>
            <a:ext cx="762000" cy="457200"/>
          </a:xfrm>
          <a:prstGeom prst="straightConnector1">
            <a:avLst/>
          </a:prstGeom>
          <a:noFill/>
          <a:ln w="28575" cap="flat" cmpd="sng">
            <a:solidFill>
              <a:schemeClr val="dk1"/>
            </a:solidFill>
            <a:prstDash val="solid"/>
            <a:miter lim="800000"/>
            <a:headEnd type="none" w="med" len="med"/>
            <a:tailEnd type="none" w="med" len="med"/>
          </a:ln>
        </p:spPr>
      </p:cxnSp>
      <p:cxnSp>
        <p:nvCxnSpPr>
          <p:cNvPr id="434" name="Google Shape;434;p29"/>
          <p:cNvCxnSpPr/>
          <p:nvPr/>
        </p:nvCxnSpPr>
        <p:spPr>
          <a:xfrm>
            <a:off x="2133600" y="3657600"/>
            <a:ext cx="457200" cy="381000"/>
          </a:xfrm>
          <a:prstGeom prst="straightConnector1">
            <a:avLst/>
          </a:prstGeom>
          <a:noFill/>
          <a:ln w="28575" cap="flat" cmpd="sng">
            <a:solidFill>
              <a:schemeClr val="dk1"/>
            </a:solidFill>
            <a:prstDash val="solid"/>
            <a:miter lim="800000"/>
            <a:headEnd type="none" w="med" len="med"/>
            <a:tailEnd type="none" w="med" len="med"/>
          </a:ln>
        </p:spPr>
      </p:cxnSp>
      <p:cxnSp>
        <p:nvCxnSpPr>
          <p:cNvPr id="435" name="Google Shape;435;p29"/>
          <p:cNvCxnSpPr/>
          <p:nvPr/>
        </p:nvCxnSpPr>
        <p:spPr>
          <a:xfrm>
            <a:off x="4648200" y="3657600"/>
            <a:ext cx="457200" cy="381000"/>
          </a:xfrm>
          <a:prstGeom prst="straightConnector1">
            <a:avLst/>
          </a:prstGeom>
          <a:noFill/>
          <a:ln w="28575" cap="flat" cmpd="sng">
            <a:solidFill>
              <a:schemeClr val="dk1"/>
            </a:solidFill>
            <a:prstDash val="solid"/>
            <a:miter lim="800000"/>
            <a:headEnd type="none" w="med" len="med"/>
            <a:tailEnd type="none" w="med" len="med"/>
          </a:ln>
        </p:spPr>
      </p:cxnSp>
      <p:cxnSp>
        <p:nvCxnSpPr>
          <p:cNvPr id="436" name="Google Shape;436;p29"/>
          <p:cNvCxnSpPr/>
          <p:nvPr/>
        </p:nvCxnSpPr>
        <p:spPr>
          <a:xfrm>
            <a:off x="3429000" y="2819400"/>
            <a:ext cx="914400" cy="457200"/>
          </a:xfrm>
          <a:prstGeom prst="straightConnector1">
            <a:avLst/>
          </a:prstGeom>
          <a:noFill/>
          <a:ln w="28575" cap="flat" cmpd="sng">
            <a:solidFill>
              <a:schemeClr val="dk1"/>
            </a:solidFill>
            <a:prstDash val="solid"/>
            <a:miter lim="800000"/>
            <a:headEnd type="none" w="med" len="med"/>
            <a:tailEnd type="none" w="med" len="med"/>
          </a:ln>
        </p:spPr>
      </p:cxnSp>
      <p:cxnSp>
        <p:nvCxnSpPr>
          <p:cNvPr id="437" name="Google Shape;437;p29"/>
          <p:cNvCxnSpPr/>
          <p:nvPr/>
        </p:nvCxnSpPr>
        <p:spPr>
          <a:xfrm>
            <a:off x="3048000" y="2209800"/>
            <a:ext cx="0" cy="304800"/>
          </a:xfrm>
          <a:prstGeom prst="straightConnector1">
            <a:avLst/>
          </a:prstGeom>
          <a:noFill/>
          <a:ln w="28575" cap="flat" cmpd="sng">
            <a:solidFill>
              <a:schemeClr val="dk1"/>
            </a:solidFill>
            <a:prstDash val="solid"/>
            <a:miter lim="800000"/>
            <a:headEnd type="none" w="med" len="med"/>
            <a:tailEnd type="none" w="med" len="med"/>
          </a:ln>
        </p:spPr>
      </p:cxnSp>
      <p:sp>
        <p:nvSpPr>
          <p:cNvPr id="438" name="Google Shape;438;p29"/>
          <p:cNvSpPr txBox="1"/>
          <p:nvPr/>
        </p:nvSpPr>
        <p:spPr>
          <a:xfrm>
            <a:off x="2667000" y="21336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2000"/>
              <a:buFont typeface="Verdana"/>
              <a:buNone/>
            </a:pPr>
            <a:r>
              <a:rPr lang="en-US" sz="2000" b="1" i="0" u="none">
                <a:solidFill>
                  <a:schemeClr val="dk2"/>
                </a:solidFill>
                <a:latin typeface="Verdana"/>
                <a:ea typeface="Verdana"/>
                <a:cs typeface="Verdana"/>
                <a:sym typeface="Verdana"/>
              </a:rPr>
              <a:t>+</a:t>
            </a:r>
            <a:endParaRPr/>
          </a:p>
        </p:txBody>
      </p:sp>
      <p:sp>
        <p:nvSpPr>
          <p:cNvPr id="439" name="Google Shape;439;p29"/>
          <p:cNvSpPr txBox="1"/>
          <p:nvPr/>
        </p:nvSpPr>
        <p:spPr>
          <a:xfrm>
            <a:off x="3810000" y="27432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40" name="Google Shape;440;p29"/>
          <p:cNvSpPr txBox="1"/>
          <p:nvPr/>
        </p:nvSpPr>
        <p:spPr>
          <a:xfrm>
            <a:off x="2133600" y="26670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1" name="Google Shape;441;p29"/>
          <p:cNvSpPr txBox="1"/>
          <p:nvPr/>
        </p:nvSpPr>
        <p:spPr>
          <a:xfrm>
            <a:off x="990600" y="35052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2" name="Google Shape;442;p29"/>
          <p:cNvSpPr txBox="1"/>
          <p:nvPr/>
        </p:nvSpPr>
        <p:spPr>
          <a:xfrm>
            <a:off x="381000" y="4343400"/>
            <a:ext cx="457200"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3" name="Google Shape;443;p29"/>
          <p:cNvSpPr txBox="1"/>
          <p:nvPr/>
        </p:nvSpPr>
        <p:spPr>
          <a:xfrm>
            <a:off x="1905000" y="4419600"/>
            <a:ext cx="304800"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4" name="Google Shape;444;p29"/>
          <p:cNvSpPr txBox="1"/>
          <p:nvPr/>
        </p:nvSpPr>
        <p:spPr>
          <a:xfrm>
            <a:off x="3048000" y="44196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5" name="Google Shape;445;p29"/>
          <p:cNvSpPr txBox="1"/>
          <p:nvPr/>
        </p:nvSpPr>
        <p:spPr>
          <a:xfrm>
            <a:off x="3581400" y="35814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6" name="Google Shape;446;p29"/>
          <p:cNvSpPr txBox="1"/>
          <p:nvPr/>
        </p:nvSpPr>
        <p:spPr>
          <a:xfrm>
            <a:off x="4495800" y="4419600"/>
            <a:ext cx="449262"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000"/>
              <a:buFont typeface="Verdana"/>
              <a:buNone/>
            </a:pPr>
            <a:r>
              <a:rPr lang="en-US" sz="2000" b="1" i="0" u="none">
                <a:solidFill>
                  <a:srgbClr val="FF5050"/>
                </a:solidFill>
                <a:latin typeface="Verdana"/>
                <a:ea typeface="Verdana"/>
                <a:cs typeface="Verdana"/>
                <a:sym typeface="Verdana"/>
              </a:rPr>
              <a:t>+</a:t>
            </a:r>
            <a:endParaRPr/>
          </a:p>
        </p:txBody>
      </p:sp>
      <p:sp>
        <p:nvSpPr>
          <p:cNvPr id="447" name="Google Shape;447;p29"/>
          <p:cNvSpPr txBox="1"/>
          <p:nvPr/>
        </p:nvSpPr>
        <p:spPr>
          <a:xfrm>
            <a:off x="2362200" y="35052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48" name="Google Shape;448;p29"/>
          <p:cNvSpPr txBox="1"/>
          <p:nvPr/>
        </p:nvSpPr>
        <p:spPr>
          <a:xfrm>
            <a:off x="4876800" y="35814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49" name="Google Shape;449;p29"/>
          <p:cNvSpPr txBox="1"/>
          <p:nvPr/>
        </p:nvSpPr>
        <p:spPr>
          <a:xfrm>
            <a:off x="1447800" y="44196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50" name="Google Shape;450;p29"/>
          <p:cNvSpPr txBox="1"/>
          <p:nvPr/>
        </p:nvSpPr>
        <p:spPr>
          <a:xfrm>
            <a:off x="2743200" y="44196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51" name="Google Shape;451;p29"/>
          <p:cNvSpPr txBox="1"/>
          <p:nvPr/>
        </p:nvSpPr>
        <p:spPr>
          <a:xfrm>
            <a:off x="4114800" y="44196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sp>
        <p:nvSpPr>
          <p:cNvPr id="452" name="Google Shape;452;p29"/>
          <p:cNvSpPr txBox="1"/>
          <p:nvPr/>
        </p:nvSpPr>
        <p:spPr>
          <a:xfrm>
            <a:off x="5638800" y="4419600"/>
            <a:ext cx="330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5050"/>
              </a:buClr>
              <a:buSzPts val="2400"/>
              <a:buFont typeface="Verdana"/>
              <a:buNone/>
            </a:pPr>
            <a:r>
              <a:rPr lang="en-US" sz="2400" b="1" i="0" u="none">
                <a:solidFill>
                  <a:srgbClr val="FF5050"/>
                </a:solidFill>
                <a:latin typeface="Verdana"/>
                <a:ea typeface="Verdana"/>
                <a:cs typeface="Verdana"/>
                <a:sym typeface="Verdana"/>
              </a:rPr>
              <a:t>-</a:t>
            </a:r>
            <a:endParaRPr/>
          </a:p>
        </p:txBody>
      </p:sp>
      <p:grpSp>
        <p:nvGrpSpPr>
          <p:cNvPr id="453" name="Google Shape;453;p29"/>
          <p:cNvGrpSpPr/>
          <p:nvPr/>
        </p:nvGrpSpPr>
        <p:grpSpPr>
          <a:xfrm>
            <a:off x="6969125" y="1295400"/>
            <a:ext cx="2174875" cy="611187"/>
            <a:chOff x="4368" y="2640"/>
            <a:chExt cx="1296" cy="384"/>
          </a:xfrm>
        </p:grpSpPr>
        <p:sp>
          <p:nvSpPr>
            <p:cNvPr id="454" name="Google Shape;454;p29"/>
            <p:cNvSpPr txBox="1"/>
            <p:nvPr/>
          </p:nvSpPr>
          <p:spPr>
            <a:xfrm>
              <a:off x="4368" y="2832"/>
              <a:ext cx="1152" cy="19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55" name="Google Shape;455;p29"/>
            <p:cNvSpPr txBox="1"/>
            <p:nvPr/>
          </p:nvSpPr>
          <p:spPr>
            <a:xfrm>
              <a:off x="4801" y="2640"/>
              <a:ext cx="863" cy="3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grpSp>
      <p:grpSp>
        <p:nvGrpSpPr>
          <p:cNvPr id="456" name="Google Shape;456;p29"/>
          <p:cNvGrpSpPr/>
          <p:nvPr/>
        </p:nvGrpSpPr>
        <p:grpSpPr>
          <a:xfrm>
            <a:off x="5978525" y="1524000"/>
            <a:ext cx="2951162" cy="4572000"/>
            <a:chOff x="3766" y="960"/>
            <a:chExt cx="1859" cy="2880"/>
          </a:xfrm>
        </p:grpSpPr>
        <p:sp>
          <p:nvSpPr>
            <p:cNvPr id="457" name="Google Shape;457;p29"/>
            <p:cNvSpPr txBox="1"/>
            <p:nvPr/>
          </p:nvSpPr>
          <p:spPr>
            <a:xfrm>
              <a:off x="4390" y="1439"/>
              <a:ext cx="1230" cy="192"/>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58" name="Google Shape;458;p29"/>
            <p:cNvSpPr txBox="1"/>
            <p:nvPr/>
          </p:nvSpPr>
          <p:spPr>
            <a:xfrm>
              <a:off x="5158" y="1008"/>
              <a:ext cx="443"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59" name="Google Shape;459;p29"/>
            <p:cNvSpPr txBox="1"/>
            <p:nvPr/>
          </p:nvSpPr>
          <p:spPr>
            <a:xfrm>
              <a:off x="4390" y="1440"/>
              <a:ext cx="590" cy="19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0" name="Google Shape;460;p29"/>
            <p:cNvSpPr txBox="1"/>
            <p:nvPr/>
          </p:nvSpPr>
          <p:spPr>
            <a:xfrm>
              <a:off x="4539" y="1247"/>
              <a:ext cx="441"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61" name="Google Shape;461;p29"/>
            <p:cNvSpPr txBox="1"/>
            <p:nvPr/>
          </p:nvSpPr>
          <p:spPr>
            <a:xfrm>
              <a:off x="4390" y="2258"/>
              <a:ext cx="1231" cy="193"/>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2" name="Google Shape;462;p29"/>
            <p:cNvSpPr txBox="1"/>
            <p:nvPr/>
          </p:nvSpPr>
          <p:spPr>
            <a:xfrm>
              <a:off x="5030" y="2260"/>
              <a:ext cx="295" cy="19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3" name="Google Shape;463;p29"/>
            <p:cNvSpPr txBox="1"/>
            <p:nvPr/>
          </p:nvSpPr>
          <p:spPr>
            <a:xfrm>
              <a:off x="5030" y="2067"/>
              <a:ext cx="221"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64" name="Google Shape;464;p29"/>
            <p:cNvSpPr txBox="1"/>
            <p:nvPr/>
          </p:nvSpPr>
          <p:spPr>
            <a:xfrm>
              <a:off x="5325" y="2257"/>
              <a:ext cx="296"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5" name="Google Shape;465;p29"/>
            <p:cNvSpPr txBox="1"/>
            <p:nvPr/>
          </p:nvSpPr>
          <p:spPr>
            <a:xfrm>
              <a:off x="5325" y="1872"/>
              <a:ext cx="222"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66" name="Google Shape;466;p29"/>
            <p:cNvSpPr txBox="1"/>
            <p:nvPr/>
          </p:nvSpPr>
          <p:spPr>
            <a:xfrm>
              <a:off x="4390" y="1874"/>
              <a:ext cx="591"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7" name="Google Shape;467;p29"/>
            <p:cNvSpPr txBox="1"/>
            <p:nvPr/>
          </p:nvSpPr>
          <p:spPr>
            <a:xfrm>
              <a:off x="4390" y="1922"/>
              <a:ext cx="1231" cy="193"/>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8" name="Google Shape;468;p29"/>
            <p:cNvSpPr txBox="1"/>
            <p:nvPr/>
          </p:nvSpPr>
          <p:spPr>
            <a:xfrm>
              <a:off x="4390" y="1922"/>
              <a:ext cx="295" cy="19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69" name="Google Shape;469;p29"/>
            <p:cNvSpPr txBox="1"/>
            <p:nvPr/>
          </p:nvSpPr>
          <p:spPr>
            <a:xfrm>
              <a:off x="4390" y="1729"/>
              <a:ext cx="221"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70" name="Google Shape;470;p29"/>
            <p:cNvSpPr txBox="1"/>
            <p:nvPr/>
          </p:nvSpPr>
          <p:spPr>
            <a:xfrm>
              <a:off x="4685" y="1922"/>
              <a:ext cx="296"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1" name="Google Shape;471;p29"/>
            <p:cNvSpPr txBox="1"/>
            <p:nvPr/>
          </p:nvSpPr>
          <p:spPr>
            <a:xfrm>
              <a:off x="4685" y="1536"/>
              <a:ext cx="222"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72" name="Google Shape;472;p29"/>
            <p:cNvSpPr txBox="1"/>
            <p:nvPr/>
          </p:nvSpPr>
          <p:spPr>
            <a:xfrm>
              <a:off x="4394" y="2738"/>
              <a:ext cx="1231" cy="192"/>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3" name="Google Shape;473;p29"/>
            <p:cNvSpPr txBox="1"/>
            <p:nvPr/>
          </p:nvSpPr>
          <p:spPr>
            <a:xfrm>
              <a:off x="4394" y="2738"/>
              <a:ext cx="591"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4" name="Google Shape;474;p29"/>
            <p:cNvSpPr txBox="1"/>
            <p:nvPr/>
          </p:nvSpPr>
          <p:spPr>
            <a:xfrm>
              <a:off x="4393" y="2738"/>
              <a:ext cx="148" cy="19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5" name="Google Shape;475;p29"/>
            <p:cNvSpPr txBox="1"/>
            <p:nvPr/>
          </p:nvSpPr>
          <p:spPr>
            <a:xfrm>
              <a:off x="4342" y="2545"/>
              <a:ext cx="116"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76" name="Google Shape;476;p29"/>
            <p:cNvSpPr txBox="1"/>
            <p:nvPr/>
          </p:nvSpPr>
          <p:spPr>
            <a:xfrm>
              <a:off x="4541" y="2737"/>
              <a:ext cx="148"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7" name="Google Shape;477;p29"/>
            <p:cNvSpPr txBox="1"/>
            <p:nvPr/>
          </p:nvSpPr>
          <p:spPr>
            <a:xfrm>
              <a:off x="4489" y="2352"/>
              <a:ext cx="116"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78" name="Google Shape;478;p29"/>
            <p:cNvSpPr txBox="1"/>
            <p:nvPr/>
          </p:nvSpPr>
          <p:spPr>
            <a:xfrm>
              <a:off x="4390" y="3026"/>
              <a:ext cx="1231" cy="193"/>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79" name="Google Shape;479;p29"/>
            <p:cNvSpPr txBox="1"/>
            <p:nvPr/>
          </p:nvSpPr>
          <p:spPr>
            <a:xfrm>
              <a:off x="4677" y="3026"/>
              <a:ext cx="148" cy="19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0" name="Google Shape;480;p29"/>
            <p:cNvSpPr txBox="1"/>
            <p:nvPr/>
          </p:nvSpPr>
          <p:spPr>
            <a:xfrm>
              <a:off x="4625" y="2833"/>
              <a:ext cx="116"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81" name="Google Shape;481;p29"/>
            <p:cNvSpPr txBox="1"/>
            <p:nvPr/>
          </p:nvSpPr>
          <p:spPr>
            <a:xfrm>
              <a:off x="4824" y="3026"/>
              <a:ext cx="148"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2" name="Google Shape;482;p29"/>
            <p:cNvSpPr txBox="1"/>
            <p:nvPr/>
          </p:nvSpPr>
          <p:spPr>
            <a:xfrm>
              <a:off x="4772" y="2640"/>
              <a:ext cx="116"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83" name="Google Shape;483;p29"/>
            <p:cNvSpPr txBox="1"/>
            <p:nvPr/>
          </p:nvSpPr>
          <p:spPr>
            <a:xfrm>
              <a:off x="4390" y="3601"/>
              <a:ext cx="1229" cy="193"/>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4" name="Google Shape;484;p29"/>
            <p:cNvSpPr txBox="1"/>
            <p:nvPr/>
          </p:nvSpPr>
          <p:spPr>
            <a:xfrm>
              <a:off x="5455" y="3601"/>
              <a:ext cx="164"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5" name="Google Shape;485;p29"/>
            <p:cNvSpPr txBox="1"/>
            <p:nvPr/>
          </p:nvSpPr>
          <p:spPr>
            <a:xfrm>
              <a:off x="5400" y="3216"/>
              <a:ext cx="123"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86" name="Google Shape;486;p29"/>
            <p:cNvSpPr txBox="1"/>
            <p:nvPr/>
          </p:nvSpPr>
          <p:spPr>
            <a:xfrm>
              <a:off x="5272" y="3601"/>
              <a:ext cx="184" cy="19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7" name="Google Shape;487;p29"/>
            <p:cNvSpPr txBox="1"/>
            <p:nvPr/>
          </p:nvSpPr>
          <p:spPr>
            <a:xfrm>
              <a:off x="5210" y="3408"/>
              <a:ext cx="137"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88" name="Google Shape;488;p29"/>
            <p:cNvSpPr txBox="1"/>
            <p:nvPr/>
          </p:nvSpPr>
          <p:spPr>
            <a:xfrm>
              <a:off x="4390" y="3314"/>
              <a:ext cx="1231" cy="193"/>
            </a:xfrm>
            <a:prstGeom prst="rect">
              <a:avLst/>
            </a:prstGeom>
            <a:solidFill>
              <a:srgbClr val="B2B2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89" name="Google Shape;489;p29"/>
            <p:cNvSpPr txBox="1"/>
            <p:nvPr/>
          </p:nvSpPr>
          <p:spPr>
            <a:xfrm>
              <a:off x="4974" y="3314"/>
              <a:ext cx="184" cy="19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90" name="Google Shape;490;p29"/>
            <p:cNvSpPr txBox="1"/>
            <p:nvPr/>
          </p:nvSpPr>
          <p:spPr>
            <a:xfrm>
              <a:off x="4912" y="3121"/>
              <a:ext cx="138" cy="3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800"/>
                <a:buFont typeface="Times New Roman"/>
                <a:buNone/>
              </a:pPr>
              <a:r>
                <a:rPr lang="en-US" sz="4800" b="1" i="0" u="none" baseline="-25000">
                  <a:solidFill>
                    <a:schemeClr val="dk1"/>
                  </a:solidFill>
                  <a:latin typeface="Times New Roman"/>
                  <a:ea typeface="Times New Roman"/>
                  <a:cs typeface="Times New Roman"/>
                  <a:sym typeface="Times New Roman"/>
                </a:rPr>
                <a:t>+</a:t>
              </a:r>
              <a:endParaRPr/>
            </a:p>
          </p:txBody>
        </p:sp>
        <p:sp>
          <p:nvSpPr>
            <p:cNvPr id="491" name="Google Shape;491;p29"/>
            <p:cNvSpPr txBox="1"/>
            <p:nvPr/>
          </p:nvSpPr>
          <p:spPr>
            <a:xfrm>
              <a:off x="5120" y="3314"/>
              <a:ext cx="148" cy="193"/>
            </a:xfrm>
            <a:prstGeom prst="rect">
              <a:avLst/>
            </a:prstGeom>
            <a:solidFill>
              <a:srgbClr val="66CC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492" name="Google Shape;492;p29"/>
            <p:cNvSpPr txBox="1"/>
            <p:nvPr/>
          </p:nvSpPr>
          <p:spPr>
            <a:xfrm>
              <a:off x="5068" y="2928"/>
              <a:ext cx="116" cy="5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0"/>
                <a:buFont typeface="Times New Roman"/>
                <a:buNone/>
              </a:pPr>
              <a:r>
                <a:rPr lang="en-US" sz="8000" b="1" i="0" u="none" baseline="-25000">
                  <a:solidFill>
                    <a:schemeClr val="lt1"/>
                  </a:solidFill>
                  <a:latin typeface="Times New Roman"/>
                  <a:ea typeface="Times New Roman"/>
                  <a:cs typeface="Times New Roman"/>
                  <a:sym typeface="Times New Roman"/>
                </a:rPr>
                <a:t>-</a:t>
              </a:r>
              <a:endParaRPr/>
            </a:p>
          </p:txBody>
        </p:sp>
        <p:sp>
          <p:nvSpPr>
            <p:cNvPr id="493" name="Google Shape;493;p29"/>
            <p:cNvSpPr txBox="1"/>
            <p:nvPr/>
          </p:nvSpPr>
          <p:spPr>
            <a:xfrm>
              <a:off x="4114" y="1250"/>
              <a:ext cx="164"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endParaRPr/>
            </a:p>
          </p:txBody>
        </p:sp>
        <p:sp>
          <p:nvSpPr>
            <p:cNvPr id="494" name="Google Shape;494;p29"/>
            <p:cNvSpPr txBox="1"/>
            <p:nvPr/>
          </p:nvSpPr>
          <p:spPr>
            <a:xfrm>
              <a:off x="4006" y="3264"/>
              <a:ext cx="343"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-1</a:t>
              </a:r>
              <a:endParaRPr/>
            </a:p>
          </p:txBody>
        </p:sp>
        <p:sp>
          <p:nvSpPr>
            <p:cNvPr id="495" name="Google Shape;495;p29"/>
            <p:cNvSpPr txBox="1"/>
            <p:nvPr/>
          </p:nvSpPr>
          <p:spPr>
            <a:xfrm>
              <a:off x="4006" y="3024"/>
              <a:ext cx="306"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-1</a:t>
              </a:r>
              <a:endParaRPr/>
            </a:p>
          </p:txBody>
        </p:sp>
        <p:sp>
          <p:nvSpPr>
            <p:cNvPr id="496" name="Google Shape;496;p29"/>
            <p:cNvSpPr txBox="1"/>
            <p:nvPr/>
          </p:nvSpPr>
          <p:spPr>
            <a:xfrm>
              <a:off x="3862" y="1920"/>
              <a:ext cx="386"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0.5</a:t>
              </a:r>
              <a:endParaRPr/>
            </a:p>
          </p:txBody>
        </p:sp>
        <p:sp>
          <p:nvSpPr>
            <p:cNvPr id="497" name="Google Shape;497;p29"/>
            <p:cNvSpPr txBox="1"/>
            <p:nvPr/>
          </p:nvSpPr>
          <p:spPr>
            <a:xfrm>
              <a:off x="4006" y="2208"/>
              <a:ext cx="253"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0</a:t>
              </a:r>
              <a:endParaRPr/>
            </a:p>
          </p:txBody>
        </p:sp>
        <p:sp>
          <p:nvSpPr>
            <p:cNvPr id="498" name="Google Shape;498;p29"/>
            <p:cNvSpPr txBox="1"/>
            <p:nvPr/>
          </p:nvSpPr>
          <p:spPr>
            <a:xfrm>
              <a:off x="3766" y="960"/>
              <a:ext cx="519"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2.75 </a:t>
              </a:r>
              <a:endParaRPr/>
            </a:p>
          </p:txBody>
        </p:sp>
        <p:sp>
          <p:nvSpPr>
            <p:cNvPr id="499" name="Google Shape;499;p29"/>
            <p:cNvSpPr txBox="1"/>
            <p:nvPr/>
          </p:nvSpPr>
          <p:spPr>
            <a:xfrm>
              <a:off x="3766" y="1440"/>
              <a:ext cx="528"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-1.25</a:t>
              </a:r>
              <a:endParaRPr/>
            </a:p>
          </p:txBody>
        </p:sp>
        <p:sp>
          <p:nvSpPr>
            <p:cNvPr id="500" name="Google Shape;500;p29"/>
            <p:cNvSpPr txBox="1"/>
            <p:nvPr/>
          </p:nvSpPr>
          <p:spPr>
            <a:xfrm>
              <a:off x="4054" y="2688"/>
              <a:ext cx="253"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0</a:t>
              </a:r>
              <a:endParaRPr/>
            </a:p>
          </p:txBody>
        </p:sp>
        <p:sp>
          <p:nvSpPr>
            <p:cNvPr id="501" name="Google Shape;501;p29"/>
            <p:cNvSpPr txBox="1"/>
            <p:nvPr/>
          </p:nvSpPr>
          <p:spPr>
            <a:xfrm>
              <a:off x="4054" y="3552"/>
              <a:ext cx="253"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0</a:t>
              </a:r>
              <a:endParaRPr/>
            </a:p>
          </p:txBody>
        </p:sp>
      </p:grpSp>
      <p:sp>
        <p:nvSpPr>
          <p:cNvPr id="502" name="Google Shape;502;p29"/>
          <p:cNvSpPr txBox="1"/>
          <p:nvPr/>
        </p:nvSpPr>
        <p:spPr>
          <a:xfrm>
            <a:off x="-701675" y="1428750"/>
            <a:ext cx="18415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03" name="Google Shape;503;p29"/>
          <p:cNvSpPr/>
          <p:nvPr/>
        </p:nvSpPr>
        <p:spPr>
          <a:xfrm rot="-5400000">
            <a:off x="3124200" y="2743200"/>
            <a:ext cx="228600" cy="5562600"/>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04" name="Google Shape;504;p29"/>
          <p:cNvSpPr txBox="1"/>
          <p:nvPr/>
        </p:nvSpPr>
        <p:spPr>
          <a:xfrm>
            <a:off x="1524000" y="5638800"/>
            <a:ext cx="40386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a:t>
            </a:r>
            <a:r>
              <a:rPr lang="en-US" sz="2000" b="1" i="0" u="none">
                <a:solidFill>
                  <a:schemeClr val="dk1"/>
                </a:solidFill>
                <a:latin typeface="Arial"/>
                <a:ea typeface="Arial"/>
                <a:cs typeface="Arial"/>
                <a:sym typeface="Arial"/>
              </a:rPr>
              <a:t>Original frequency distribution</a:t>
            </a:r>
            <a:endParaRPr/>
          </a:p>
        </p:txBody>
      </p:sp>
      <p:sp>
        <p:nvSpPr>
          <p:cNvPr id="505" name="Google Shape;505;p29"/>
          <p:cNvSpPr txBox="1"/>
          <p:nvPr/>
        </p:nvSpPr>
        <p:spPr>
          <a:xfrm>
            <a:off x="250825" y="1484312"/>
            <a:ext cx="2305050" cy="15525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Hierarchical decomposition structure (a.k.a. “error tree”)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30</a:t>
            </a:fld>
            <a:endParaRPr/>
          </a:p>
        </p:txBody>
      </p:sp>
      <p:sp>
        <p:nvSpPr>
          <p:cNvPr id="512" name="Google Shape;512;p30"/>
          <p:cNvSpPr txBox="1">
            <a:spLocks noGrp="1"/>
          </p:cNvSpPr>
          <p:nvPr>
            <p:ph type="title" idx="4294967295"/>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Why Wavelet Transform?</a:t>
            </a:r>
            <a:endParaRPr/>
          </a:p>
        </p:txBody>
      </p:sp>
      <p:sp>
        <p:nvSpPr>
          <p:cNvPr id="513" name="Google Shape;513;p30"/>
          <p:cNvSpPr txBox="1">
            <a:spLocks noGrp="1"/>
          </p:cNvSpPr>
          <p:nvPr>
            <p:ph type="body" idx="4294967295"/>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Use hat-shape filters</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Emphasize region where points cluster</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Suppress weaker information in their boundaries  </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Effective removal of outliers</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Insensitive to noise, insensitive to input order</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Multi-resolution</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Detect arbitrary shaped clusters at different scales</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Efficient</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Complexity O(N)</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Only applicable to low dimensional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31</a:t>
            </a:fld>
            <a:endParaRPr/>
          </a:p>
        </p:txBody>
      </p:sp>
      <p:grpSp>
        <p:nvGrpSpPr>
          <p:cNvPr id="520" name="Google Shape;520;p31"/>
          <p:cNvGrpSpPr/>
          <p:nvPr/>
        </p:nvGrpSpPr>
        <p:grpSpPr>
          <a:xfrm>
            <a:off x="2078037" y="2922587"/>
            <a:ext cx="4343400" cy="3536950"/>
            <a:chOff x="1526" y="1936"/>
            <a:chExt cx="2177" cy="1983"/>
          </a:xfrm>
        </p:grpSpPr>
        <p:sp>
          <p:nvSpPr>
            <p:cNvPr id="521" name="Google Shape;521;p31"/>
            <p:cNvSpPr txBox="1"/>
            <p:nvPr/>
          </p:nvSpPr>
          <p:spPr>
            <a:xfrm>
              <a:off x="1526" y="1936"/>
              <a:ext cx="219" cy="25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x</a:t>
              </a:r>
              <a:r>
                <a:rPr lang="en-US" sz="2400" b="0" i="0" u="none" baseline="-25000">
                  <a:solidFill>
                    <a:schemeClr val="dk1"/>
                  </a:solidFill>
                  <a:latin typeface="Times New Roman"/>
                  <a:ea typeface="Times New Roman"/>
                  <a:cs typeface="Times New Roman"/>
                  <a:sym typeface="Times New Roman"/>
                </a:rPr>
                <a:t>2</a:t>
              </a:r>
              <a:endParaRPr/>
            </a:p>
          </p:txBody>
        </p:sp>
        <p:cxnSp>
          <p:nvCxnSpPr>
            <p:cNvPr id="522" name="Google Shape;522;p31"/>
            <p:cNvCxnSpPr/>
            <p:nvPr/>
          </p:nvCxnSpPr>
          <p:spPr>
            <a:xfrm rot="10800000">
              <a:off x="1820" y="1952"/>
              <a:ext cx="0" cy="1656"/>
            </a:xfrm>
            <a:prstGeom prst="straightConnector1">
              <a:avLst/>
            </a:prstGeom>
            <a:noFill/>
            <a:ln w="12700" cap="flat" cmpd="sng">
              <a:solidFill>
                <a:schemeClr val="dk1"/>
              </a:solidFill>
              <a:prstDash val="solid"/>
              <a:miter lim="800000"/>
              <a:headEnd type="none" w="med" len="med"/>
              <a:tailEnd type="triangle" w="sm" len="sm"/>
            </a:ln>
          </p:spPr>
        </p:cxnSp>
        <p:cxnSp>
          <p:nvCxnSpPr>
            <p:cNvPr id="523" name="Google Shape;523;p31"/>
            <p:cNvCxnSpPr/>
            <p:nvPr/>
          </p:nvCxnSpPr>
          <p:spPr>
            <a:xfrm>
              <a:off x="1820" y="3608"/>
              <a:ext cx="1712" cy="0"/>
            </a:xfrm>
            <a:prstGeom prst="straightConnector1">
              <a:avLst/>
            </a:prstGeom>
            <a:noFill/>
            <a:ln w="12700" cap="flat" cmpd="sng">
              <a:solidFill>
                <a:schemeClr val="dk1"/>
              </a:solidFill>
              <a:prstDash val="solid"/>
              <a:miter lim="800000"/>
              <a:headEnd type="none" w="med" len="med"/>
              <a:tailEnd type="triangle" w="sm" len="sm"/>
            </a:ln>
          </p:spPr>
        </p:cxnSp>
        <p:cxnSp>
          <p:nvCxnSpPr>
            <p:cNvPr id="524" name="Google Shape;524;p31"/>
            <p:cNvCxnSpPr/>
            <p:nvPr/>
          </p:nvCxnSpPr>
          <p:spPr>
            <a:xfrm rot="10800000" flipH="1">
              <a:off x="1828" y="2717"/>
              <a:ext cx="1632" cy="882"/>
            </a:xfrm>
            <a:prstGeom prst="straightConnector1">
              <a:avLst/>
            </a:prstGeom>
            <a:noFill/>
            <a:ln w="28575" cap="flat" cmpd="sng">
              <a:solidFill>
                <a:schemeClr val="dk2"/>
              </a:solidFill>
              <a:prstDash val="solid"/>
              <a:miter lim="800000"/>
              <a:headEnd type="none" w="med" len="med"/>
              <a:tailEnd type="triangle" w="sm" len="sm"/>
            </a:ln>
          </p:spPr>
        </p:cxnSp>
        <p:sp>
          <p:nvSpPr>
            <p:cNvPr id="525" name="Google Shape;525;p31"/>
            <p:cNvSpPr/>
            <p:nvPr/>
          </p:nvSpPr>
          <p:spPr>
            <a:xfrm>
              <a:off x="2164" y="3234"/>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26" name="Google Shape;526;p31"/>
            <p:cNvSpPr/>
            <p:nvPr/>
          </p:nvSpPr>
          <p:spPr>
            <a:xfrm>
              <a:off x="2340" y="3093"/>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27" name="Google Shape;527;p31"/>
            <p:cNvSpPr/>
            <p:nvPr/>
          </p:nvSpPr>
          <p:spPr>
            <a:xfrm>
              <a:off x="2044" y="3417"/>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28" name="Google Shape;528;p31"/>
            <p:cNvSpPr/>
            <p:nvPr/>
          </p:nvSpPr>
          <p:spPr>
            <a:xfrm>
              <a:off x="2428" y="3160"/>
              <a:ext cx="47" cy="48"/>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29" name="Google Shape;529;p31"/>
            <p:cNvSpPr/>
            <p:nvPr/>
          </p:nvSpPr>
          <p:spPr>
            <a:xfrm>
              <a:off x="2332" y="3226"/>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0" name="Google Shape;530;p31"/>
            <p:cNvSpPr/>
            <p:nvPr/>
          </p:nvSpPr>
          <p:spPr>
            <a:xfrm>
              <a:off x="2692" y="3218"/>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1" name="Google Shape;531;p31"/>
            <p:cNvSpPr/>
            <p:nvPr/>
          </p:nvSpPr>
          <p:spPr>
            <a:xfrm>
              <a:off x="2612" y="3426"/>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2" name="Google Shape;532;p31"/>
            <p:cNvSpPr/>
            <p:nvPr/>
          </p:nvSpPr>
          <p:spPr>
            <a:xfrm>
              <a:off x="2468" y="3359"/>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3" name="Google Shape;533;p31"/>
            <p:cNvSpPr/>
            <p:nvPr/>
          </p:nvSpPr>
          <p:spPr>
            <a:xfrm>
              <a:off x="2588" y="3018"/>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4" name="Google Shape;534;p31"/>
            <p:cNvSpPr/>
            <p:nvPr/>
          </p:nvSpPr>
          <p:spPr>
            <a:xfrm>
              <a:off x="2964" y="3093"/>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5" name="Google Shape;535;p31"/>
            <p:cNvSpPr/>
            <p:nvPr/>
          </p:nvSpPr>
          <p:spPr>
            <a:xfrm>
              <a:off x="3204" y="2768"/>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6" name="Google Shape;536;p31"/>
            <p:cNvSpPr/>
            <p:nvPr/>
          </p:nvSpPr>
          <p:spPr>
            <a:xfrm>
              <a:off x="2236" y="3442"/>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7" name="Google Shape;537;p31"/>
            <p:cNvSpPr/>
            <p:nvPr/>
          </p:nvSpPr>
          <p:spPr>
            <a:xfrm>
              <a:off x="2756" y="3001"/>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8" name="Google Shape;538;p31"/>
            <p:cNvSpPr/>
            <p:nvPr/>
          </p:nvSpPr>
          <p:spPr>
            <a:xfrm>
              <a:off x="2932" y="2818"/>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39" name="Google Shape;539;p31"/>
            <p:cNvSpPr/>
            <p:nvPr/>
          </p:nvSpPr>
          <p:spPr>
            <a:xfrm>
              <a:off x="2452" y="3026"/>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40" name="Google Shape;540;p31"/>
            <p:cNvSpPr/>
            <p:nvPr/>
          </p:nvSpPr>
          <p:spPr>
            <a:xfrm>
              <a:off x="2836" y="2902"/>
              <a:ext cx="47" cy="48"/>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41" name="Google Shape;541;p31"/>
            <p:cNvSpPr/>
            <p:nvPr/>
          </p:nvSpPr>
          <p:spPr>
            <a:xfrm>
              <a:off x="2908" y="3243"/>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42" name="Google Shape;542;p31"/>
            <p:cNvSpPr/>
            <p:nvPr/>
          </p:nvSpPr>
          <p:spPr>
            <a:xfrm>
              <a:off x="1928" y="2697"/>
              <a:ext cx="1457" cy="1006"/>
            </a:xfrm>
            <a:custGeom>
              <a:avLst/>
              <a:gdLst/>
              <a:ahLst/>
              <a:cxnLst/>
              <a:rect l="l" t="t" r="r" b="b"/>
              <a:pathLst>
                <a:path w="1457" h="968" extrusionOk="0">
                  <a:moveTo>
                    <a:pt x="4" y="796"/>
                  </a:moveTo>
                  <a:cubicBezTo>
                    <a:pt x="8" y="703"/>
                    <a:pt x="93" y="499"/>
                    <a:pt x="212" y="388"/>
                  </a:cubicBezTo>
                  <a:cubicBezTo>
                    <a:pt x="331" y="277"/>
                    <a:pt x="525" y="193"/>
                    <a:pt x="716" y="132"/>
                  </a:cubicBezTo>
                  <a:cubicBezTo>
                    <a:pt x="907" y="71"/>
                    <a:pt x="1255" y="0"/>
                    <a:pt x="1356" y="20"/>
                  </a:cubicBezTo>
                  <a:cubicBezTo>
                    <a:pt x="1457" y="40"/>
                    <a:pt x="1393" y="139"/>
                    <a:pt x="1324" y="252"/>
                  </a:cubicBezTo>
                  <a:cubicBezTo>
                    <a:pt x="1255" y="365"/>
                    <a:pt x="1129" y="584"/>
                    <a:pt x="940" y="700"/>
                  </a:cubicBezTo>
                  <a:cubicBezTo>
                    <a:pt x="751" y="816"/>
                    <a:pt x="344" y="928"/>
                    <a:pt x="188" y="948"/>
                  </a:cubicBezTo>
                  <a:cubicBezTo>
                    <a:pt x="32" y="968"/>
                    <a:pt x="0" y="889"/>
                    <a:pt x="4" y="796"/>
                  </a:cubicBezTo>
                  <a:close/>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43" name="Google Shape;543;p31"/>
            <p:cNvSpPr/>
            <p:nvPr/>
          </p:nvSpPr>
          <p:spPr>
            <a:xfrm>
              <a:off x="2124" y="3559"/>
              <a:ext cx="47" cy="49"/>
            </a:xfrm>
            <a:prstGeom prst="ellipse">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44" name="Google Shape;544;p31"/>
            <p:cNvSpPr txBox="1"/>
            <p:nvPr/>
          </p:nvSpPr>
          <p:spPr>
            <a:xfrm>
              <a:off x="3484" y="3663"/>
              <a:ext cx="219" cy="25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x</a:t>
              </a:r>
              <a:r>
                <a:rPr lang="en-US" sz="2400" b="0" i="0" u="none" baseline="-25000">
                  <a:solidFill>
                    <a:schemeClr val="dk1"/>
                  </a:solidFill>
                  <a:latin typeface="Times New Roman"/>
                  <a:ea typeface="Times New Roman"/>
                  <a:cs typeface="Times New Roman"/>
                  <a:sym typeface="Times New Roman"/>
                </a:rPr>
                <a:t>1</a:t>
              </a:r>
              <a:endParaRPr/>
            </a:p>
          </p:txBody>
        </p:sp>
        <p:sp>
          <p:nvSpPr>
            <p:cNvPr id="545" name="Google Shape;545;p31"/>
            <p:cNvSpPr txBox="1"/>
            <p:nvPr/>
          </p:nvSpPr>
          <p:spPr>
            <a:xfrm>
              <a:off x="3524" y="2511"/>
              <a:ext cx="160" cy="25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e</a:t>
              </a:r>
              <a:endParaRPr/>
            </a:p>
          </p:txBody>
        </p:sp>
      </p:grpSp>
      <p:sp>
        <p:nvSpPr>
          <p:cNvPr id="546" name="Google Shape;546;p31"/>
          <p:cNvSpPr txBox="1">
            <a:spLocks noGrp="1"/>
          </p:cNvSpPr>
          <p:nvPr>
            <p:ph type="title"/>
          </p:nvPr>
        </p:nvSpPr>
        <p:spPr>
          <a:xfrm>
            <a:off x="152400" y="152400"/>
            <a:ext cx="8763000" cy="838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Principal Component Analysis (PCA)</a:t>
            </a:r>
            <a:endParaRPr/>
          </a:p>
        </p:txBody>
      </p:sp>
      <p:sp>
        <p:nvSpPr>
          <p:cNvPr id="547" name="Google Shape;547;p31"/>
          <p:cNvSpPr txBox="1">
            <a:spLocks noGrp="1"/>
          </p:cNvSpPr>
          <p:nvPr>
            <p:ph type="body" idx="1"/>
          </p:nvPr>
        </p:nvSpPr>
        <p:spPr>
          <a:xfrm>
            <a:off x="304800" y="1295400"/>
            <a:ext cx="8382000" cy="16002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Find a projection that captures the largest amount of variation in data</a:t>
            </a:r>
            <a:endParaRPr/>
          </a:p>
          <a:p>
            <a:pPr marL="342900" lvl="0" indent="-342900" algn="l" rtl="0">
              <a:lnSpc>
                <a:spcPct val="11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The original data are projected onto a much smaller space, resulting in dimensionality reduction. We find the eigenvectors of the covariance matrix, and these eigenvectors define the new space</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8F7B9-4779-9BAD-5D83-016D452E4822}"/>
              </a:ext>
            </a:extLst>
          </p:cNvPr>
          <p:cNvSpPr>
            <a:spLocks noGrp="1"/>
          </p:cNvSpPr>
          <p:nvPr>
            <p:ph type="title"/>
          </p:nvPr>
        </p:nvSpPr>
        <p:spPr/>
        <p:txBody>
          <a:bodyPr/>
          <a:lstStyle/>
          <a:p>
            <a:endParaRPr lang="en-IN"/>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66F0852-2301-A533-D154-E29D21C6168D}"/>
                  </a:ext>
                </a:extLst>
              </p:cNvPr>
              <p:cNvSpPr>
                <a:spLocks noGrp="1"/>
              </p:cNvSpPr>
              <p:nvPr>
                <p:ph type="body" idx="1"/>
              </p:nvPr>
            </p:nvSpPr>
            <p:spPr/>
            <p:txBody>
              <a:bodyPr/>
              <a:lstStyle/>
              <a:p>
                <a:pPr marL="160020" indent="0">
                  <a:buNone/>
                </a:pPr>
                <a:r>
                  <a:rPr lang="en-US" b="1" dirty="0">
                    <a:latin typeface="Arial Narrow" panose="020B0606020202030204" pitchFamily="34" charset="0"/>
                  </a:rPr>
                  <a:t>Steps in PCA Algorithm</a:t>
                </a:r>
              </a:p>
              <a:p>
                <a:pPr marL="160020" indent="0">
                  <a:buNone/>
                </a:pPr>
                <a:r>
                  <a:rPr lang="en-US" dirty="0">
                    <a:latin typeface="Arial Narrow" panose="020B0606020202030204" pitchFamily="34" charset="0"/>
                  </a:rPr>
                  <a:t>Collect the dataset. </a:t>
                </a:r>
              </a:p>
              <a:p>
                <a:pPr marL="160020" indent="0">
                  <a:buNone/>
                </a:pPr>
                <a:r>
                  <a:rPr lang="en-US" dirty="0">
                    <a:latin typeface="Arial Narrow" panose="020B0606020202030204" pitchFamily="34" charset="0"/>
                  </a:rPr>
                  <a:t>Standardize the features. </a:t>
                </a:r>
              </a:p>
              <a:p>
                <a:pPr marL="160020" indent="0">
                  <a:buNone/>
                </a:pPr>
                <a:r>
                  <a:rPr lang="en-US" dirty="0">
                    <a:latin typeface="Arial Narrow" panose="020B0606020202030204" pitchFamily="34" charset="0"/>
                  </a:rPr>
                  <a:t>Compute the covariance matrix. </a:t>
                </a:r>
              </a:p>
              <a:p>
                <a:pPr marL="160020" indent="0">
                  <a:buNone/>
                </a:pPr>
                <a:r>
                  <a:rPr lang="en-US" dirty="0">
                    <a:latin typeface="Arial Narrow" panose="020B0606020202030204" pitchFamily="34" charset="0"/>
                  </a:rPr>
                  <a:t>Find eigenvalues and eigenvectors. </a:t>
                </a:r>
              </a:p>
              <a:p>
                <a:pPr marL="160020" indent="0">
                  <a:buNone/>
                </a:pPr>
                <a:r>
                  <a:rPr lang="en-US" dirty="0">
                    <a:latin typeface="Arial Narrow" panose="020B0606020202030204" pitchFamily="34" charset="0"/>
                  </a:rPr>
                  <a:t>Sort components by explained variance. </a:t>
                </a:r>
              </a:p>
              <a:p>
                <a:pPr marL="160020" indent="0">
                  <a:buNone/>
                </a:pPr>
                <a:r>
                  <a:rPr lang="en-US" dirty="0">
                    <a:latin typeface="Arial Narrow" panose="020B0606020202030204" pitchFamily="34" charset="0"/>
                  </a:rPr>
                  <a:t>Choose the top </a:t>
                </a:r>
                <a14:m>
                  <m:oMath xmlns:m="http://schemas.openxmlformats.org/officeDocument/2006/math">
                    <m:r>
                      <a:rPr lang="en-US" i="1"/>
                      <m:t>𝑘</m:t>
                    </m:r>
                  </m:oMath>
                </a14:m>
                <a:r>
                  <a:rPr lang="en-US" dirty="0">
                    <a:latin typeface="Arial Narrow" panose="020B0606020202030204" pitchFamily="34" charset="0"/>
                  </a:rPr>
                  <a:t>components. </a:t>
                </a:r>
              </a:p>
              <a:p>
                <a:pPr marL="160020" indent="0">
                  <a:buNone/>
                </a:pPr>
                <a:r>
                  <a:rPr lang="en-US" dirty="0">
                    <a:latin typeface="Arial Narrow" panose="020B0606020202030204" pitchFamily="34" charset="0"/>
                  </a:rPr>
                  <a:t>Transform the original dataset.</a:t>
                </a:r>
              </a:p>
              <a:p>
                <a:pPr marL="160020" indent="0">
                  <a:buNone/>
                </a:pPr>
                <a:endParaRPr lang="en-IN" dirty="0">
                  <a:latin typeface="Arial Narrow" panose="020B0606020202030204" pitchFamily="34" charset="0"/>
                </a:endParaRPr>
              </a:p>
            </p:txBody>
          </p:sp>
        </mc:Choice>
        <mc:Fallback>
          <p:sp>
            <p:nvSpPr>
              <p:cNvPr id="3" name="Text Placeholder 2">
                <a:extLst>
                  <a:ext uri="{FF2B5EF4-FFF2-40B4-BE49-F238E27FC236}">
                    <a16:creationId xmlns:a16="http://schemas.microsoft.com/office/drawing/2014/main" id="{966F0852-2301-A533-D154-E29D21C6168D}"/>
                  </a:ext>
                </a:extLst>
              </p:cNvPr>
              <p:cNvSpPr>
                <a:spLocks noGrp="1" noRot="1" noChangeAspect="1" noMove="1" noResize="1" noEditPoints="1" noAdjustHandles="1" noChangeArrowheads="1" noChangeShapeType="1" noTextEdit="1"/>
              </p:cNvSpPr>
              <p:nvPr>
                <p:ph type="body" idx="1"/>
              </p:nvPr>
            </p:nvSpPr>
            <p:spPr>
              <a:blipFill>
                <a:blip r:embed="rId2"/>
                <a:stretch>
                  <a:fillRect t="-353"/>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09B6DF13-9815-4EDD-7131-B552A7AABAD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1011905559"/>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33</a:t>
            </a:fld>
            <a:endParaRPr/>
          </a:p>
        </p:txBody>
      </p:sp>
      <p:sp>
        <p:nvSpPr>
          <p:cNvPr id="554" name="Google Shape;554;p32"/>
          <p:cNvSpPr txBox="1">
            <a:spLocks noGrp="1"/>
          </p:cNvSpPr>
          <p:nvPr>
            <p:ph type="body" idx="1"/>
          </p:nvPr>
        </p:nvSpPr>
        <p:spPr>
          <a:xfrm>
            <a:off x="304800" y="1295400"/>
            <a:ext cx="8534400" cy="52578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Given </a:t>
            </a:r>
            <a:r>
              <a:rPr lang="en-US" sz="2000" b="0" i="1" u="none">
                <a:solidFill>
                  <a:schemeClr val="dk1"/>
                </a:solidFill>
                <a:latin typeface="Tahoma"/>
                <a:ea typeface="Tahoma"/>
                <a:cs typeface="Tahoma"/>
                <a:sym typeface="Tahoma"/>
              </a:rPr>
              <a:t>N</a:t>
            </a:r>
            <a:r>
              <a:rPr lang="en-US" sz="2000" b="0" i="0" u="none">
                <a:solidFill>
                  <a:schemeClr val="dk1"/>
                </a:solidFill>
                <a:latin typeface="Tahoma"/>
                <a:ea typeface="Tahoma"/>
                <a:cs typeface="Tahoma"/>
                <a:sym typeface="Tahoma"/>
              </a:rPr>
              <a:t> data vectors from </a:t>
            </a:r>
            <a:r>
              <a:rPr lang="en-US" sz="2000" b="0" i="1" u="none">
                <a:solidFill>
                  <a:schemeClr val="dk1"/>
                </a:solidFill>
                <a:latin typeface="Tahoma"/>
                <a:ea typeface="Tahoma"/>
                <a:cs typeface="Tahoma"/>
                <a:sym typeface="Tahoma"/>
              </a:rPr>
              <a:t>n</a:t>
            </a:r>
            <a:r>
              <a:rPr lang="en-US" sz="2000" b="0" i="0" u="none">
                <a:solidFill>
                  <a:schemeClr val="dk1"/>
                </a:solidFill>
                <a:latin typeface="Tahoma"/>
                <a:ea typeface="Tahoma"/>
                <a:cs typeface="Tahoma"/>
                <a:sym typeface="Tahoma"/>
              </a:rPr>
              <a:t>-dimensions, find </a:t>
            </a:r>
            <a:r>
              <a:rPr lang="en-US" sz="2000" b="0" i="1" u="none">
                <a:solidFill>
                  <a:schemeClr val="dk1"/>
                </a:solidFill>
                <a:latin typeface="Tahoma"/>
                <a:ea typeface="Tahoma"/>
                <a:cs typeface="Tahoma"/>
                <a:sym typeface="Tahoma"/>
              </a:rPr>
              <a:t>k</a:t>
            </a:r>
            <a:r>
              <a:rPr lang="en-US" sz="2000" b="0" i="0" u="none">
                <a:solidFill>
                  <a:schemeClr val="dk1"/>
                </a:solidFill>
                <a:latin typeface="Tahoma"/>
                <a:ea typeface="Tahoma"/>
                <a:cs typeface="Tahoma"/>
                <a:sym typeface="Tahoma"/>
              </a:rPr>
              <a:t> ≤ </a:t>
            </a:r>
            <a:r>
              <a:rPr lang="en-US" sz="2000" b="0" i="1" u="none">
                <a:solidFill>
                  <a:schemeClr val="dk1"/>
                </a:solidFill>
                <a:latin typeface="Tahoma"/>
                <a:ea typeface="Tahoma"/>
                <a:cs typeface="Tahoma"/>
                <a:sym typeface="Tahoma"/>
              </a:rPr>
              <a:t>n </a:t>
            </a:r>
            <a:r>
              <a:rPr lang="en-US" sz="2000" b="0" i="0" u="none">
                <a:solidFill>
                  <a:schemeClr val="dk1"/>
                </a:solidFill>
                <a:latin typeface="Tahoma"/>
                <a:ea typeface="Tahoma"/>
                <a:cs typeface="Tahoma"/>
                <a:sym typeface="Tahoma"/>
              </a:rPr>
              <a:t>orthogonal vectors (</a:t>
            </a:r>
            <a:r>
              <a:rPr lang="en-US" sz="2000" b="0" i="1" u="none">
                <a:solidFill>
                  <a:schemeClr val="dk1"/>
                </a:solidFill>
                <a:latin typeface="Tahoma"/>
                <a:ea typeface="Tahoma"/>
                <a:cs typeface="Tahoma"/>
                <a:sym typeface="Tahoma"/>
              </a:rPr>
              <a:t>principal components</a:t>
            </a:r>
            <a:r>
              <a:rPr lang="en-US" sz="2000" b="0" i="0" u="none">
                <a:solidFill>
                  <a:schemeClr val="dk1"/>
                </a:solidFill>
                <a:latin typeface="Tahoma"/>
                <a:ea typeface="Tahoma"/>
                <a:cs typeface="Tahoma"/>
                <a:sym typeface="Tahoma"/>
              </a:rPr>
              <a:t>) that can be best used to represent data </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Normalize input data: Each attribute falls within the same range</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Compute </a:t>
            </a:r>
            <a:r>
              <a:rPr lang="en-US" sz="2000" b="0" i="1" u="none">
                <a:solidFill>
                  <a:schemeClr val="dk1"/>
                </a:solidFill>
                <a:latin typeface="Tahoma"/>
                <a:ea typeface="Tahoma"/>
                <a:cs typeface="Tahoma"/>
                <a:sym typeface="Tahoma"/>
              </a:rPr>
              <a:t>k</a:t>
            </a:r>
            <a:r>
              <a:rPr lang="en-US" sz="2000" b="0" i="0" u="none">
                <a:solidFill>
                  <a:schemeClr val="dk1"/>
                </a:solidFill>
                <a:latin typeface="Tahoma"/>
                <a:ea typeface="Tahoma"/>
                <a:cs typeface="Tahoma"/>
                <a:sym typeface="Tahoma"/>
              </a:rPr>
              <a:t> orthonormal (unit) vectors, i.e., </a:t>
            </a:r>
            <a:r>
              <a:rPr lang="en-US" sz="2000" b="0" i="1" u="none">
                <a:solidFill>
                  <a:schemeClr val="dk1"/>
                </a:solidFill>
                <a:latin typeface="Tahoma"/>
                <a:ea typeface="Tahoma"/>
                <a:cs typeface="Tahoma"/>
                <a:sym typeface="Tahoma"/>
              </a:rPr>
              <a:t>principal components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Each input data (vector) is a linear combination of the </a:t>
            </a:r>
            <a:r>
              <a:rPr lang="en-US" sz="2000" b="0" i="1" u="none">
                <a:solidFill>
                  <a:schemeClr val="dk1"/>
                </a:solidFill>
                <a:latin typeface="Tahoma"/>
                <a:ea typeface="Tahoma"/>
                <a:cs typeface="Tahoma"/>
                <a:sym typeface="Tahoma"/>
              </a:rPr>
              <a:t>k</a:t>
            </a:r>
            <a:r>
              <a:rPr lang="en-US" sz="2000" b="0" i="0" u="none">
                <a:solidFill>
                  <a:schemeClr val="dk1"/>
                </a:solidFill>
                <a:latin typeface="Tahoma"/>
                <a:ea typeface="Tahoma"/>
                <a:cs typeface="Tahoma"/>
                <a:sym typeface="Tahoma"/>
              </a:rPr>
              <a:t> principal component vectors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The principal components are sorted in order of decreasing “significance” or strength</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Since the components are sorted, the size of the data can be reduced by eliminating the </a:t>
            </a:r>
            <a:r>
              <a:rPr lang="en-US" sz="2000" b="0" i="1" u="none">
                <a:solidFill>
                  <a:schemeClr val="dk1"/>
                </a:solidFill>
                <a:latin typeface="Tahoma"/>
                <a:ea typeface="Tahoma"/>
                <a:cs typeface="Tahoma"/>
                <a:sym typeface="Tahoma"/>
              </a:rPr>
              <a:t>weak components</a:t>
            </a:r>
            <a:r>
              <a:rPr lang="en-US" sz="2000" b="0" i="0" u="none">
                <a:solidFill>
                  <a:schemeClr val="dk1"/>
                </a:solidFill>
                <a:latin typeface="Tahoma"/>
                <a:ea typeface="Tahoma"/>
                <a:cs typeface="Tahoma"/>
                <a:sym typeface="Tahoma"/>
              </a:rPr>
              <a:t>, i.e., those with low variance (i.e., using the strongest principal components, it is possible to reconstruct a good approximation of the original data)</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Works for numeric data only</a:t>
            </a:r>
            <a:endParaRPr/>
          </a:p>
        </p:txBody>
      </p:sp>
      <p:sp>
        <p:nvSpPr>
          <p:cNvPr id="555" name="Google Shape;555;p32"/>
          <p:cNvSpPr txBox="1">
            <a:spLocks noGrp="1"/>
          </p:cNvSpPr>
          <p:nvPr>
            <p:ph type="title"/>
          </p:nvPr>
        </p:nvSpPr>
        <p:spPr>
          <a:xfrm>
            <a:off x="0" y="152400"/>
            <a:ext cx="9144000" cy="990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Principal Component Analysis (Steps)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34</a:t>
            </a:fld>
            <a:endParaRPr/>
          </a:p>
        </p:txBody>
      </p:sp>
      <p:sp>
        <p:nvSpPr>
          <p:cNvPr id="562" name="Google Shape;562;p33"/>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Attribute Subset Selection</a:t>
            </a:r>
            <a:endParaRPr/>
          </a:p>
        </p:txBody>
      </p:sp>
      <p:sp>
        <p:nvSpPr>
          <p:cNvPr id="563" name="Google Shape;563;p33"/>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Another way to reduce dimensionality of data</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Redundant attributes </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Duplicate much or all of the information contained in one or more other attributes</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E.g., purchase price of a product and the amount of sales tax paid</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Irrelevant attributes</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Contain no information that is useful for the data mining task at hand</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E.g., students' ID is often irrelevant to the task of predicting students' GPA</a:t>
            </a:r>
            <a:endParaRPr/>
          </a:p>
        </p:txBody>
      </p:sp>
      <p:sp>
        <p:nvSpPr>
          <p:cNvPr id="564" name="Google Shape;564;p33"/>
          <p:cNvSpPr txBox="1"/>
          <p:nvPr/>
        </p:nvSpPr>
        <p:spPr>
          <a:xfrm>
            <a:off x="1676400" y="3657600"/>
            <a:ext cx="16002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565" name="Google Shape;565;p33"/>
          <p:cNvSpPr txBox="1"/>
          <p:nvPr/>
        </p:nvSpPr>
        <p:spPr>
          <a:xfrm>
            <a:off x="1717675" y="5984875"/>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35</a:t>
            </a:fld>
            <a:endParaRPr/>
          </a:p>
        </p:txBody>
      </p:sp>
      <p:sp>
        <p:nvSpPr>
          <p:cNvPr id="572" name="Google Shape;572;p34"/>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Heuristic Search in Attribute Selection</a:t>
            </a:r>
            <a:endParaRPr/>
          </a:p>
        </p:txBody>
      </p:sp>
      <p:sp>
        <p:nvSpPr>
          <p:cNvPr id="573" name="Google Shape;573;p34"/>
          <p:cNvSpPr txBox="1">
            <a:spLocks noGrp="1"/>
          </p:cNvSpPr>
          <p:nvPr>
            <p:ph type="body" idx="1"/>
          </p:nvPr>
        </p:nvSpPr>
        <p:spPr>
          <a:xfrm>
            <a:off x="304800" y="1295400"/>
            <a:ext cx="86106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There are </a:t>
            </a:r>
            <a:r>
              <a:rPr lang="en-US" sz="2400" b="0" i="1" u="none">
                <a:solidFill>
                  <a:schemeClr val="dk1"/>
                </a:solidFill>
                <a:latin typeface="Tahoma"/>
                <a:ea typeface="Tahoma"/>
                <a:cs typeface="Tahoma"/>
                <a:sym typeface="Tahoma"/>
              </a:rPr>
              <a:t>2</a:t>
            </a:r>
            <a:r>
              <a:rPr lang="en-US" sz="2400" b="0" i="1" u="none" baseline="30000">
                <a:solidFill>
                  <a:schemeClr val="dk1"/>
                </a:solidFill>
                <a:latin typeface="Tahoma"/>
                <a:ea typeface="Tahoma"/>
                <a:cs typeface="Tahoma"/>
                <a:sym typeface="Tahoma"/>
              </a:rPr>
              <a:t>d</a:t>
            </a:r>
            <a:r>
              <a:rPr lang="en-US" sz="2400" b="0" i="0" u="none">
                <a:solidFill>
                  <a:schemeClr val="dk1"/>
                </a:solidFill>
                <a:latin typeface="Tahoma"/>
                <a:ea typeface="Tahoma"/>
                <a:cs typeface="Tahoma"/>
                <a:sym typeface="Tahoma"/>
              </a:rPr>
              <a:t> possible attribute combinations of </a:t>
            </a:r>
            <a:r>
              <a:rPr lang="en-US" sz="2400" b="0" i="1" u="none">
                <a:solidFill>
                  <a:schemeClr val="dk1"/>
                </a:solidFill>
                <a:latin typeface="Tahoma"/>
                <a:ea typeface="Tahoma"/>
                <a:cs typeface="Tahoma"/>
                <a:sym typeface="Tahoma"/>
              </a:rPr>
              <a:t>d</a:t>
            </a:r>
            <a:r>
              <a:rPr lang="en-US" sz="2400" b="0" i="0" u="none">
                <a:solidFill>
                  <a:schemeClr val="dk1"/>
                </a:solidFill>
                <a:latin typeface="Tahoma"/>
                <a:ea typeface="Tahoma"/>
                <a:cs typeface="Tahoma"/>
                <a:sym typeface="Tahoma"/>
              </a:rPr>
              <a:t>  attributes</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Typical heuristic attribute selection methods: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Best single attribute under the attribute independence assumption: choose by significance tests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Best step-wise feature selection:</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The best single-attribute is picked first</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Then next best attribute condition to the first, ...</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Step-wise attribute elimination:</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Repeatedly eliminate the worst attribute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Best combined attribute selection and elimination</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Optimal branch and bound:</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Use attribute elimination and backtracking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36</a:t>
            </a:fld>
            <a:endParaRPr/>
          </a:p>
        </p:txBody>
      </p:sp>
      <p:sp>
        <p:nvSpPr>
          <p:cNvPr id="580" name="Google Shape;580;p35"/>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Attribute Creation (Feature Generation)</a:t>
            </a:r>
            <a:endParaRPr/>
          </a:p>
        </p:txBody>
      </p:sp>
      <p:sp>
        <p:nvSpPr>
          <p:cNvPr id="581" name="Google Shape;581;p35"/>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Create new attributes (features) that can capture the important information in a data set more effectively than the original ones</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Three general methodologies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Attribute extraction</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 Domain-specific</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Mapping data to new space (see: data reduction)</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E.g., Fourier transformation, wavelet transformation, manifold approaches (not covered)</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Attribute construction </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Combining features (see: discriminative frequent patterns in Chapter 7)</a:t>
            </a:r>
            <a:endParaRPr/>
          </a:p>
          <a:p>
            <a:pPr marL="1143000" lvl="2" indent="-228600" algn="l" rtl="0">
              <a:lnSpc>
                <a:spcPct val="10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Data discretization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3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37</a:t>
            </a:fld>
            <a:endParaRPr/>
          </a:p>
        </p:txBody>
      </p:sp>
      <p:sp>
        <p:nvSpPr>
          <p:cNvPr id="588" name="Google Shape;588;p36"/>
          <p:cNvSpPr txBox="1">
            <a:spLocks noGrp="1"/>
          </p:cNvSpPr>
          <p:nvPr>
            <p:ph type="title"/>
          </p:nvPr>
        </p:nvSpPr>
        <p:spPr>
          <a:xfrm>
            <a:off x="0" y="304800"/>
            <a:ext cx="8991600" cy="838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Data Reduction 2: Numerosity Reduction</a:t>
            </a:r>
            <a:endParaRPr/>
          </a:p>
        </p:txBody>
      </p:sp>
      <p:sp>
        <p:nvSpPr>
          <p:cNvPr id="589" name="Google Shape;589;p36"/>
          <p:cNvSpPr txBox="1">
            <a:spLocks noGrp="1"/>
          </p:cNvSpPr>
          <p:nvPr>
            <p:ph type="body" idx="1"/>
          </p:nvPr>
        </p:nvSpPr>
        <p:spPr>
          <a:xfrm>
            <a:off x="304800" y="1295400"/>
            <a:ext cx="82296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Reduce data volume by choosing alternative, </a:t>
            </a:r>
            <a:r>
              <a:rPr lang="en-US" sz="2400" b="0" i="1" u="none">
                <a:solidFill>
                  <a:schemeClr val="dk1"/>
                </a:solidFill>
                <a:latin typeface="Tahoma"/>
                <a:ea typeface="Tahoma"/>
                <a:cs typeface="Tahoma"/>
                <a:sym typeface="Tahoma"/>
              </a:rPr>
              <a:t>smaller forms</a:t>
            </a:r>
            <a:r>
              <a:rPr lang="en-US" sz="2400" b="0" i="0" u="none">
                <a:solidFill>
                  <a:schemeClr val="dk1"/>
                </a:solidFill>
                <a:latin typeface="Tahoma"/>
                <a:ea typeface="Tahoma"/>
                <a:cs typeface="Tahoma"/>
                <a:sym typeface="Tahoma"/>
              </a:rPr>
              <a:t> of data representation</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Parametric methods</a:t>
            </a:r>
            <a:r>
              <a:rPr lang="en-US" sz="2400" b="0" i="0" u="none">
                <a:solidFill>
                  <a:schemeClr val="dk1"/>
                </a:solidFill>
                <a:latin typeface="Tahoma"/>
                <a:ea typeface="Tahoma"/>
                <a:cs typeface="Tahoma"/>
                <a:sym typeface="Tahoma"/>
              </a:rPr>
              <a:t> (e.g., regression)</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Assume the data fits some model, estimate model parameters, store only the parameters, and discard the data (except possible outliers)</a:t>
            </a:r>
            <a:endParaRPr sz="2400" b="0" i="0" u="none">
              <a:solidFill>
                <a:schemeClr val="dk1"/>
              </a:solidFill>
              <a:latin typeface="Tahoma"/>
              <a:ea typeface="Tahoma"/>
              <a:cs typeface="Tahoma"/>
              <a:sym typeface="Tahoma"/>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Ex.: Log-linear models—obtain value at a point in </a:t>
            </a:r>
            <a:r>
              <a:rPr lang="en-US" sz="2400" b="0" i="1" u="none">
                <a:solidFill>
                  <a:schemeClr val="dk1"/>
                </a:solidFill>
                <a:latin typeface="Tahoma"/>
                <a:ea typeface="Tahoma"/>
                <a:cs typeface="Tahoma"/>
                <a:sym typeface="Tahoma"/>
              </a:rPr>
              <a:t>m</a:t>
            </a:r>
            <a:r>
              <a:rPr lang="en-US" sz="2400" b="0" i="0" u="none">
                <a:solidFill>
                  <a:schemeClr val="dk1"/>
                </a:solidFill>
                <a:latin typeface="Tahoma"/>
                <a:ea typeface="Tahoma"/>
                <a:cs typeface="Tahoma"/>
                <a:sym typeface="Tahoma"/>
              </a:rPr>
              <a:t>-D space as the product on appropriate marginal subspaces </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Non-parametric</a:t>
            </a:r>
            <a:r>
              <a:rPr lang="en-US" sz="2400" b="0" i="0" u="none">
                <a:solidFill>
                  <a:schemeClr val="dk1"/>
                </a:solidFill>
                <a:latin typeface="Tahoma"/>
                <a:ea typeface="Tahoma"/>
                <a:cs typeface="Tahoma"/>
                <a:sym typeface="Tahoma"/>
              </a:rPr>
              <a:t> methods </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Do not assume models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Major families: histograms, clustering, sampling, …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3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38</a:t>
            </a:fld>
            <a:endParaRPr/>
          </a:p>
        </p:txBody>
      </p:sp>
      <p:sp>
        <p:nvSpPr>
          <p:cNvPr id="596" name="Google Shape;596;p37"/>
          <p:cNvSpPr txBox="1">
            <a:spLocks noGrp="1"/>
          </p:cNvSpPr>
          <p:nvPr>
            <p:ph type="title"/>
          </p:nvPr>
        </p:nvSpPr>
        <p:spPr>
          <a:xfrm>
            <a:off x="609600" y="152400"/>
            <a:ext cx="7772400" cy="1066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200"/>
              <a:buFont typeface="Overlock"/>
              <a:buNone/>
            </a:pPr>
            <a:r>
              <a:rPr lang="en-US" sz="3200" b="1" i="0" u="none">
                <a:solidFill>
                  <a:srgbClr val="170981"/>
                </a:solidFill>
                <a:latin typeface="Overlock"/>
                <a:ea typeface="Overlock"/>
                <a:cs typeface="Overlock"/>
                <a:sym typeface="Overlock"/>
              </a:rPr>
              <a:t>Parametric Data Reduction: Regression and Log-Linear Models</a:t>
            </a:r>
            <a:endParaRPr/>
          </a:p>
        </p:txBody>
      </p:sp>
      <p:sp>
        <p:nvSpPr>
          <p:cNvPr id="597" name="Google Shape;597;p37"/>
          <p:cNvSpPr txBox="1">
            <a:spLocks noGrp="1"/>
          </p:cNvSpPr>
          <p:nvPr>
            <p:ph type="body" idx="1"/>
          </p:nvPr>
        </p:nvSpPr>
        <p:spPr>
          <a:xfrm>
            <a:off x="457200" y="1373187"/>
            <a:ext cx="8229600" cy="50847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Linear regression</a:t>
            </a:r>
            <a:endParaRPr sz="2400" b="0" i="0" u="none">
              <a:solidFill>
                <a:schemeClr val="dk1"/>
              </a:solidFill>
              <a:latin typeface="Tahoma"/>
              <a:ea typeface="Tahoma"/>
              <a:cs typeface="Tahoma"/>
              <a:sym typeface="Tahoma"/>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Data modeled to fit a straight line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Often uses the least-square method to fit the line</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Multiple regression</a:t>
            </a:r>
            <a:endParaRPr sz="2400" b="0" i="0" u="none">
              <a:solidFill>
                <a:schemeClr val="dk1"/>
              </a:solidFill>
              <a:latin typeface="Tahoma"/>
              <a:ea typeface="Tahoma"/>
              <a:cs typeface="Tahoma"/>
              <a:sym typeface="Tahoma"/>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Allows a response variable Y to be modeled as a linear function of multidimensional feature vector</a:t>
            </a:r>
            <a:endParaRPr/>
          </a:p>
          <a:p>
            <a:pPr marL="342900" lvl="0" indent="-342900" algn="l" rtl="0">
              <a:lnSpc>
                <a:spcPct val="10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Log-linear model</a:t>
            </a:r>
            <a:endParaRPr sz="2400" b="0" i="0" u="none">
              <a:solidFill>
                <a:schemeClr val="dk1"/>
              </a:solidFill>
              <a:latin typeface="Tahoma"/>
              <a:ea typeface="Tahoma"/>
              <a:cs typeface="Tahoma"/>
              <a:sym typeface="Tahoma"/>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Approximates discrete multidimensional probability distributions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3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39</a:t>
            </a:fld>
            <a:endParaRPr/>
          </a:p>
        </p:txBody>
      </p:sp>
      <p:sp>
        <p:nvSpPr>
          <p:cNvPr id="604" name="Google Shape;604;p38"/>
          <p:cNvSpPr txBox="1">
            <a:spLocks noGrp="1"/>
          </p:cNvSpPr>
          <p:nvPr>
            <p:ph type="title"/>
          </p:nvPr>
        </p:nvSpPr>
        <p:spPr>
          <a:xfrm>
            <a:off x="152400" y="304800"/>
            <a:ext cx="62484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Regression Analysis</a:t>
            </a:r>
            <a:endParaRPr/>
          </a:p>
        </p:txBody>
      </p:sp>
      <p:sp>
        <p:nvSpPr>
          <p:cNvPr id="605" name="Google Shape;605;p38"/>
          <p:cNvSpPr txBox="1">
            <a:spLocks noGrp="1"/>
          </p:cNvSpPr>
          <p:nvPr>
            <p:ph type="body" idx="1"/>
          </p:nvPr>
        </p:nvSpPr>
        <p:spPr>
          <a:xfrm>
            <a:off x="304800" y="1295400"/>
            <a:ext cx="54102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3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Regression analysis:</a:t>
            </a:r>
            <a:r>
              <a:rPr lang="en-US" sz="2000" b="1" i="0" u="none">
                <a:solidFill>
                  <a:schemeClr val="dk1"/>
                </a:solidFill>
                <a:latin typeface="Tahoma"/>
                <a:ea typeface="Tahoma"/>
                <a:cs typeface="Tahoma"/>
                <a:sym typeface="Tahoma"/>
              </a:rPr>
              <a:t> </a:t>
            </a:r>
            <a:r>
              <a:rPr lang="en-US" sz="2000" b="0" i="0" u="none">
                <a:solidFill>
                  <a:schemeClr val="dk1"/>
                </a:solidFill>
                <a:latin typeface="Tahoma"/>
                <a:ea typeface="Tahoma"/>
                <a:cs typeface="Tahoma"/>
                <a:sym typeface="Tahoma"/>
              </a:rPr>
              <a:t>A collective name for techniques for the modeling and analysis of numerical data consisting of values of a </a:t>
            </a:r>
            <a:r>
              <a:rPr lang="en-US" sz="2000" b="1" i="1" u="none">
                <a:solidFill>
                  <a:schemeClr val="dk1"/>
                </a:solidFill>
                <a:latin typeface="Tahoma"/>
                <a:ea typeface="Tahoma"/>
                <a:cs typeface="Tahoma"/>
                <a:sym typeface="Tahoma"/>
              </a:rPr>
              <a:t>dependent variable</a:t>
            </a:r>
            <a:r>
              <a:rPr lang="en-US" sz="2000" b="1" i="0" u="none">
                <a:solidFill>
                  <a:schemeClr val="dk1"/>
                </a:solidFill>
                <a:latin typeface="Tahoma"/>
                <a:ea typeface="Tahoma"/>
                <a:cs typeface="Tahoma"/>
                <a:sym typeface="Tahoma"/>
              </a:rPr>
              <a:t> </a:t>
            </a:r>
            <a:r>
              <a:rPr lang="en-US" sz="2000" b="0" i="0" u="none">
                <a:solidFill>
                  <a:schemeClr val="dk1"/>
                </a:solidFill>
                <a:latin typeface="Tahoma"/>
                <a:ea typeface="Tahoma"/>
                <a:cs typeface="Tahoma"/>
                <a:sym typeface="Tahoma"/>
              </a:rPr>
              <a:t>(also called </a:t>
            </a:r>
            <a:r>
              <a:rPr lang="en-US" sz="2000" b="1" i="1" u="none">
                <a:solidFill>
                  <a:schemeClr val="dk1"/>
                </a:solidFill>
                <a:latin typeface="Tahoma"/>
                <a:ea typeface="Tahoma"/>
                <a:cs typeface="Tahoma"/>
                <a:sym typeface="Tahoma"/>
              </a:rPr>
              <a:t>response variable</a:t>
            </a:r>
            <a:r>
              <a:rPr lang="en-US" sz="2000" b="1" i="0" u="none">
                <a:solidFill>
                  <a:schemeClr val="dk1"/>
                </a:solidFill>
                <a:latin typeface="Tahoma"/>
                <a:ea typeface="Tahoma"/>
                <a:cs typeface="Tahoma"/>
                <a:sym typeface="Tahoma"/>
              </a:rPr>
              <a:t> </a:t>
            </a:r>
            <a:r>
              <a:rPr lang="en-US" sz="2000" b="0" i="0" u="none">
                <a:solidFill>
                  <a:schemeClr val="dk1"/>
                </a:solidFill>
                <a:latin typeface="Tahoma"/>
                <a:ea typeface="Tahoma"/>
                <a:cs typeface="Tahoma"/>
                <a:sym typeface="Tahoma"/>
              </a:rPr>
              <a:t>or </a:t>
            </a:r>
            <a:r>
              <a:rPr lang="en-US" sz="2000" b="0" i="1" u="none">
                <a:solidFill>
                  <a:schemeClr val="dk1"/>
                </a:solidFill>
                <a:latin typeface="Tahoma"/>
                <a:ea typeface="Tahoma"/>
                <a:cs typeface="Tahoma"/>
                <a:sym typeface="Tahoma"/>
              </a:rPr>
              <a:t>measurement</a:t>
            </a:r>
            <a:r>
              <a:rPr lang="en-US" sz="2000" b="0" i="0" u="none">
                <a:solidFill>
                  <a:schemeClr val="dk1"/>
                </a:solidFill>
                <a:latin typeface="Tahoma"/>
                <a:ea typeface="Tahoma"/>
                <a:cs typeface="Tahoma"/>
                <a:sym typeface="Tahoma"/>
              </a:rPr>
              <a:t>) and of one or more </a:t>
            </a:r>
            <a:r>
              <a:rPr lang="en-US" sz="2000" b="0" i="1" u="none">
                <a:solidFill>
                  <a:schemeClr val="dk1"/>
                </a:solidFill>
                <a:latin typeface="Tahoma"/>
                <a:ea typeface="Tahoma"/>
                <a:cs typeface="Tahoma"/>
                <a:sym typeface="Tahoma"/>
              </a:rPr>
              <a:t>independent variables</a:t>
            </a:r>
            <a:r>
              <a:rPr lang="en-US" sz="2000" b="0" i="0" u="none">
                <a:solidFill>
                  <a:schemeClr val="dk1"/>
                </a:solidFill>
                <a:latin typeface="Tahoma"/>
                <a:ea typeface="Tahoma"/>
                <a:cs typeface="Tahoma"/>
                <a:sym typeface="Tahoma"/>
              </a:rPr>
              <a:t> (aka. </a:t>
            </a:r>
            <a:r>
              <a:rPr lang="en-US" sz="2000" b="1" i="1" u="none">
                <a:solidFill>
                  <a:schemeClr val="dk1"/>
                </a:solidFill>
                <a:latin typeface="Tahoma"/>
                <a:ea typeface="Tahoma"/>
                <a:cs typeface="Tahoma"/>
                <a:sym typeface="Tahoma"/>
              </a:rPr>
              <a:t>explanatory variables</a:t>
            </a:r>
            <a:r>
              <a:rPr lang="en-US" sz="2000" b="1" i="0" u="none">
                <a:solidFill>
                  <a:schemeClr val="dk1"/>
                </a:solidFill>
                <a:latin typeface="Tahoma"/>
                <a:ea typeface="Tahoma"/>
                <a:cs typeface="Tahoma"/>
                <a:sym typeface="Tahoma"/>
              </a:rPr>
              <a:t> </a:t>
            </a:r>
            <a:r>
              <a:rPr lang="en-US" sz="2000" b="0" i="0" u="none">
                <a:solidFill>
                  <a:schemeClr val="dk1"/>
                </a:solidFill>
                <a:latin typeface="Tahoma"/>
                <a:ea typeface="Tahoma"/>
                <a:cs typeface="Tahoma"/>
                <a:sym typeface="Tahoma"/>
              </a:rPr>
              <a:t>or </a:t>
            </a:r>
            <a:r>
              <a:rPr lang="en-US" sz="2000" b="1" i="1" u="none">
                <a:solidFill>
                  <a:schemeClr val="dk1"/>
                </a:solidFill>
                <a:latin typeface="Tahoma"/>
                <a:ea typeface="Tahoma"/>
                <a:cs typeface="Tahoma"/>
                <a:sym typeface="Tahoma"/>
              </a:rPr>
              <a:t>predictors</a:t>
            </a:r>
            <a:r>
              <a:rPr lang="en-US" sz="2000" b="0" i="0" u="none">
                <a:solidFill>
                  <a:schemeClr val="dk1"/>
                </a:solidFill>
                <a:latin typeface="Tahoma"/>
                <a:ea typeface="Tahoma"/>
                <a:cs typeface="Tahoma"/>
                <a:sym typeface="Tahoma"/>
              </a:rPr>
              <a:t>)</a:t>
            </a:r>
            <a:endParaRPr/>
          </a:p>
          <a:p>
            <a:pPr marL="342900" lvl="0" indent="-342900" algn="l" rtl="0">
              <a:lnSpc>
                <a:spcPct val="13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The parameters are estimated so as to give a "</a:t>
            </a:r>
            <a:r>
              <a:rPr lang="en-US" sz="2000" b="1" i="0" u="none">
                <a:solidFill>
                  <a:schemeClr val="dk1"/>
                </a:solidFill>
                <a:latin typeface="Tahoma"/>
                <a:ea typeface="Tahoma"/>
                <a:cs typeface="Tahoma"/>
                <a:sym typeface="Tahoma"/>
              </a:rPr>
              <a:t>best fit</a:t>
            </a:r>
            <a:r>
              <a:rPr lang="en-US" sz="2000" b="0" i="0" u="none">
                <a:solidFill>
                  <a:schemeClr val="dk1"/>
                </a:solidFill>
                <a:latin typeface="Tahoma"/>
                <a:ea typeface="Tahoma"/>
                <a:cs typeface="Tahoma"/>
                <a:sym typeface="Tahoma"/>
              </a:rPr>
              <a:t>" of the data</a:t>
            </a:r>
            <a:endParaRPr/>
          </a:p>
          <a:p>
            <a:pPr marL="342900" lvl="0" indent="-342900" algn="l" rtl="0">
              <a:lnSpc>
                <a:spcPct val="13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Most commonly the best fit is evaluated by using the </a:t>
            </a:r>
            <a:r>
              <a:rPr lang="en-US" sz="2000" b="1" i="1" u="none">
                <a:solidFill>
                  <a:schemeClr val="dk1"/>
                </a:solidFill>
                <a:latin typeface="Tahoma"/>
                <a:ea typeface="Tahoma"/>
                <a:cs typeface="Tahoma"/>
                <a:sym typeface="Tahoma"/>
              </a:rPr>
              <a:t>least squares method</a:t>
            </a:r>
            <a:r>
              <a:rPr lang="en-US" sz="2000" b="0" i="0" u="none">
                <a:solidFill>
                  <a:schemeClr val="dk1"/>
                </a:solidFill>
                <a:latin typeface="Tahoma"/>
                <a:ea typeface="Tahoma"/>
                <a:cs typeface="Tahoma"/>
                <a:sym typeface="Tahoma"/>
              </a:rPr>
              <a:t>, but other criteria have also been used</a:t>
            </a:r>
            <a:endParaRPr/>
          </a:p>
        </p:txBody>
      </p:sp>
      <p:sp>
        <p:nvSpPr>
          <p:cNvPr id="606" name="Google Shape;606;p38"/>
          <p:cNvSpPr txBox="1">
            <a:spLocks noGrp="1"/>
          </p:cNvSpPr>
          <p:nvPr>
            <p:ph type="body" idx="1"/>
          </p:nvPr>
        </p:nvSpPr>
        <p:spPr>
          <a:xfrm>
            <a:off x="5486400" y="3886200"/>
            <a:ext cx="3810000" cy="22860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Used for prediction (including forecasting of time-series data), inference, hypothesis testing, and modeling of causal relationships</a:t>
            </a:r>
            <a:endParaRPr/>
          </a:p>
        </p:txBody>
      </p:sp>
      <p:sp>
        <p:nvSpPr>
          <p:cNvPr id="607" name="Google Shape;607;p38"/>
          <p:cNvSpPr txBox="1"/>
          <p:nvPr/>
        </p:nvSpPr>
        <p:spPr>
          <a:xfrm>
            <a:off x="5791200" y="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y</a:t>
            </a:r>
            <a:endParaRPr/>
          </a:p>
        </p:txBody>
      </p:sp>
      <p:grpSp>
        <p:nvGrpSpPr>
          <p:cNvPr id="608" name="Google Shape;608;p38"/>
          <p:cNvGrpSpPr/>
          <p:nvPr/>
        </p:nvGrpSpPr>
        <p:grpSpPr>
          <a:xfrm>
            <a:off x="5486400" y="254000"/>
            <a:ext cx="3363912" cy="3175000"/>
            <a:chOff x="3456" y="64"/>
            <a:chExt cx="2119" cy="2000"/>
          </a:xfrm>
        </p:grpSpPr>
        <p:cxnSp>
          <p:nvCxnSpPr>
            <p:cNvPr id="609" name="Google Shape;609;p38"/>
            <p:cNvCxnSpPr/>
            <p:nvPr/>
          </p:nvCxnSpPr>
          <p:spPr>
            <a:xfrm>
              <a:off x="3456" y="1776"/>
              <a:ext cx="2064" cy="0"/>
            </a:xfrm>
            <a:prstGeom prst="straightConnector1">
              <a:avLst/>
            </a:prstGeom>
            <a:noFill/>
            <a:ln w="9525" cap="flat" cmpd="sng">
              <a:solidFill>
                <a:schemeClr val="dk1"/>
              </a:solidFill>
              <a:prstDash val="solid"/>
              <a:miter lim="800000"/>
              <a:headEnd type="none" w="med" len="med"/>
              <a:tailEnd type="triangle" w="med" len="med"/>
            </a:ln>
          </p:spPr>
        </p:cxnSp>
        <p:cxnSp>
          <p:nvCxnSpPr>
            <p:cNvPr id="610" name="Google Shape;610;p38"/>
            <p:cNvCxnSpPr/>
            <p:nvPr/>
          </p:nvCxnSpPr>
          <p:spPr>
            <a:xfrm rot="10800000" flipH="1">
              <a:off x="3648" y="64"/>
              <a:ext cx="1" cy="2000"/>
            </a:xfrm>
            <a:prstGeom prst="straightConnector1">
              <a:avLst/>
            </a:prstGeom>
            <a:noFill/>
            <a:ln w="9525" cap="flat" cmpd="sng">
              <a:solidFill>
                <a:schemeClr val="dk1"/>
              </a:solidFill>
              <a:prstDash val="solid"/>
              <a:miter lim="800000"/>
              <a:headEnd type="none" w="med" len="med"/>
              <a:tailEnd type="triangle" w="med" len="med"/>
            </a:ln>
          </p:spPr>
        </p:cxnSp>
        <p:sp>
          <p:nvSpPr>
            <p:cNvPr id="611" name="Google Shape;611;p38"/>
            <p:cNvSpPr/>
            <p:nvPr/>
          </p:nvSpPr>
          <p:spPr>
            <a:xfrm rot="10800000" flipH="1">
              <a:off x="4522" y="1116"/>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2" name="Google Shape;612;p38"/>
            <p:cNvSpPr/>
            <p:nvPr/>
          </p:nvSpPr>
          <p:spPr>
            <a:xfrm rot="10800000" flipH="1">
              <a:off x="4259" y="1182"/>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3" name="Google Shape;613;p38"/>
            <p:cNvSpPr/>
            <p:nvPr/>
          </p:nvSpPr>
          <p:spPr>
            <a:xfrm rot="10800000" flipH="1">
              <a:off x="4149" y="600"/>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4" name="Google Shape;614;p38"/>
            <p:cNvSpPr/>
            <p:nvPr/>
          </p:nvSpPr>
          <p:spPr>
            <a:xfrm rot="10800000" flipH="1">
              <a:off x="4039" y="1477"/>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5" name="Google Shape;615;p38"/>
            <p:cNvSpPr/>
            <p:nvPr/>
          </p:nvSpPr>
          <p:spPr>
            <a:xfrm rot="10800000" flipH="1">
              <a:off x="4588" y="894"/>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6" name="Google Shape;616;p38"/>
            <p:cNvSpPr/>
            <p:nvPr/>
          </p:nvSpPr>
          <p:spPr>
            <a:xfrm rot="10800000" flipH="1">
              <a:off x="4715" y="722"/>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7" name="Google Shape;617;p38"/>
            <p:cNvSpPr/>
            <p:nvPr/>
          </p:nvSpPr>
          <p:spPr>
            <a:xfrm rot="10800000" flipH="1">
              <a:off x="3813" y="1538"/>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8" name="Google Shape;618;p38"/>
            <p:cNvSpPr/>
            <p:nvPr/>
          </p:nvSpPr>
          <p:spPr>
            <a:xfrm rot="10800000" flipH="1">
              <a:off x="4917" y="719"/>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19" name="Google Shape;619;p38"/>
            <p:cNvSpPr/>
            <p:nvPr/>
          </p:nvSpPr>
          <p:spPr>
            <a:xfrm rot="10800000" flipH="1">
              <a:off x="4930" y="568"/>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20" name="Google Shape;620;p38"/>
            <p:cNvSpPr/>
            <p:nvPr/>
          </p:nvSpPr>
          <p:spPr>
            <a:xfrm rot="10800000" flipH="1">
              <a:off x="5191" y="551"/>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21" name="Google Shape;621;p38"/>
            <p:cNvSpPr/>
            <p:nvPr/>
          </p:nvSpPr>
          <p:spPr>
            <a:xfrm rot="10800000" flipH="1">
              <a:off x="3785" y="1706"/>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22" name="Google Shape;622;p38"/>
            <p:cNvSpPr/>
            <p:nvPr/>
          </p:nvSpPr>
          <p:spPr>
            <a:xfrm rot="10800000" flipH="1">
              <a:off x="5178" y="393"/>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23" name="Google Shape;623;p38"/>
            <p:cNvSpPr/>
            <p:nvPr/>
          </p:nvSpPr>
          <p:spPr>
            <a:xfrm rot="10800000" flipH="1">
              <a:off x="5386" y="314"/>
              <a:ext cx="27" cy="27"/>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cxnSp>
          <p:nvCxnSpPr>
            <p:cNvPr id="624" name="Google Shape;624;p38"/>
            <p:cNvCxnSpPr/>
            <p:nvPr/>
          </p:nvCxnSpPr>
          <p:spPr>
            <a:xfrm rot="10800000" flipH="1">
              <a:off x="3638" y="259"/>
              <a:ext cx="1831" cy="1430"/>
            </a:xfrm>
            <a:prstGeom prst="straightConnector1">
              <a:avLst/>
            </a:prstGeom>
            <a:noFill/>
            <a:ln w="9525" cap="flat" cmpd="sng">
              <a:solidFill>
                <a:schemeClr val="dk2"/>
              </a:solidFill>
              <a:prstDash val="solid"/>
              <a:miter lim="800000"/>
              <a:headEnd type="none" w="med" len="med"/>
              <a:tailEnd type="none" w="med" len="med"/>
            </a:ln>
          </p:spPr>
        </p:cxnSp>
        <p:sp>
          <p:nvSpPr>
            <p:cNvPr id="625" name="Google Shape;625;p38"/>
            <p:cNvSpPr txBox="1"/>
            <p:nvPr/>
          </p:nvSpPr>
          <p:spPr>
            <a:xfrm>
              <a:off x="5328" y="1728"/>
              <a:ext cx="212"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x</a:t>
              </a:r>
              <a:endParaRPr/>
            </a:p>
          </p:txBody>
        </p:sp>
        <p:sp>
          <p:nvSpPr>
            <p:cNvPr id="626" name="Google Shape;626;p38"/>
            <p:cNvSpPr txBox="1"/>
            <p:nvPr/>
          </p:nvSpPr>
          <p:spPr>
            <a:xfrm>
              <a:off x="4763" y="1063"/>
              <a:ext cx="812"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y = x + 1</a:t>
              </a:r>
              <a:endParaRPr/>
            </a:p>
          </p:txBody>
        </p:sp>
        <p:cxnSp>
          <p:nvCxnSpPr>
            <p:cNvPr id="627" name="Google Shape;627;p38"/>
            <p:cNvCxnSpPr/>
            <p:nvPr/>
          </p:nvCxnSpPr>
          <p:spPr>
            <a:xfrm>
              <a:off x="4163" y="609"/>
              <a:ext cx="0" cy="1203"/>
            </a:xfrm>
            <a:prstGeom prst="straightConnector1">
              <a:avLst/>
            </a:prstGeom>
            <a:noFill/>
            <a:ln w="9525" cap="flat" cmpd="sng">
              <a:solidFill>
                <a:srgbClr val="006666"/>
              </a:solidFill>
              <a:prstDash val="solid"/>
              <a:miter lim="800000"/>
              <a:headEnd type="none" w="med" len="med"/>
              <a:tailEnd type="none" w="med" len="med"/>
            </a:ln>
          </p:spPr>
        </p:cxnSp>
        <p:cxnSp>
          <p:nvCxnSpPr>
            <p:cNvPr id="628" name="Google Shape;628;p38"/>
            <p:cNvCxnSpPr/>
            <p:nvPr/>
          </p:nvCxnSpPr>
          <p:spPr>
            <a:xfrm rot="10800000">
              <a:off x="3649" y="619"/>
              <a:ext cx="504" cy="0"/>
            </a:xfrm>
            <a:prstGeom prst="straightConnector1">
              <a:avLst/>
            </a:prstGeom>
            <a:noFill/>
            <a:ln w="9525" cap="flat" cmpd="sng">
              <a:solidFill>
                <a:srgbClr val="006666"/>
              </a:solidFill>
              <a:prstDash val="solid"/>
              <a:miter lim="800000"/>
              <a:headEnd type="none" w="med" len="med"/>
              <a:tailEnd type="none" w="med" len="med"/>
            </a:ln>
          </p:spPr>
        </p:cxnSp>
        <p:cxnSp>
          <p:nvCxnSpPr>
            <p:cNvPr id="629" name="Google Shape;629;p38"/>
            <p:cNvCxnSpPr/>
            <p:nvPr/>
          </p:nvCxnSpPr>
          <p:spPr>
            <a:xfrm rot="10800000">
              <a:off x="3639" y="1256"/>
              <a:ext cx="514" cy="0"/>
            </a:xfrm>
            <a:prstGeom prst="straightConnector1">
              <a:avLst/>
            </a:prstGeom>
            <a:noFill/>
            <a:ln w="9525" cap="flat" cmpd="sng">
              <a:solidFill>
                <a:srgbClr val="006666"/>
              </a:solidFill>
              <a:prstDash val="solid"/>
              <a:miter lim="800000"/>
              <a:headEnd type="none" w="med" len="med"/>
              <a:tailEnd type="none" w="med" len="med"/>
            </a:ln>
          </p:spPr>
        </p:cxnSp>
        <p:sp>
          <p:nvSpPr>
            <p:cNvPr id="630" name="Google Shape;630;p38"/>
            <p:cNvSpPr txBox="1"/>
            <p:nvPr/>
          </p:nvSpPr>
          <p:spPr>
            <a:xfrm>
              <a:off x="4115" y="1814"/>
              <a:ext cx="312" cy="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X1</a:t>
              </a:r>
              <a:endParaRPr/>
            </a:p>
          </p:txBody>
        </p:sp>
        <p:sp>
          <p:nvSpPr>
            <p:cNvPr id="631" name="Google Shape;631;p38"/>
            <p:cNvSpPr txBox="1"/>
            <p:nvPr/>
          </p:nvSpPr>
          <p:spPr>
            <a:xfrm>
              <a:off x="3600" y="432"/>
              <a:ext cx="312" cy="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Y1</a:t>
              </a:r>
              <a:endParaRPr/>
            </a:p>
          </p:txBody>
        </p:sp>
        <p:sp>
          <p:nvSpPr>
            <p:cNvPr id="632" name="Google Shape;632;p38"/>
            <p:cNvSpPr txBox="1"/>
            <p:nvPr/>
          </p:nvSpPr>
          <p:spPr>
            <a:xfrm>
              <a:off x="3619" y="1008"/>
              <a:ext cx="365" cy="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Y1’</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3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40</a:t>
            </a:fld>
            <a:endParaRPr/>
          </a:p>
        </p:txBody>
      </p:sp>
      <p:sp>
        <p:nvSpPr>
          <p:cNvPr id="639" name="Google Shape;639;p39"/>
          <p:cNvSpPr txBox="1">
            <a:spLocks noGrp="1"/>
          </p:cNvSpPr>
          <p:nvPr>
            <p:ph type="body" idx="1"/>
          </p:nvPr>
        </p:nvSpPr>
        <p:spPr>
          <a:xfrm>
            <a:off x="381000" y="1295400"/>
            <a:ext cx="8534400" cy="5257800"/>
          </a:xfrm>
          <a:prstGeom prst="rect">
            <a:avLst/>
          </a:prstGeom>
          <a:noFill/>
          <a:ln>
            <a:noFill/>
          </a:ln>
        </p:spPr>
        <p:txBody>
          <a:bodyPr spcFirstLastPara="1" wrap="square" lIns="92075" tIns="46025" rIns="92075" bIns="46025"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0" i="0" u="sng">
                <a:solidFill>
                  <a:schemeClr val="dk1"/>
                </a:solidFill>
                <a:latin typeface="Tahoma"/>
                <a:ea typeface="Tahoma"/>
                <a:cs typeface="Tahoma"/>
                <a:sym typeface="Tahoma"/>
              </a:rPr>
              <a:t>Linear regression</a:t>
            </a:r>
            <a:r>
              <a:rPr lang="en-US" sz="2000" b="0" i="0" u="none">
                <a:solidFill>
                  <a:schemeClr val="dk1"/>
                </a:solidFill>
                <a:latin typeface="Tahoma"/>
                <a:ea typeface="Tahoma"/>
                <a:cs typeface="Tahoma"/>
                <a:sym typeface="Tahoma"/>
              </a:rPr>
              <a:t>: </a:t>
            </a:r>
            <a:r>
              <a:rPr lang="en-US" sz="2000" b="0" i="1" u="none">
                <a:solidFill>
                  <a:schemeClr val="dk1"/>
                </a:solidFill>
                <a:latin typeface="Tahoma"/>
                <a:ea typeface="Tahoma"/>
                <a:cs typeface="Tahoma"/>
                <a:sym typeface="Tahoma"/>
              </a:rPr>
              <a:t>Y = w X + b</a:t>
            </a:r>
            <a:endParaRPr sz="2000" b="0" i="1" u="none">
              <a:solidFill>
                <a:schemeClr val="dk1"/>
              </a:solidFill>
              <a:latin typeface="Tahoma"/>
              <a:ea typeface="Tahoma"/>
              <a:cs typeface="Tahoma"/>
              <a:sym typeface="Tahoma"/>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Two regression coefficients, </a:t>
            </a:r>
            <a:r>
              <a:rPr lang="en-US" sz="2000" b="0" i="1" u="none">
                <a:solidFill>
                  <a:schemeClr val="dk1"/>
                </a:solidFill>
                <a:latin typeface="Tahoma"/>
                <a:ea typeface="Tahoma"/>
                <a:cs typeface="Tahoma"/>
                <a:sym typeface="Tahoma"/>
              </a:rPr>
              <a:t>w</a:t>
            </a:r>
            <a:r>
              <a:rPr lang="en-US" sz="2000" b="0" i="0" u="none">
                <a:solidFill>
                  <a:schemeClr val="dk1"/>
                </a:solidFill>
                <a:latin typeface="Tahoma"/>
                <a:ea typeface="Tahoma"/>
                <a:cs typeface="Tahoma"/>
                <a:sym typeface="Tahoma"/>
              </a:rPr>
              <a:t> and </a:t>
            </a:r>
            <a:r>
              <a:rPr lang="en-US" sz="2000" b="0" i="1" u="none">
                <a:solidFill>
                  <a:schemeClr val="dk1"/>
                </a:solidFill>
                <a:latin typeface="Tahoma"/>
                <a:ea typeface="Tahoma"/>
                <a:cs typeface="Tahoma"/>
                <a:sym typeface="Tahoma"/>
              </a:rPr>
              <a:t>b,</a:t>
            </a:r>
            <a:r>
              <a:rPr lang="en-US" sz="2000" b="0" i="0" u="none">
                <a:solidFill>
                  <a:schemeClr val="dk1"/>
                </a:solidFill>
                <a:latin typeface="Tahoma"/>
                <a:ea typeface="Tahoma"/>
                <a:cs typeface="Tahoma"/>
                <a:sym typeface="Tahoma"/>
              </a:rPr>
              <a:t> specify the line and are to be estimated by using the data at hand</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Using the least squares criterion to the known values of </a:t>
            </a:r>
            <a:r>
              <a:rPr lang="en-US" sz="2000" b="0" i="1" u="none">
                <a:solidFill>
                  <a:schemeClr val="dk1"/>
                </a:solidFill>
                <a:latin typeface="Tahoma"/>
                <a:ea typeface="Tahoma"/>
                <a:cs typeface="Tahoma"/>
                <a:sym typeface="Tahoma"/>
              </a:rPr>
              <a:t>Y</a:t>
            </a:r>
            <a:r>
              <a:rPr lang="en-US" sz="2000" b="0" i="1" u="none" baseline="-25000">
                <a:solidFill>
                  <a:schemeClr val="dk1"/>
                </a:solidFill>
                <a:latin typeface="Tahoma"/>
                <a:ea typeface="Tahoma"/>
                <a:cs typeface="Tahoma"/>
                <a:sym typeface="Tahoma"/>
              </a:rPr>
              <a:t>1</a:t>
            </a:r>
            <a:r>
              <a:rPr lang="en-US" sz="2000" b="0" i="1" u="none">
                <a:solidFill>
                  <a:schemeClr val="dk1"/>
                </a:solidFill>
                <a:latin typeface="Tahoma"/>
                <a:ea typeface="Tahoma"/>
                <a:cs typeface="Tahoma"/>
                <a:sym typeface="Tahoma"/>
              </a:rPr>
              <a:t>, Y</a:t>
            </a:r>
            <a:r>
              <a:rPr lang="en-US" sz="2000" b="0" i="1" u="none" baseline="-25000">
                <a:solidFill>
                  <a:schemeClr val="dk1"/>
                </a:solidFill>
                <a:latin typeface="Tahoma"/>
                <a:ea typeface="Tahoma"/>
                <a:cs typeface="Tahoma"/>
                <a:sym typeface="Tahoma"/>
              </a:rPr>
              <a:t>2</a:t>
            </a:r>
            <a:r>
              <a:rPr lang="en-US" sz="2000" b="0" i="1" u="none">
                <a:solidFill>
                  <a:schemeClr val="dk1"/>
                </a:solidFill>
                <a:latin typeface="Tahoma"/>
                <a:ea typeface="Tahoma"/>
                <a:cs typeface="Tahoma"/>
                <a:sym typeface="Tahoma"/>
              </a:rPr>
              <a:t>, …, X</a:t>
            </a:r>
            <a:r>
              <a:rPr lang="en-US" sz="2000" b="0" i="1" u="none" baseline="-25000">
                <a:solidFill>
                  <a:schemeClr val="dk1"/>
                </a:solidFill>
                <a:latin typeface="Tahoma"/>
                <a:ea typeface="Tahoma"/>
                <a:cs typeface="Tahoma"/>
                <a:sym typeface="Tahoma"/>
              </a:rPr>
              <a:t>1</a:t>
            </a:r>
            <a:r>
              <a:rPr lang="en-US" sz="2000" b="0" i="1" u="none">
                <a:solidFill>
                  <a:schemeClr val="dk1"/>
                </a:solidFill>
                <a:latin typeface="Tahoma"/>
                <a:ea typeface="Tahoma"/>
                <a:cs typeface="Tahoma"/>
                <a:sym typeface="Tahoma"/>
              </a:rPr>
              <a:t>, X</a:t>
            </a:r>
            <a:r>
              <a:rPr lang="en-US" sz="2000" b="0" i="1" u="none" baseline="-25000">
                <a:solidFill>
                  <a:schemeClr val="dk1"/>
                </a:solidFill>
                <a:latin typeface="Tahoma"/>
                <a:ea typeface="Tahoma"/>
                <a:cs typeface="Tahoma"/>
                <a:sym typeface="Tahoma"/>
              </a:rPr>
              <a:t>2</a:t>
            </a:r>
            <a:r>
              <a:rPr lang="en-US" sz="2000" b="0" i="1" u="none">
                <a:solidFill>
                  <a:schemeClr val="dk1"/>
                </a:solidFill>
                <a:latin typeface="Tahoma"/>
                <a:ea typeface="Tahoma"/>
                <a:cs typeface="Tahoma"/>
                <a:sym typeface="Tahoma"/>
              </a:rPr>
              <a:t>, ….</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sng">
                <a:solidFill>
                  <a:schemeClr val="dk1"/>
                </a:solidFill>
                <a:latin typeface="Tahoma"/>
                <a:ea typeface="Tahoma"/>
                <a:cs typeface="Tahoma"/>
                <a:sym typeface="Tahoma"/>
              </a:rPr>
              <a:t>Multiple regression</a:t>
            </a:r>
            <a:r>
              <a:rPr lang="en-US" sz="2000" b="0" i="0" u="none">
                <a:solidFill>
                  <a:schemeClr val="dk1"/>
                </a:solidFill>
                <a:latin typeface="Tahoma"/>
                <a:ea typeface="Tahoma"/>
                <a:cs typeface="Tahoma"/>
                <a:sym typeface="Tahoma"/>
              </a:rPr>
              <a:t>: </a:t>
            </a:r>
            <a:r>
              <a:rPr lang="en-US" sz="2000" b="0" i="1" u="none">
                <a:solidFill>
                  <a:schemeClr val="dk1"/>
                </a:solidFill>
                <a:latin typeface="Tahoma"/>
                <a:ea typeface="Tahoma"/>
                <a:cs typeface="Tahoma"/>
                <a:sym typeface="Tahoma"/>
              </a:rPr>
              <a:t>Y = b</a:t>
            </a:r>
            <a:r>
              <a:rPr lang="en-US" sz="2000" b="0" i="1" u="none" baseline="-25000">
                <a:solidFill>
                  <a:schemeClr val="dk1"/>
                </a:solidFill>
                <a:latin typeface="Tahoma"/>
                <a:ea typeface="Tahoma"/>
                <a:cs typeface="Tahoma"/>
                <a:sym typeface="Tahoma"/>
              </a:rPr>
              <a:t>0</a:t>
            </a:r>
            <a:r>
              <a:rPr lang="en-US" sz="2000" b="0" i="1" u="none">
                <a:solidFill>
                  <a:schemeClr val="dk1"/>
                </a:solidFill>
                <a:latin typeface="Tahoma"/>
                <a:ea typeface="Tahoma"/>
                <a:cs typeface="Tahoma"/>
                <a:sym typeface="Tahoma"/>
              </a:rPr>
              <a:t> + b</a:t>
            </a:r>
            <a:r>
              <a:rPr lang="en-US" sz="2000" b="0" i="1" u="none" baseline="-25000">
                <a:solidFill>
                  <a:schemeClr val="dk1"/>
                </a:solidFill>
                <a:latin typeface="Tahoma"/>
                <a:ea typeface="Tahoma"/>
                <a:cs typeface="Tahoma"/>
                <a:sym typeface="Tahoma"/>
              </a:rPr>
              <a:t>1</a:t>
            </a:r>
            <a:r>
              <a:rPr lang="en-US" sz="2000" b="0" i="1" u="none">
                <a:solidFill>
                  <a:schemeClr val="dk1"/>
                </a:solidFill>
                <a:latin typeface="Tahoma"/>
                <a:ea typeface="Tahoma"/>
                <a:cs typeface="Tahoma"/>
                <a:sym typeface="Tahoma"/>
              </a:rPr>
              <a:t> X</a:t>
            </a:r>
            <a:r>
              <a:rPr lang="en-US" sz="2000" b="0" i="1" u="none" baseline="-25000">
                <a:solidFill>
                  <a:schemeClr val="dk1"/>
                </a:solidFill>
                <a:latin typeface="Tahoma"/>
                <a:ea typeface="Tahoma"/>
                <a:cs typeface="Tahoma"/>
                <a:sym typeface="Tahoma"/>
              </a:rPr>
              <a:t>1</a:t>
            </a:r>
            <a:r>
              <a:rPr lang="en-US" sz="2000" b="0" i="1" u="none">
                <a:solidFill>
                  <a:schemeClr val="dk1"/>
                </a:solidFill>
                <a:latin typeface="Tahoma"/>
                <a:ea typeface="Tahoma"/>
                <a:cs typeface="Tahoma"/>
                <a:sym typeface="Tahoma"/>
              </a:rPr>
              <a:t> + b</a:t>
            </a:r>
            <a:r>
              <a:rPr lang="en-US" sz="2000" b="0" i="1" u="none" baseline="-25000">
                <a:solidFill>
                  <a:schemeClr val="dk1"/>
                </a:solidFill>
                <a:latin typeface="Tahoma"/>
                <a:ea typeface="Tahoma"/>
                <a:cs typeface="Tahoma"/>
                <a:sym typeface="Tahoma"/>
              </a:rPr>
              <a:t>2</a:t>
            </a:r>
            <a:r>
              <a:rPr lang="en-US" sz="2000" b="0" i="1" u="none">
                <a:solidFill>
                  <a:schemeClr val="dk1"/>
                </a:solidFill>
                <a:latin typeface="Tahoma"/>
                <a:ea typeface="Tahoma"/>
                <a:cs typeface="Tahoma"/>
                <a:sym typeface="Tahoma"/>
              </a:rPr>
              <a:t> X</a:t>
            </a:r>
            <a:r>
              <a:rPr lang="en-US" sz="2000" b="0" i="1" u="none" baseline="-25000">
                <a:solidFill>
                  <a:schemeClr val="dk1"/>
                </a:solidFill>
                <a:latin typeface="Tahoma"/>
                <a:ea typeface="Tahoma"/>
                <a:cs typeface="Tahoma"/>
                <a:sym typeface="Tahoma"/>
              </a:rPr>
              <a:t>2</a:t>
            </a:r>
            <a:endParaRPr sz="2000" b="0" i="1" u="none">
              <a:solidFill>
                <a:schemeClr val="dk1"/>
              </a:solidFill>
              <a:latin typeface="Tahoma"/>
              <a:ea typeface="Tahoma"/>
              <a:cs typeface="Tahoma"/>
              <a:sym typeface="Tahoma"/>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Many nonlinear functions can be transformed into the above</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sng">
                <a:solidFill>
                  <a:schemeClr val="dk1"/>
                </a:solidFill>
                <a:latin typeface="Tahoma"/>
                <a:ea typeface="Tahoma"/>
                <a:cs typeface="Tahoma"/>
                <a:sym typeface="Tahoma"/>
              </a:rPr>
              <a:t>Log-linear models</a:t>
            </a:r>
            <a:r>
              <a:rPr lang="en-US" sz="2000" b="0" i="0" u="none">
                <a:solidFill>
                  <a:schemeClr val="dk1"/>
                </a:solidFill>
                <a:latin typeface="Tahoma"/>
                <a:ea typeface="Tahoma"/>
                <a:cs typeface="Tahoma"/>
                <a:sym typeface="Tahoma"/>
              </a:rPr>
              <a:t>:</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Approximate discrete multidimensional probability distributions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Estimate the probability of each point (tuple) in a multi-dimensional space for a set of discretized attributes, based on a smaller subset of dimensional combinations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Useful for dimensionality reduction and data smoothing</a:t>
            </a:r>
            <a:endParaRPr/>
          </a:p>
        </p:txBody>
      </p:sp>
      <p:sp>
        <p:nvSpPr>
          <p:cNvPr id="640" name="Google Shape;640;p39"/>
          <p:cNvSpPr txBox="1">
            <a:spLocks noGrp="1"/>
          </p:cNvSpPr>
          <p:nvPr>
            <p:ph type="title"/>
          </p:nvPr>
        </p:nvSpPr>
        <p:spPr>
          <a:xfrm>
            <a:off x="381000" y="228600"/>
            <a:ext cx="8458200" cy="838200"/>
          </a:xfrm>
          <a:prstGeom prst="rect">
            <a:avLst/>
          </a:prstGeom>
          <a:noFill/>
          <a:ln>
            <a:noFill/>
          </a:ln>
        </p:spPr>
        <p:txBody>
          <a:bodyPr spcFirstLastPara="1" wrap="square" lIns="92075" tIns="46025" rIns="92075" bIns="46025" anchor="ctr"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Regress Analysis and Log-Linear Models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41</a:t>
            </a:fld>
            <a:endParaRPr/>
          </a:p>
        </p:txBody>
      </p:sp>
      <p:sp>
        <p:nvSpPr>
          <p:cNvPr id="647" name="Google Shape;647;p40"/>
          <p:cNvSpPr txBox="1">
            <a:spLocks noGrp="1"/>
          </p:cNvSpPr>
          <p:nvPr>
            <p:ph type="title"/>
          </p:nvPr>
        </p:nvSpPr>
        <p:spPr>
          <a:xfrm>
            <a:off x="533400" y="152400"/>
            <a:ext cx="7924800" cy="838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Histogram Analysis</a:t>
            </a:r>
            <a:endParaRPr/>
          </a:p>
        </p:txBody>
      </p:sp>
      <p:sp>
        <p:nvSpPr>
          <p:cNvPr id="648" name="Google Shape;648;p40"/>
          <p:cNvSpPr txBox="1">
            <a:spLocks noGrp="1"/>
          </p:cNvSpPr>
          <p:nvPr>
            <p:ph type="body" idx="1"/>
          </p:nvPr>
        </p:nvSpPr>
        <p:spPr>
          <a:xfrm>
            <a:off x="0" y="1371600"/>
            <a:ext cx="4648200" cy="41910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Divide data into buckets and store average (sum) for each bucket</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Partitioning rules:</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Equal-width: equal bucket range</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Equal-frequency (or equal-depth)</a:t>
            </a:r>
            <a:endParaRPr/>
          </a:p>
          <a:p>
            <a:pPr marL="342900" lvl="0" indent="-251459" algn="l" rtl="0">
              <a:spcBef>
                <a:spcPts val="480"/>
              </a:spcBef>
              <a:spcAft>
                <a:spcPts val="0"/>
              </a:spcAft>
              <a:buSzPts val="1440"/>
              <a:buNone/>
            </a:pPr>
            <a:endParaRPr sz="2400" b="0" i="0" u="none">
              <a:solidFill>
                <a:schemeClr val="dk1"/>
              </a:solidFill>
              <a:latin typeface="Tahoma"/>
              <a:ea typeface="Tahoma"/>
              <a:cs typeface="Tahoma"/>
              <a:sym typeface="Tahoma"/>
            </a:endParaRPr>
          </a:p>
        </p:txBody>
      </p:sp>
      <p:graphicFrame>
        <p:nvGraphicFramePr>
          <p:cNvPr id="649" name="Google Shape;649;p40"/>
          <p:cNvGraphicFramePr/>
          <p:nvPr/>
        </p:nvGraphicFramePr>
        <p:xfrm>
          <a:off x="3962400" y="1295400"/>
          <a:ext cx="6477000" cy="5410200"/>
        </p:xfrm>
        <a:graphic>
          <a:graphicData uri="http://schemas.openxmlformats.org/presentationml/2006/ole">
            <mc:AlternateContent xmlns:mc="http://schemas.openxmlformats.org/markup-compatibility/2006">
              <mc:Choice xmlns:v="urn:schemas-microsoft-com:vml" Requires="v">
                <p:oleObj r:id="rId3" imgW="6477000" imgH="5410200" progId="MSGraph.Chart.8">
                  <p:embed/>
                </p:oleObj>
              </mc:Choice>
              <mc:Fallback>
                <p:oleObj r:id="rId3" imgW="6477000" imgH="5410200" progId="MSGraph.Chart.8">
                  <p:embed/>
                  <p:pic>
                    <p:nvPicPr>
                      <p:cNvPr id="649" name="Google Shape;649;p40"/>
                      <p:cNvPicPr preferRelativeResize="0"/>
                      <p:nvPr/>
                    </p:nvPicPr>
                    <p:blipFill rotWithShape="1">
                      <a:blip r:embed="rId4">
                        <a:alphaModFix/>
                      </a:blip>
                      <a:srcRect/>
                      <a:stretch/>
                    </p:blipFill>
                    <p:spPr>
                      <a:xfrm>
                        <a:off x="3962400" y="1295400"/>
                        <a:ext cx="6477000" cy="5410200"/>
                      </a:xfrm>
                      <a:prstGeom prst="rect">
                        <a:avLst/>
                      </a:prstGeom>
                      <a:noFill/>
                      <a:ln>
                        <a:noFill/>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42</a:t>
            </a:fld>
            <a:endParaRPr/>
          </a:p>
        </p:txBody>
      </p:sp>
      <p:sp>
        <p:nvSpPr>
          <p:cNvPr id="656" name="Google Shape;656;p41"/>
          <p:cNvSpPr txBox="1">
            <a:spLocks noGrp="1"/>
          </p:cNvSpPr>
          <p:nvPr>
            <p:ph type="title"/>
          </p:nvPr>
        </p:nvSpPr>
        <p:spPr>
          <a:xfrm>
            <a:off x="0" y="3810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Clustering</a:t>
            </a:r>
            <a:endParaRPr/>
          </a:p>
        </p:txBody>
      </p:sp>
      <p:sp>
        <p:nvSpPr>
          <p:cNvPr id="657" name="Google Shape;657;p41"/>
          <p:cNvSpPr txBox="1">
            <a:spLocks noGrp="1"/>
          </p:cNvSpPr>
          <p:nvPr>
            <p:ph type="body" idx="1"/>
          </p:nvPr>
        </p:nvSpPr>
        <p:spPr>
          <a:xfrm>
            <a:off x="381000" y="1371600"/>
            <a:ext cx="82296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Partition data set into clusters based on similarity, and store cluster representation (e.g., centroid and diameter) only</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Can be very effective if data is clustered but not if data is “smeared”</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Can have hierarchical clustering and be stored in multi-dimensional index tree structures</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There are many choices of clustering definitions and clustering algorithms</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Cluster analysis will be studied in depth in Chapter 10</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43</a:t>
            </a:fld>
            <a:endParaRPr/>
          </a:p>
        </p:txBody>
      </p:sp>
      <p:sp>
        <p:nvSpPr>
          <p:cNvPr id="664" name="Google Shape;664;p42"/>
          <p:cNvSpPr txBox="1">
            <a:spLocks noGrp="1"/>
          </p:cNvSpPr>
          <p:nvPr>
            <p:ph type="title"/>
          </p:nvPr>
        </p:nvSpPr>
        <p:spPr>
          <a:xfrm>
            <a:off x="-152400" y="152400"/>
            <a:ext cx="9525000" cy="762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Sampling</a:t>
            </a:r>
            <a:endParaRPr/>
          </a:p>
        </p:txBody>
      </p:sp>
      <p:sp>
        <p:nvSpPr>
          <p:cNvPr id="665" name="Google Shape;665;p42"/>
          <p:cNvSpPr txBox="1">
            <a:spLocks noGrp="1"/>
          </p:cNvSpPr>
          <p:nvPr>
            <p:ph type="body" idx="1"/>
          </p:nvPr>
        </p:nvSpPr>
        <p:spPr>
          <a:xfrm>
            <a:off x="381000" y="1371600"/>
            <a:ext cx="84582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Sampling: obtaining a small sample </a:t>
            </a:r>
            <a:r>
              <a:rPr lang="en-US" sz="2400" b="0" i="1" u="none">
                <a:solidFill>
                  <a:schemeClr val="dk1"/>
                </a:solidFill>
                <a:latin typeface="Tahoma"/>
                <a:ea typeface="Tahoma"/>
                <a:cs typeface="Tahoma"/>
                <a:sym typeface="Tahoma"/>
              </a:rPr>
              <a:t>s</a:t>
            </a:r>
            <a:r>
              <a:rPr lang="en-US" sz="2400" b="0" i="0" u="none">
                <a:solidFill>
                  <a:schemeClr val="dk1"/>
                </a:solidFill>
                <a:latin typeface="Tahoma"/>
                <a:ea typeface="Tahoma"/>
                <a:cs typeface="Tahoma"/>
                <a:sym typeface="Tahoma"/>
              </a:rPr>
              <a:t> to represent the whole data set </a:t>
            </a:r>
            <a:r>
              <a:rPr lang="en-US" sz="2400" b="0" i="1" u="none">
                <a:solidFill>
                  <a:schemeClr val="dk1"/>
                </a:solidFill>
                <a:latin typeface="Tahoma"/>
                <a:ea typeface="Tahoma"/>
                <a:cs typeface="Tahoma"/>
                <a:sym typeface="Tahoma"/>
              </a:rPr>
              <a:t>N</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Allow a mining algorithm to run in complexity that is potentially sub-linear to the size of the data</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Key principle: Choose a </a:t>
            </a:r>
            <a:r>
              <a:rPr lang="en-US" sz="2400" b="0" i="0" u="none">
                <a:solidFill>
                  <a:schemeClr val="hlink"/>
                </a:solidFill>
                <a:latin typeface="Tahoma"/>
                <a:ea typeface="Tahoma"/>
                <a:cs typeface="Tahoma"/>
                <a:sym typeface="Tahoma"/>
              </a:rPr>
              <a:t>representative</a:t>
            </a:r>
            <a:r>
              <a:rPr lang="en-US" sz="2400" b="0" i="0" u="none">
                <a:solidFill>
                  <a:schemeClr val="dk1"/>
                </a:solidFill>
                <a:latin typeface="Tahoma"/>
                <a:ea typeface="Tahoma"/>
                <a:cs typeface="Tahoma"/>
                <a:sym typeface="Tahoma"/>
              </a:rPr>
              <a:t> subset of the data</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Simple random sampling may have very poor performance in the presence of skew</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Develop adaptive sampling methods, e.g., stratified sampling: </a:t>
            </a:r>
            <a:endParaRPr/>
          </a:p>
          <a:p>
            <a:pPr marL="34290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Note: Sampling may not reduce database I/Os (page at a time)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4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44</a:t>
            </a:fld>
            <a:endParaRPr/>
          </a:p>
        </p:txBody>
      </p:sp>
      <p:sp>
        <p:nvSpPr>
          <p:cNvPr id="672" name="Google Shape;672;p43"/>
          <p:cNvSpPr txBox="1">
            <a:spLocks noGrp="1"/>
          </p:cNvSpPr>
          <p:nvPr>
            <p:ph type="title"/>
          </p:nvPr>
        </p:nvSpPr>
        <p:spPr>
          <a:xfrm>
            <a:off x="-152400" y="152400"/>
            <a:ext cx="9525000" cy="762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Types of Sampling</a:t>
            </a:r>
            <a:endParaRPr/>
          </a:p>
        </p:txBody>
      </p:sp>
      <p:sp>
        <p:nvSpPr>
          <p:cNvPr id="673" name="Google Shape;673;p43"/>
          <p:cNvSpPr txBox="1">
            <a:spLocks noGrp="1"/>
          </p:cNvSpPr>
          <p:nvPr>
            <p:ph type="body" idx="1"/>
          </p:nvPr>
        </p:nvSpPr>
        <p:spPr>
          <a:xfrm>
            <a:off x="304800" y="1447800"/>
            <a:ext cx="85344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Simple random sampling</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There is an equal probability of selecting any particular item</a:t>
            </a:r>
            <a:endParaRPr/>
          </a:p>
          <a:p>
            <a:pPr marL="342900" lvl="0" indent="-342900" algn="l" rtl="0">
              <a:lnSpc>
                <a:spcPct val="9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Sampling without replacement</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Once an object is selected, it is removed from the population</a:t>
            </a:r>
            <a:endParaRPr/>
          </a:p>
          <a:p>
            <a:pPr marL="342900" lvl="0" indent="-342900" algn="l" rtl="0">
              <a:lnSpc>
                <a:spcPct val="9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Sampling with replacement</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A selected object is not removed from the population</a:t>
            </a:r>
            <a:endParaRPr/>
          </a:p>
          <a:p>
            <a:pPr marL="342900" lvl="0" indent="-342900" algn="l" rtl="0">
              <a:lnSpc>
                <a:spcPct val="90000"/>
              </a:lnSpc>
              <a:spcBef>
                <a:spcPts val="480"/>
              </a:spcBef>
              <a:spcAft>
                <a:spcPts val="0"/>
              </a:spcAft>
              <a:buClr>
                <a:schemeClr val="folHlink"/>
              </a:buClr>
              <a:buSzPts val="1440"/>
              <a:buFont typeface="Noto Sans Symbols"/>
              <a:buChar char="■"/>
            </a:pPr>
            <a:r>
              <a:rPr lang="en-US" sz="2400" b="1" i="0" u="none">
                <a:solidFill>
                  <a:schemeClr val="dk1"/>
                </a:solidFill>
                <a:latin typeface="Tahoma"/>
                <a:ea typeface="Tahoma"/>
                <a:cs typeface="Tahoma"/>
                <a:sym typeface="Tahoma"/>
              </a:rPr>
              <a:t>Stratified sampling: </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Partition the data set, and draw samples from each partition (proportionally, i.e., approximately the same percentage of the data) </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Used in conjunction with skewed data</a:t>
            </a:r>
            <a:endParaRPr/>
          </a:p>
          <a:p>
            <a:pPr marL="342900" lvl="0" indent="-251459" algn="l" rtl="0">
              <a:spcBef>
                <a:spcPts val="480"/>
              </a:spcBef>
              <a:spcAft>
                <a:spcPts val="0"/>
              </a:spcAft>
              <a:buSzPts val="1440"/>
              <a:buNone/>
            </a:pPr>
            <a:endParaRPr sz="2400" b="0" i="0" u="none">
              <a:solidFill>
                <a:schemeClr val="dk1"/>
              </a:solidFill>
              <a:latin typeface="Tahoma"/>
              <a:ea typeface="Tahoma"/>
              <a:cs typeface="Tahoma"/>
              <a:sym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45</a:t>
            </a:fld>
            <a:endParaRPr/>
          </a:p>
        </p:txBody>
      </p:sp>
      <p:sp>
        <p:nvSpPr>
          <p:cNvPr id="680" name="Google Shape;680;p44"/>
          <p:cNvSpPr txBox="1"/>
          <p:nvPr/>
        </p:nvSpPr>
        <p:spPr>
          <a:xfrm>
            <a:off x="152400" y="381000"/>
            <a:ext cx="8610600" cy="5794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2"/>
              </a:buClr>
              <a:buSzPts val="3200"/>
              <a:buFont typeface="Tahoma"/>
              <a:buNone/>
            </a:pPr>
            <a:r>
              <a:rPr lang="en-US" sz="3200" b="1" i="0" u="none">
                <a:solidFill>
                  <a:schemeClr val="dk2"/>
                </a:solidFill>
                <a:latin typeface="Tahoma"/>
                <a:ea typeface="Tahoma"/>
                <a:cs typeface="Tahoma"/>
                <a:sym typeface="Tahoma"/>
              </a:rPr>
              <a:t>Sampling: With or without Replacement</a:t>
            </a:r>
            <a:endParaRPr/>
          </a:p>
        </p:txBody>
      </p:sp>
      <p:sp>
        <p:nvSpPr>
          <p:cNvPr id="681" name="Google Shape;681;p44"/>
          <p:cNvSpPr txBox="1"/>
          <p:nvPr/>
        </p:nvSpPr>
        <p:spPr>
          <a:xfrm rot="-1020000">
            <a:off x="3733800" y="2819400"/>
            <a:ext cx="2205037" cy="15525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SRSWOR</a:t>
            </a:r>
            <a:endParaRPr/>
          </a:p>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(simple random</a:t>
            </a:r>
            <a:endParaRPr/>
          </a:p>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 sample without </a:t>
            </a:r>
            <a:endParaRPr/>
          </a:p>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replacement)</a:t>
            </a:r>
            <a:endParaRPr/>
          </a:p>
        </p:txBody>
      </p:sp>
      <p:grpSp>
        <p:nvGrpSpPr>
          <p:cNvPr id="682" name="Google Shape;682;p44"/>
          <p:cNvGrpSpPr/>
          <p:nvPr/>
        </p:nvGrpSpPr>
        <p:grpSpPr>
          <a:xfrm>
            <a:off x="5695950" y="1771650"/>
            <a:ext cx="2438400" cy="1676400"/>
            <a:chOff x="3588" y="1116"/>
            <a:chExt cx="1536" cy="1056"/>
          </a:xfrm>
        </p:grpSpPr>
        <p:sp>
          <p:nvSpPr>
            <p:cNvPr id="683" name="Google Shape;683;p44"/>
            <p:cNvSpPr/>
            <p:nvPr/>
          </p:nvSpPr>
          <p:spPr>
            <a:xfrm>
              <a:off x="3588" y="1116"/>
              <a:ext cx="1536" cy="1056"/>
            </a:xfrm>
            <a:prstGeom prst="can">
              <a:avLst>
                <a:gd name="adj" fmla="val 25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84" name="Google Shape;684;p44"/>
            <p:cNvSpPr/>
            <p:nvPr/>
          </p:nvSpPr>
          <p:spPr>
            <a:xfrm>
              <a:off x="4092" y="1788"/>
              <a:ext cx="540" cy="360"/>
            </a:xfrm>
            <a:prstGeom prst="ellipse">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85" name="Google Shape;685;p44"/>
            <p:cNvSpPr/>
            <p:nvPr/>
          </p:nvSpPr>
          <p:spPr>
            <a:xfrm>
              <a:off x="4632" y="1632"/>
              <a:ext cx="492" cy="39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86" name="Google Shape;686;p44"/>
            <p:cNvSpPr/>
            <p:nvPr/>
          </p:nvSpPr>
          <p:spPr>
            <a:xfrm>
              <a:off x="3588" y="1668"/>
              <a:ext cx="540" cy="360"/>
            </a:xfrm>
            <a:prstGeom prst="ellipse">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sp>
        <p:nvSpPr>
          <p:cNvPr id="687" name="Google Shape;687;p44"/>
          <p:cNvSpPr txBox="1"/>
          <p:nvPr/>
        </p:nvSpPr>
        <p:spPr>
          <a:xfrm rot="840000">
            <a:off x="3962400" y="5105400"/>
            <a:ext cx="12176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SRSWR</a:t>
            </a:r>
            <a:endParaRPr/>
          </a:p>
        </p:txBody>
      </p:sp>
      <p:grpSp>
        <p:nvGrpSpPr>
          <p:cNvPr id="688" name="Google Shape;688;p44"/>
          <p:cNvGrpSpPr/>
          <p:nvPr/>
        </p:nvGrpSpPr>
        <p:grpSpPr>
          <a:xfrm>
            <a:off x="5772150" y="4457700"/>
            <a:ext cx="2438400" cy="1676400"/>
            <a:chOff x="3636" y="2808"/>
            <a:chExt cx="1536" cy="1056"/>
          </a:xfrm>
        </p:grpSpPr>
        <p:sp>
          <p:nvSpPr>
            <p:cNvPr id="689" name="Google Shape;689;p44"/>
            <p:cNvSpPr/>
            <p:nvPr/>
          </p:nvSpPr>
          <p:spPr>
            <a:xfrm>
              <a:off x="3636" y="2808"/>
              <a:ext cx="1536" cy="1056"/>
            </a:xfrm>
            <a:prstGeom prst="can">
              <a:avLst>
                <a:gd name="adj" fmla="val 25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0" name="Google Shape;690;p44"/>
            <p:cNvSpPr/>
            <p:nvPr/>
          </p:nvSpPr>
          <p:spPr>
            <a:xfrm>
              <a:off x="3648" y="3372"/>
              <a:ext cx="540" cy="360"/>
            </a:xfrm>
            <a:prstGeom prst="ellipse">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1" name="Google Shape;691;p44"/>
            <p:cNvSpPr/>
            <p:nvPr/>
          </p:nvSpPr>
          <p:spPr>
            <a:xfrm>
              <a:off x="4188" y="3480"/>
              <a:ext cx="540" cy="360"/>
            </a:xfrm>
            <a:prstGeom prst="ellipse">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2" name="Google Shape;692;p44"/>
            <p:cNvSpPr/>
            <p:nvPr/>
          </p:nvSpPr>
          <p:spPr>
            <a:xfrm>
              <a:off x="4656" y="3288"/>
              <a:ext cx="516" cy="396"/>
            </a:xfrm>
            <a:prstGeom prst="ellipse">
              <a:avLst/>
            </a:prstGeom>
            <a:solidFill>
              <a:srgbClr val="FAE2F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693" name="Google Shape;693;p44"/>
          <p:cNvGrpSpPr/>
          <p:nvPr/>
        </p:nvGrpSpPr>
        <p:grpSpPr>
          <a:xfrm>
            <a:off x="876300" y="1905000"/>
            <a:ext cx="2724150" cy="4556125"/>
            <a:chOff x="564" y="1284"/>
            <a:chExt cx="1716" cy="2870"/>
          </a:xfrm>
        </p:grpSpPr>
        <p:sp>
          <p:nvSpPr>
            <p:cNvPr id="694" name="Google Shape;694;p44"/>
            <p:cNvSpPr/>
            <p:nvPr/>
          </p:nvSpPr>
          <p:spPr>
            <a:xfrm>
              <a:off x="564" y="1284"/>
              <a:ext cx="1716" cy="2616"/>
            </a:xfrm>
            <a:prstGeom prst="can">
              <a:avLst>
                <a:gd name="adj" fmla="val 25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5" name="Google Shape;695;p44"/>
            <p:cNvSpPr/>
            <p:nvPr/>
          </p:nvSpPr>
          <p:spPr>
            <a:xfrm>
              <a:off x="672" y="3336"/>
              <a:ext cx="516" cy="396"/>
            </a:xfrm>
            <a:prstGeom prst="ellipse">
              <a:avLst/>
            </a:prstGeom>
            <a:solidFill>
              <a:srgbClr val="FAE2F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6" name="Google Shape;696;p44"/>
            <p:cNvSpPr/>
            <p:nvPr/>
          </p:nvSpPr>
          <p:spPr>
            <a:xfrm>
              <a:off x="660" y="2916"/>
              <a:ext cx="540" cy="360"/>
            </a:xfrm>
            <a:prstGeom prst="ellipse">
              <a:avLst/>
            </a:prstGeom>
            <a:solidFill>
              <a:srgbClr val="006666"/>
            </a:soli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7" name="Google Shape;697;p44"/>
            <p:cNvSpPr/>
            <p:nvPr/>
          </p:nvSpPr>
          <p:spPr>
            <a:xfrm>
              <a:off x="1236" y="3468"/>
              <a:ext cx="564" cy="396"/>
            </a:xfrm>
            <a:prstGeom prst="ellipse">
              <a:avLst/>
            </a:prstGeom>
            <a:solidFill>
              <a:srgbClr val="12132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8" name="Google Shape;698;p44"/>
            <p:cNvSpPr/>
            <p:nvPr/>
          </p:nvSpPr>
          <p:spPr>
            <a:xfrm>
              <a:off x="1764" y="3240"/>
              <a:ext cx="492" cy="39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699" name="Google Shape;699;p44"/>
            <p:cNvSpPr/>
            <p:nvPr/>
          </p:nvSpPr>
          <p:spPr>
            <a:xfrm>
              <a:off x="1236" y="3084"/>
              <a:ext cx="468" cy="372"/>
            </a:xfrm>
            <a:prstGeom prst="ellipse">
              <a:avLst/>
            </a:prstGeom>
            <a:solidFill>
              <a:srgbClr val="CC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00" name="Google Shape;700;p44"/>
            <p:cNvSpPr/>
            <p:nvPr/>
          </p:nvSpPr>
          <p:spPr>
            <a:xfrm>
              <a:off x="1680" y="2808"/>
              <a:ext cx="540" cy="360"/>
            </a:xfrm>
            <a:prstGeom prst="ellipse">
              <a:avLst/>
            </a:prstGeom>
            <a:solidFill>
              <a:schemeClr val="hlink"/>
            </a:solidFill>
            <a:ln w="9525" cap="flat" cmpd="sng">
              <a:solidFill>
                <a:schemeClr va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01" name="Google Shape;701;p44"/>
            <p:cNvSpPr/>
            <p:nvPr/>
          </p:nvSpPr>
          <p:spPr>
            <a:xfrm>
              <a:off x="1092" y="2664"/>
              <a:ext cx="540" cy="360"/>
            </a:xfrm>
            <a:prstGeom prst="ellipse">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02" name="Google Shape;702;p44"/>
            <p:cNvSpPr/>
            <p:nvPr/>
          </p:nvSpPr>
          <p:spPr>
            <a:xfrm>
              <a:off x="564" y="2556"/>
              <a:ext cx="540" cy="360"/>
            </a:xfrm>
            <a:prstGeom prst="ellipse">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03" name="Google Shape;703;p44"/>
            <p:cNvSpPr/>
            <p:nvPr/>
          </p:nvSpPr>
          <p:spPr>
            <a:xfrm>
              <a:off x="1620" y="2424"/>
              <a:ext cx="540" cy="360"/>
            </a:xfrm>
            <a:prstGeom prst="ellipse">
              <a:avLst/>
            </a:prstGeom>
            <a:solidFill>
              <a:srgbClr val="423E7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04" name="Google Shape;704;p44"/>
            <p:cNvSpPr txBox="1"/>
            <p:nvPr/>
          </p:nvSpPr>
          <p:spPr>
            <a:xfrm>
              <a:off x="974" y="3866"/>
              <a:ext cx="878"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Raw Data</a:t>
              </a:r>
              <a:endParaRPr/>
            </a:p>
          </p:txBody>
        </p:sp>
      </p:grpSp>
      <p:cxnSp>
        <p:nvCxnSpPr>
          <p:cNvPr id="705" name="Google Shape;705;p44"/>
          <p:cNvCxnSpPr/>
          <p:nvPr/>
        </p:nvCxnSpPr>
        <p:spPr>
          <a:xfrm rot="10800000" flipH="1">
            <a:off x="3810000" y="2971800"/>
            <a:ext cx="1657350" cy="552450"/>
          </a:xfrm>
          <a:prstGeom prst="straightConnector1">
            <a:avLst/>
          </a:prstGeom>
          <a:noFill/>
          <a:ln w="9525" cap="flat" cmpd="sng">
            <a:solidFill>
              <a:schemeClr val="dk1"/>
            </a:solidFill>
            <a:prstDash val="solid"/>
            <a:miter lim="800000"/>
            <a:headEnd type="none" w="med" len="med"/>
            <a:tailEnd type="triangle" w="med" len="med"/>
          </a:ln>
        </p:spPr>
      </p:cxnSp>
      <p:cxnSp>
        <p:nvCxnSpPr>
          <p:cNvPr id="706" name="Google Shape;706;p44"/>
          <p:cNvCxnSpPr/>
          <p:nvPr/>
        </p:nvCxnSpPr>
        <p:spPr>
          <a:xfrm>
            <a:off x="3829050" y="4895850"/>
            <a:ext cx="1790700" cy="495300"/>
          </a:xfrm>
          <a:prstGeom prst="straightConnector1">
            <a:avLst/>
          </a:prstGeom>
          <a:noFill/>
          <a:ln w="9525" cap="flat" cmpd="sng">
            <a:solidFill>
              <a:schemeClr val="dk1"/>
            </a:solidFill>
            <a:prstDash val="solid"/>
            <a:miter lim="800000"/>
            <a:headEnd type="none" w="med" len="med"/>
            <a:tailEnd type="triangl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4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46</a:t>
            </a:fld>
            <a:endParaRPr/>
          </a:p>
        </p:txBody>
      </p:sp>
      <p:sp>
        <p:nvSpPr>
          <p:cNvPr id="713" name="Google Shape;713;p45"/>
          <p:cNvSpPr txBox="1">
            <a:spLocks noGrp="1"/>
          </p:cNvSpPr>
          <p:nvPr>
            <p:ph type="title"/>
          </p:nvPr>
        </p:nvSpPr>
        <p:spPr>
          <a:xfrm>
            <a:off x="228600" y="304800"/>
            <a:ext cx="8686800" cy="838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Sampling: Cluster or Stratified Sampling</a:t>
            </a:r>
            <a:endParaRPr/>
          </a:p>
        </p:txBody>
      </p:sp>
      <p:grpSp>
        <p:nvGrpSpPr>
          <p:cNvPr id="714" name="Google Shape;714;p45"/>
          <p:cNvGrpSpPr/>
          <p:nvPr/>
        </p:nvGrpSpPr>
        <p:grpSpPr>
          <a:xfrm>
            <a:off x="520700" y="2698750"/>
            <a:ext cx="3751262" cy="3348037"/>
            <a:chOff x="274" y="1418"/>
            <a:chExt cx="2363" cy="2109"/>
          </a:xfrm>
        </p:grpSpPr>
        <p:sp>
          <p:nvSpPr>
            <p:cNvPr id="715" name="Google Shape;715;p45"/>
            <p:cNvSpPr txBox="1"/>
            <p:nvPr/>
          </p:nvSpPr>
          <p:spPr>
            <a:xfrm>
              <a:off x="274" y="1418"/>
              <a:ext cx="2363" cy="2109"/>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16" name="Google Shape;716;p45"/>
            <p:cNvSpPr/>
            <p:nvPr/>
          </p:nvSpPr>
          <p:spPr>
            <a:xfrm>
              <a:off x="1609" y="1993"/>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17" name="Google Shape;717;p45"/>
            <p:cNvSpPr/>
            <p:nvPr/>
          </p:nvSpPr>
          <p:spPr>
            <a:xfrm>
              <a:off x="1566" y="2316"/>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18" name="Google Shape;718;p45"/>
            <p:cNvSpPr/>
            <p:nvPr/>
          </p:nvSpPr>
          <p:spPr>
            <a:xfrm>
              <a:off x="1711" y="2134"/>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19" name="Google Shape;719;p45"/>
            <p:cNvSpPr/>
            <p:nvPr/>
          </p:nvSpPr>
          <p:spPr>
            <a:xfrm>
              <a:off x="1510" y="2168"/>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0" name="Google Shape;720;p45"/>
            <p:cNvSpPr/>
            <p:nvPr/>
          </p:nvSpPr>
          <p:spPr>
            <a:xfrm>
              <a:off x="1944" y="2195"/>
              <a:ext cx="56" cy="74"/>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1" name="Google Shape;721;p45"/>
            <p:cNvSpPr/>
            <p:nvPr/>
          </p:nvSpPr>
          <p:spPr>
            <a:xfrm>
              <a:off x="1874" y="2354"/>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2" name="Google Shape;722;p45"/>
            <p:cNvSpPr/>
            <p:nvPr/>
          </p:nvSpPr>
          <p:spPr>
            <a:xfrm>
              <a:off x="1740" y="2393"/>
              <a:ext cx="57"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3" name="Google Shape;723;p45"/>
            <p:cNvSpPr/>
            <p:nvPr/>
          </p:nvSpPr>
          <p:spPr>
            <a:xfrm>
              <a:off x="1433" y="1845"/>
              <a:ext cx="56" cy="74"/>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4" name="Google Shape;724;p45"/>
            <p:cNvSpPr/>
            <p:nvPr/>
          </p:nvSpPr>
          <p:spPr>
            <a:xfrm>
              <a:off x="1376" y="1763"/>
              <a:ext cx="686" cy="877"/>
            </a:xfrm>
            <a:custGeom>
              <a:avLst/>
              <a:gdLst/>
              <a:ahLst/>
              <a:cxnLst/>
              <a:rect l="l" t="t" r="r" b="b"/>
              <a:pathLst>
                <a:path w="1101" h="1077" extrusionOk="0">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5" name="Google Shape;725;p45"/>
            <p:cNvSpPr/>
            <p:nvPr/>
          </p:nvSpPr>
          <p:spPr>
            <a:xfrm>
              <a:off x="1104" y="2584"/>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6" name="Google Shape;726;p45"/>
            <p:cNvSpPr/>
            <p:nvPr/>
          </p:nvSpPr>
          <p:spPr>
            <a:xfrm>
              <a:off x="1391" y="2647"/>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7" name="Google Shape;727;p45"/>
            <p:cNvSpPr/>
            <p:nvPr/>
          </p:nvSpPr>
          <p:spPr>
            <a:xfrm>
              <a:off x="1286" y="2903"/>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8" name="Google Shape;728;p45"/>
            <p:cNvSpPr/>
            <p:nvPr/>
          </p:nvSpPr>
          <p:spPr>
            <a:xfrm>
              <a:off x="1345" y="2795"/>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29" name="Google Shape;729;p45"/>
            <p:cNvSpPr/>
            <p:nvPr/>
          </p:nvSpPr>
          <p:spPr>
            <a:xfrm>
              <a:off x="1171" y="2752"/>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0" name="Google Shape;730;p45"/>
            <p:cNvSpPr/>
            <p:nvPr/>
          </p:nvSpPr>
          <p:spPr>
            <a:xfrm>
              <a:off x="1168" y="2875"/>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1" name="Google Shape;731;p45"/>
            <p:cNvSpPr/>
            <p:nvPr/>
          </p:nvSpPr>
          <p:spPr>
            <a:xfrm>
              <a:off x="1224" y="2504"/>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2" name="Google Shape;732;p45"/>
            <p:cNvSpPr/>
            <p:nvPr/>
          </p:nvSpPr>
          <p:spPr>
            <a:xfrm>
              <a:off x="1289" y="2628"/>
              <a:ext cx="56" cy="74"/>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3" name="Google Shape;733;p45"/>
            <p:cNvSpPr/>
            <p:nvPr/>
          </p:nvSpPr>
          <p:spPr>
            <a:xfrm>
              <a:off x="1429" y="2882"/>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4" name="Google Shape;734;p45"/>
            <p:cNvSpPr/>
            <p:nvPr/>
          </p:nvSpPr>
          <p:spPr>
            <a:xfrm>
              <a:off x="1061" y="2373"/>
              <a:ext cx="573" cy="785"/>
            </a:xfrm>
            <a:custGeom>
              <a:avLst/>
              <a:gdLst/>
              <a:ahLst/>
              <a:cxnLst/>
              <a:rect l="l" t="t" r="r" b="b"/>
              <a:pathLst>
                <a:path w="918" h="965" extrusionOk="0">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735" name="Google Shape;735;p45"/>
            <p:cNvGrpSpPr/>
            <p:nvPr/>
          </p:nvGrpSpPr>
          <p:grpSpPr>
            <a:xfrm>
              <a:off x="551" y="1796"/>
              <a:ext cx="542" cy="954"/>
              <a:chOff x="551" y="1796"/>
              <a:chExt cx="542" cy="954"/>
            </a:xfrm>
          </p:grpSpPr>
          <p:sp>
            <p:nvSpPr>
              <p:cNvPr id="736" name="Google Shape;736;p45"/>
              <p:cNvSpPr/>
              <p:nvPr/>
            </p:nvSpPr>
            <p:spPr>
              <a:xfrm>
                <a:off x="727" y="2492"/>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7" name="Google Shape;737;p45"/>
              <p:cNvSpPr/>
              <p:nvPr/>
            </p:nvSpPr>
            <p:spPr>
              <a:xfrm>
                <a:off x="651" y="2392"/>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8" name="Google Shape;738;p45"/>
              <p:cNvSpPr/>
              <p:nvPr/>
            </p:nvSpPr>
            <p:spPr>
              <a:xfrm>
                <a:off x="848" y="2405"/>
                <a:ext cx="56" cy="74"/>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39" name="Google Shape;739;p45"/>
              <p:cNvSpPr/>
              <p:nvPr/>
            </p:nvSpPr>
            <p:spPr>
              <a:xfrm>
                <a:off x="753" y="2230"/>
                <a:ext cx="57"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0" name="Google Shape;740;p45"/>
              <p:cNvSpPr/>
              <p:nvPr/>
            </p:nvSpPr>
            <p:spPr>
              <a:xfrm>
                <a:off x="615" y="2508"/>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1" name="Google Shape;741;p45"/>
              <p:cNvSpPr/>
              <p:nvPr/>
            </p:nvSpPr>
            <p:spPr>
              <a:xfrm>
                <a:off x="669" y="2268"/>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2" name="Google Shape;742;p45"/>
              <p:cNvSpPr/>
              <p:nvPr/>
            </p:nvSpPr>
            <p:spPr>
              <a:xfrm>
                <a:off x="857" y="2566"/>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3" name="Google Shape;743;p45"/>
              <p:cNvSpPr/>
              <p:nvPr/>
            </p:nvSpPr>
            <p:spPr>
              <a:xfrm>
                <a:off x="924" y="2260"/>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4" name="Google Shape;744;p45"/>
              <p:cNvSpPr/>
              <p:nvPr/>
            </p:nvSpPr>
            <p:spPr>
              <a:xfrm>
                <a:off x="931" y="2092"/>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5" name="Google Shape;745;p45"/>
              <p:cNvSpPr/>
              <p:nvPr/>
            </p:nvSpPr>
            <p:spPr>
              <a:xfrm>
                <a:off x="881" y="1945"/>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46" name="Google Shape;746;p45"/>
              <p:cNvSpPr/>
              <p:nvPr/>
            </p:nvSpPr>
            <p:spPr>
              <a:xfrm>
                <a:off x="551" y="1796"/>
                <a:ext cx="542" cy="954"/>
              </a:xfrm>
              <a:custGeom>
                <a:avLst/>
                <a:gdLst/>
                <a:ahLst/>
                <a:cxnLst/>
                <a:rect l="l" t="t" r="r" b="b"/>
                <a:pathLst>
                  <a:path w="869" h="1173" extrusionOk="0">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747" name="Google Shape;747;p45"/>
          <p:cNvSpPr txBox="1"/>
          <p:nvPr/>
        </p:nvSpPr>
        <p:spPr>
          <a:xfrm>
            <a:off x="4802187" y="2678112"/>
            <a:ext cx="3751262" cy="33480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748" name="Google Shape;748;p45"/>
          <p:cNvGrpSpPr/>
          <p:nvPr/>
        </p:nvGrpSpPr>
        <p:grpSpPr>
          <a:xfrm>
            <a:off x="5241925" y="3225800"/>
            <a:ext cx="2398712" cy="2214562"/>
            <a:chOff x="3302" y="2032"/>
            <a:chExt cx="1511" cy="1395"/>
          </a:xfrm>
        </p:grpSpPr>
        <p:sp>
          <p:nvSpPr>
            <p:cNvPr id="749" name="Google Shape;749;p45"/>
            <p:cNvSpPr/>
            <p:nvPr/>
          </p:nvSpPr>
          <p:spPr>
            <a:xfrm>
              <a:off x="3366" y="2777"/>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0" name="Google Shape;750;p45"/>
            <p:cNvSpPr/>
            <p:nvPr/>
          </p:nvSpPr>
          <p:spPr>
            <a:xfrm>
              <a:off x="3420" y="2537"/>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1" name="Google Shape;751;p45"/>
            <p:cNvSpPr/>
            <p:nvPr/>
          </p:nvSpPr>
          <p:spPr>
            <a:xfrm>
              <a:off x="4360" y="2262"/>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2" name="Google Shape;752;p45"/>
            <p:cNvSpPr/>
            <p:nvPr/>
          </p:nvSpPr>
          <p:spPr>
            <a:xfrm>
              <a:off x="4317" y="2585"/>
              <a:ext cx="56" cy="75"/>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3" name="Google Shape;753;p45"/>
            <p:cNvSpPr/>
            <p:nvPr/>
          </p:nvSpPr>
          <p:spPr>
            <a:xfrm>
              <a:off x="4695" y="2464"/>
              <a:ext cx="56" cy="74"/>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4" name="Google Shape;754;p45"/>
            <p:cNvSpPr/>
            <p:nvPr/>
          </p:nvSpPr>
          <p:spPr>
            <a:xfrm>
              <a:off x="3608" y="2835"/>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5" name="Google Shape;755;p45"/>
            <p:cNvSpPr/>
            <p:nvPr/>
          </p:nvSpPr>
          <p:spPr>
            <a:xfrm>
              <a:off x="4037" y="3172"/>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6" name="Google Shape;756;p45"/>
            <p:cNvSpPr/>
            <p:nvPr/>
          </p:nvSpPr>
          <p:spPr>
            <a:xfrm>
              <a:off x="4096" y="3064"/>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7" name="Google Shape;757;p45"/>
            <p:cNvSpPr/>
            <p:nvPr/>
          </p:nvSpPr>
          <p:spPr>
            <a:xfrm>
              <a:off x="3675" y="2529"/>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8" name="Google Shape;758;p45"/>
            <p:cNvSpPr/>
            <p:nvPr/>
          </p:nvSpPr>
          <p:spPr>
            <a:xfrm>
              <a:off x="3922" y="3021"/>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59" name="Google Shape;759;p45"/>
            <p:cNvSpPr/>
            <p:nvPr/>
          </p:nvSpPr>
          <p:spPr>
            <a:xfrm>
              <a:off x="3682" y="2361"/>
              <a:ext cx="56" cy="75"/>
            </a:xfrm>
            <a:prstGeom prst="flowChartConnector">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60" name="Google Shape;760;p45"/>
            <p:cNvSpPr/>
            <p:nvPr/>
          </p:nvSpPr>
          <p:spPr>
            <a:xfrm>
              <a:off x="4184" y="2114"/>
              <a:ext cx="56" cy="74"/>
            </a:xfrm>
            <a:prstGeom prst="flowChartConnector">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61" name="Google Shape;761;p45"/>
            <p:cNvSpPr/>
            <p:nvPr/>
          </p:nvSpPr>
          <p:spPr>
            <a:xfrm>
              <a:off x="3975" y="2773"/>
              <a:ext cx="56" cy="75"/>
            </a:xfrm>
            <a:prstGeom prst="flowChartConnector">
              <a:avLst/>
            </a:prstGeom>
            <a:solidFill>
              <a:schemeClr val="dk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62" name="Google Shape;762;p45"/>
            <p:cNvSpPr/>
            <p:nvPr/>
          </p:nvSpPr>
          <p:spPr>
            <a:xfrm>
              <a:off x="4127" y="2032"/>
              <a:ext cx="686" cy="877"/>
            </a:xfrm>
            <a:custGeom>
              <a:avLst/>
              <a:gdLst/>
              <a:ahLst/>
              <a:cxnLst/>
              <a:rect l="l" t="t" r="r" b="b"/>
              <a:pathLst>
                <a:path w="1101" h="1077" extrusionOk="0">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63" name="Google Shape;763;p45"/>
            <p:cNvSpPr/>
            <p:nvPr/>
          </p:nvSpPr>
          <p:spPr>
            <a:xfrm>
              <a:off x="3812" y="2642"/>
              <a:ext cx="573" cy="785"/>
            </a:xfrm>
            <a:custGeom>
              <a:avLst/>
              <a:gdLst/>
              <a:ahLst/>
              <a:cxnLst/>
              <a:rect l="l" t="t" r="r" b="b"/>
              <a:pathLst>
                <a:path w="918" h="965" extrusionOk="0">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764" name="Google Shape;764;p45"/>
            <p:cNvSpPr/>
            <p:nvPr/>
          </p:nvSpPr>
          <p:spPr>
            <a:xfrm>
              <a:off x="3302" y="2065"/>
              <a:ext cx="542" cy="954"/>
            </a:xfrm>
            <a:custGeom>
              <a:avLst/>
              <a:gdLst/>
              <a:ahLst/>
              <a:cxnLst/>
              <a:rect l="l" t="t" r="r" b="b"/>
              <a:pathLst>
                <a:path w="869" h="1173" extrusionOk="0">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sp>
        <p:nvSpPr>
          <p:cNvPr id="765" name="Google Shape;765;p45"/>
          <p:cNvSpPr txBox="1"/>
          <p:nvPr/>
        </p:nvSpPr>
        <p:spPr>
          <a:xfrm>
            <a:off x="1463675" y="1897062"/>
            <a:ext cx="147002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Raw Data </a:t>
            </a:r>
            <a:endParaRPr/>
          </a:p>
        </p:txBody>
      </p:sp>
      <p:sp>
        <p:nvSpPr>
          <p:cNvPr id="766" name="Google Shape;766;p45"/>
          <p:cNvSpPr txBox="1"/>
          <p:nvPr/>
        </p:nvSpPr>
        <p:spPr>
          <a:xfrm>
            <a:off x="5043487" y="1839912"/>
            <a:ext cx="326866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Cluster/Stratified Sample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4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47</a:t>
            </a:fld>
            <a:endParaRPr/>
          </a:p>
        </p:txBody>
      </p:sp>
      <p:sp>
        <p:nvSpPr>
          <p:cNvPr id="773" name="Google Shape;773;p46"/>
          <p:cNvSpPr txBox="1">
            <a:spLocks noGrp="1"/>
          </p:cNvSpPr>
          <p:nvPr>
            <p:ph type="title" idx="4294967295"/>
          </p:nvPr>
        </p:nvSpPr>
        <p:spPr>
          <a:xfrm>
            <a:off x="838200" y="228600"/>
            <a:ext cx="7162800" cy="6858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170981"/>
              </a:buClr>
              <a:buSzPts val="3600"/>
              <a:buFont typeface="Overlock"/>
              <a:buNone/>
            </a:pPr>
            <a:r>
              <a:rPr lang="en-US" sz="3600" b="1" i="0" u="none" strike="noStrike" cap="none">
                <a:solidFill>
                  <a:srgbClr val="170981"/>
                </a:solidFill>
                <a:latin typeface="Overlock"/>
                <a:ea typeface="Overlock"/>
                <a:cs typeface="Overlock"/>
                <a:sym typeface="Overlock"/>
              </a:rPr>
              <a:t>Data Cube Aggregation</a:t>
            </a:r>
            <a:endParaRPr/>
          </a:p>
        </p:txBody>
      </p:sp>
      <p:sp>
        <p:nvSpPr>
          <p:cNvPr id="774" name="Google Shape;774;p46"/>
          <p:cNvSpPr txBox="1">
            <a:spLocks noGrp="1"/>
          </p:cNvSpPr>
          <p:nvPr>
            <p:ph type="body" idx="4294967295"/>
          </p:nvPr>
        </p:nvSpPr>
        <p:spPr>
          <a:xfrm>
            <a:off x="304800" y="1371600"/>
            <a:ext cx="8458200" cy="52387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 lowest level of a data cube (base cuboid)</a:t>
            </a:r>
            <a:endParaRPr/>
          </a:p>
          <a:p>
            <a:pPr marL="742950" marR="0" lvl="1" indent="-285750" algn="l" rtl="0">
              <a:lnSpc>
                <a:spcPct val="12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The aggregated data for an </a:t>
            </a:r>
            <a:r>
              <a:rPr lang="en-US" sz="2400" b="0" i="0" u="none" strike="noStrike" cap="none">
                <a:solidFill>
                  <a:schemeClr val="hlink"/>
                </a:solidFill>
                <a:latin typeface="Tahoma"/>
                <a:ea typeface="Tahoma"/>
                <a:cs typeface="Tahoma"/>
                <a:sym typeface="Tahoma"/>
              </a:rPr>
              <a:t>individual entity of interest</a:t>
            </a:r>
            <a:endParaRPr/>
          </a:p>
          <a:p>
            <a:pPr marL="742950" marR="0" lvl="1" indent="-285750" algn="l" rtl="0">
              <a:lnSpc>
                <a:spcPct val="12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E.g., a customer in a phone calling data warehouse</a:t>
            </a:r>
            <a:endParaRPr/>
          </a:p>
          <a:p>
            <a:pPr marL="342900" marR="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Multiple levels of aggregation in data cubes</a:t>
            </a:r>
            <a:endParaRPr/>
          </a:p>
          <a:p>
            <a:pPr marL="742950" marR="0" lvl="1" indent="-285750" algn="l" rtl="0">
              <a:lnSpc>
                <a:spcPct val="12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Further reduce the size of data to deal with</a:t>
            </a:r>
            <a:endParaRPr/>
          </a:p>
          <a:p>
            <a:pPr marL="342900" marR="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Reference appropriate levels</a:t>
            </a:r>
            <a:endParaRPr/>
          </a:p>
          <a:p>
            <a:pPr marL="742950" marR="0" lvl="1" indent="-285750" algn="l" rtl="0">
              <a:lnSpc>
                <a:spcPct val="12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Use the smallest representation which is enough to solve the task</a:t>
            </a:r>
            <a:endParaRPr/>
          </a:p>
          <a:p>
            <a:pPr marL="342900" marR="0" lvl="0" indent="-342900" algn="l" rtl="0">
              <a:lnSpc>
                <a:spcPct val="12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Queries regarding aggregated information should be answered using data cube, when possible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4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48</a:t>
            </a:fld>
            <a:endParaRPr/>
          </a:p>
        </p:txBody>
      </p:sp>
      <p:sp>
        <p:nvSpPr>
          <p:cNvPr id="781" name="Google Shape;781;p47"/>
          <p:cNvSpPr txBox="1">
            <a:spLocks noGrp="1"/>
          </p:cNvSpPr>
          <p:nvPr>
            <p:ph type="title" idx="4294967295"/>
          </p:nvPr>
        </p:nvSpPr>
        <p:spPr>
          <a:xfrm>
            <a:off x="0" y="152400"/>
            <a:ext cx="9144000" cy="838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Data Reduction 3: Data Compression</a:t>
            </a:r>
            <a:endParaRPr/>
          </a:p>
        </p:txBody>
      </p:sp>
      <p:sp>
        <p:nvSpPr>
          <p:cNvPr id="782" name="Google Shape;782;p47"/>
          <p:cNvSpPr txBox="1">
            <a:spLocks noGrp="1"/>
          </p:cNvSpPr>
          <p:nvPr>
            <p:ph type="body" idx="4294967295"/>
          </p:nvPr>
        </p:nvSpPr>
        <p:spPr>
          <a:xfrm>
            <a:off x="304800" y="1371600"/>
            <a:ext cx="8610600" cy="53149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String compression</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There are extensive theories and well-tuned algorithms</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Typically lossless, but only limited manipulation is possible without expansion</a:t>
            </a:r>
            <a:endParaRPr sz="2400" b="0" i="0" u="none" strike="noStrike" cap="none">
              <a:solidFill>
                <a:schemeClr val="dk1"/>
              </a:solidFill>
              <a:latin typeface="Tahoma"/>
              <a:ea typeface="Tahoma"/>
              <a:cs typeface="Tahoma"/>
              <a:sym typeface="Tahoma"/>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Audio/video compression</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Typically lossy compression, with progressive refinement</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Sometimes small fragments of signal can be reconstructed without reconstructing the whole</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Time sequence is not audio</a:t>
            </a:r>
            <a:endParaRPr/>
          </a:p>
          <a:p>
            <a:pPr marL="742950" marR="0" lvl="1" indent="-285750" algn="l" rtl="0">
              <a:lnSpc>
                <a:spcPct val="10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Typically short and vary slowly with time</a:t>
            </a:r>
            <a:endParaRPr/>
          </a:p>
          <a:p>
            <a:pPr marL="342900" marR="0" lvl="0" indent="-342900" algn="l"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Dimensionality and numerosity reduction may also be considered as forms of data compression</a:t>
            </a:r>
            <a:endParaRPr/>
          </a:p>
          <a:p>
            <a:pPr marL="342900" marR="0" lvl="0" indent="-251459" algn="l" rtl="0">
              <a:spcBef>
                <a:spcPts val="480"/>
              </a:spcBef>
              <a:spcAft>
                <a:spcPts val="0"/>
              </a:spcAft>
              <a:buClr>
                <a:schemeClr val="folHlink"/>
              </a:buClr>
              <a:buSzPts val="1440"/>
              <a:buFont typeface="Noto Sans Symbols"/>
              <a:buNone/>
            </a:pPr>
            <a:endParaRPr sz="2400" b="0" i="0" u="none">
              <a:solidFill>
                <a:schemeClr val="dk1"/>
              </a:solidFill>
              <a:latin typeface="Tahoma"/>
              <a:ea typeface="Tahoma"/>
              <a:cs typeface="Tahoma"/>
              <a:sym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49</a:t>
            </a:fld>
            <a:endParaRPr/>
          </a:p>
        </p:txBody>
      </p:sp>
      <p:sp>
        <p:nvSpPr>
          <p:cNvPr id="789" name="Google Shape;789;p48"/>
          <p:cNvSpPr txBox="1">
            <a:spLocks noGrp="1"/>
          </p:cNvSpPr>
          <p:nvPr>
            <p:ph type="title" idx="4294967295"/>
          </p:nvPr>
        </p:nvSpPr>
        <p:spPr>
          <a:xfrm>
            <a:off x="1157287" y="304800"/>
            <a:ext cx="5764212"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600"/>
              <a:buFont typeface="Overlock"/>
              <a:buNone/>
            </a:pPr>
            <a:r>
              <a:rPr lang="en-US" sz="3600" b="1" i="0" u="none" strike="noStrike" cap="none">
                <a:solidFill>
                  <a:schemeClr val="dk2"/>
                </a:solidFill>
                <a:latin typeface="Overlock"/>
                <a:ea typeface="Overlock"/>
                <a:cs typeface="Overlock"/>
                <a:sym typeface="Overlock"/>
              </a:rPr>
              <a:t>Data Compression</a:t>
            </a:r>
            <a:endParaRPr/>
          </a:p>
        </p:txBody>
      </p:sp>
      <p:sp>
        <p:nvSpPr>
          <p:cNvPr id="790" name="Google Shape;790;p48"/>
          <p:cNvSpPr/>
          <p:nvPr/>
        </p:nvSpPr>
        <p:spPr>
          <a:xfrm>
            <a:off x="838200" y="1625600"/>
            <a:ext cx="3446462" cy="2595562"/>
          </a:xfrm>
          <a:prstGeom prst="can">
            <a:avLst>
              <a:gd name="adj" fmla="val 25000"/>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Original Data</a:t>
            </a:r>
            <a:endParaRPr/>
          </a:p>
        </p:txBody>
      </p:sp>
      <p:sp>
        <p:nvSpPr>
          <p:cNvPr id="791" name="Google Shape;791;p48"/>
          <p:cNvSpPr/>
          <p:nvPr/>
        </p:nvSpPr>
        <p:spPr>
          <a:xfrm>
            <a:off x="6175375" y="2249487"/>
            <a:ext cx="2182812" cy="1608137"/>
          </a:xfrm>
          <a:prstGeom prst="cube">
            <a:avLst>
              <a:gd name="adj" fmla="val 25000"/>
            </a:avLst>
          </a:prstGeom>
          <a:solidFill>
            <a:srgbClr val="F6E6EA"/>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Compressed </a:t>
            </a:r>
            <a:endParaRPr/>
          </a:p>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Data</a:t>
            </a:r>
            <a:endParaRPr/>
          </a:p>
        </p:txBody>
      </p:sp>
      <p:cxnSp>
        <p:nvCxnSpPr>
          <p:cNvPr id="792" name="Google Shape;792;p48"/>
          <p:cNvCxnSpPr/>
          <p:nvPr/>
        </p:nvCxnSpPr>
        <p:spPr>
          <a:xfrm>
            <a:off x="4319587" y="3005137"/>
            <a:ext cx="1838325" cy="0"/>
          </a:xfrm>
          <a:prstGeom prst="straightConnector1">
            <a:avLst/>
          </a:prstGeom>
          <a:noFill/>
          <a:ln w="9525" cap="flat" cmpd="sng">
            <a:solidFill>
              <a:schemeClr val="dk1"/>
            </a:solidFill>
            <a:prstDash val="solid"/>
            <a:miter lim="800000"/>
            <a:headEnd type="none" w="med" len="med"/>
            <a:tailEnd type="triangle" w="med" len="med"/>
          </a:ln>
        </p:spPr>
      </p:cxnSp>
      <p:cxnSp>
        <p:nvCxnSpPr>
          <p:cNvPr id="793" name="Google Shape;793;p48"/>
          <p:cNvCxnSpPr/>
          <p:nvPr/>
        </p:nvCxnSpPr>
        <p:spPr>
          <a:xfrm rot="10800000">
            <a:off x="4319587" y="3579812"/>
            <a:ext cx="1838325" cy="0"/>
          </a:xfrm>
          <a:prstGeom prst="straightConnector1">
            <a:avLst/>
          </a:prstGeom>
          <a:noFill/>
          <a:ln w="9525" cap="flat" cmpd="sng">
            <a:solidFill>
              <a:schemeClr val="dk1"/>
            </a:solidFill>
            <a:prstDash val="solid"/>
            <a:miter lim="800000"/>
            <a:headEnd type="none" w="med" len="med"/>
            <a:tailEnd type="triangle" w="med" len="med"/>
          </a:ln>
        </p:spPr>
      </p:cxnSp>
      <p:sp>
        <p:nvSpPr>
          <p:cNvPr id="794" name="Google Shape;794;p48"/>
          <p:cNvSpPr txBox="1"/>
          <p:nvPr/>
        </p:nvSpPr>
        <p:spPr>
          <a:xfrm>
            <a:off x="4637087" y="3665537"/>
            <a:ext cx="11160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lossless</a:t>
            </a:r>
            <a:endParaRPr/>
          </a:p>
        </p:txBody>
      </p:sp>
      <p:sp>
        <p:nvSpPr>
          <p:cNvPr id="795" name="Google Shape;795;p48"/>
          <p:cNvSpPr/>
          <p:nvPr/>
        </p:nvSpPr>
        <p:spPr>
          <a:xfrm>
            <a:off x="950912" y="4367212"/>
            <a:ext cx="3286125" cy="2184400"/>
          </a:xfrm>
          <a:prstGeom prst="can">
            <a:avLst>
              <a:gd name="adj" fmla="val 25000"/>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Original Data</a:t>
            </a:r>
            <a:endParaRPr/>
          </a:p>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Approximated </a:t>
            </a:r>
            <a:endParaRPr/>
          </a:p>
        </p:txBody>
      </p:sp>
      <p:cxnSp>
        <p:nvCxnSpPr>
          <p:cNvPr id="796" name="Google Shape;796;p48"/>
          <p:cNvCxnSpPr/>
          <p:nvPr/>
        </p:nvCxnSpPr>
        <p:spPr>
          <a:xfrm flipH="1">
            <a:off x="4252912" y="3875087"/>
            <a:ext cx="2743200" cy="1806575"/>
          </a:xfrm>
          <a:prstGeom prst="straightConnector1">
            <a:avLst/>
          </a:prstGeom>
          <a:noFill/>
          <a:ln w="9525" cap="flat" cmpd="sng">
            <a:solidFill>
              <a:schemeClr val="dk1"/>
            </a:solidFill>
            <a:prstDash val="solid"/>
            <a:miter lim="800000"/>
            <a:headEnd type="none" w="med" len="med"/>
            <a:tailEnd type="triangle" w="med" len="med"/>
          </a:ln>
        </p:spPr>
      </p:cxnSp>
      <p:sp>
        <p:nvSpPr>
          <p:cNvPr id="797" name="Google Shape;797;p48"/>
          <p:cNvSpPr txBox="1"/>
          <p:nvPr/>
        </p:nvSpPr>
        <p:spPr>
          <a:xfrm rot="-1800000">
            <a:off x="5227637" y="4783137"/>
            <a:ext cx="8112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lossy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4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50</a:t>
            </a:fld>
            <a:endParaRPr/>
          </a:p>
        </p:txBody>
      </p:sp>
      <p:sp>
        <p:nvSpPr>
          <p:cNvPr id="804" name="Google Shape;804;p49"/>
          <p:cNvSpPr txBox="1">
            <a:spLocks noGrp="1"/>
          </p:cNvSpPr>
          <p:nvPr>
            <p:ph type="title" idx="4294967295"/>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2"/>
              </a:buClr>
              <a:buSzPts val="3200"/>
              <a:buFont typeface="Overlock"/>
              <a:buNone/>
            </a:pPr>
            <a:r>
              <a:rPr lang="en-US" sz="3200" b="1" i="0" u="none" strike="noStrike" cap="none">
                <a:solidFill>
                  <a:schemeClr val="dk2"/>
                </a:solidFill>
                <a:latin typeface="Overlock"/>
                <a:ea typeface="Overlock"/>
                <a:cs typeface="Overlock"/>
                <a:sym typeface="Overlock"/>
              </a:rPr>
              <a:t>Chapter 3: Data Preprocessing</a:t>
            </a:r>
            <a:endParaRPr/>
          </a:p>
        </p:txBody>
      </p:sp>
      <p:sp>
        <p:nvSpPr>
          <p:cNvPr id="805" name="Google Shape;805;p49"/>
          <p:cNvSpPr txBox="1">
            <a:spLocks noGrp="1"/>
          </p:cNvSpPr>
          <p:nvPr>
            <p:ph type="body" idx="4294967295"/>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Preprocessing: An Overview</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Data Quality</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Major Tasks in Data Preprocessing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Cleaning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Integration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Reduction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Transformation and Data Discretization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Summary</a:t>
            </a:r>
            <a:endParaRPr/>
          </a:p>
        </p:txBody>
      </p:sp>
      <p:sp>
        <p:nvSpPr>
          <p:cNvPr id="806" name="Google Shape;806;p49"/>
          <p:cNvSpPr/>
          <p:nvPr/>
        </p:nvSpPr>
        <p:spPr>
          <a:xfrm rot="9420000">
            <a:off x="7010400" y="510540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5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51</a:t>
            </a:fld>
            <a:endParaRPr/>
          </a:p>
        </p:txBody>
      </p:sp>
      <p:sp>
        <p:nvSpPr>
          <p:cNvPr id="813" name="Google Shape;813;p50"/>
          <p:cNvSpPr txBox="1">
            <a:spLocks noGrp="1"/>
          </p:cNvSpPr>
          <p:nvPr>
            <p:ph type="title" idx="4294967295"/>
          </p:nvPr>
        </p:nvSpPr>
        <p:spPr>
          <a:xfrm>
            <a:off x="495300" y="304800"/>
            <a:ext cx="8054975" cy="6096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170981"/>
              </a:buClr>
              <a:buSzPts val="3600"/>
              <a:buFont typeface="Overlock"/>
              <a:buNone/>
            </a:pPr>
            <a:r>
              <a:rPr lang="en-US" sz="3600" b="1" i="0" u="none" strike="noStrike" cap="none">
                <a:solidFill>
                  <a:srgbClr val="170981"/>
                </a:solidFill>
                <a:latin typeface="Overlock"/>
                <a:ea typeface="Overlock"/>
                <a:cs typeface="Overlock"/>
                <a:sym typeface="Overlock"/>
              </a:rPr>
              <a:t>Data Transformation</a:t>
            </a:r>
            <a:endParaRPr/>
          </a:p>
        </p:txBody>
      </p:sp>
      <p:sp>
        <p:nvSpPr>
          <p:cNvPr id="814" name="Google Shape;814;p50"/>
          <p:cNvSpPr txBox="1">
            <a:spLocks noGrp="1"/>
          </p:cNvSpPr>
          <p:nvPr>
            <p:ph type="body" idx="4294967295"/>
          </p:nvPr>
        </p:nvSpPr>
        <p:spPr>
          <a:xfrm>
            <a:off x="304800" y="1219200"/>
            <a:ext cx="8305800" cy="5334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A function that maps the entire set of values of a given attribute to a new set of replacement values s.t. each old value can be identified with one of the new values</a:t>
            </a:r>
            <a:endParaRPr/>
          </a:p>
          <a:p>
            <a:pPr marL="342900" marR="0" lvl="0" indent="-342900" algn="l" rtl="0">
              <a:lnSpc>
                <a:spcPct val="100000"/>
              </a:lnSpc>
              <a:spcBef>
                <a:spcPts val="12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Methods</a:t>
            </a:r>
            <a:endParaRPr/>
          </a:p>
          <a:p>
            <a:pPr marL="742950" marR="0" lvl="1" indent="-285750" algn="l" rtl="0">
              <a:lnSpc>
                <a:spcPct val="100000"/>
              </a:lnSpc>
              <a:spcBef>
                <a:spcPts val="12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Smoothing: Remove noise from data</a:t>
            </a:r>
            <a:endParaRPr/>
          </a:p>
          <a:p>
            <a:pPr marL="742950" marR="0" lvl="1" indent="-285750" algn="l" rtl="0">
              <a:lnSpc>
                <a:spcPct val="100000"/>
              </a:lnSpc>
              <a:spcBef>
                <a:spcPts val="12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Attribute/feature construction</a:t>
            </a:r>
            <a:endParaRPr/>
          </a:p>
          <a:p>
            <a:pPr marL="1143000" marR="0" lvl="2" indent="-228600" algn="l" rtl="0">
              <a:lnSpc>
                <a:spcPct val="100000"/>
              </a:lnSpc>
              <a:spcBef>
                <a:spcPts val="1200"/>
              </a:spcBef>
              <a:spcAft>
                <a:spcPts val="0"/>
              </a:spcAft>
              <a:buClr>
                <a:schemeClr val="folHlink"/>
              </a:buClr>
              <a:buSzPts val="1000"/>
              <a:buFont typeface="Noto Sans Symbols"/>
              <a:buChar char="■"/>
            </a:pPr>
            <a:r>
              <a:rPr lang="en-US" sz="2000" b="0" i="0" u="none" strike="noStrike" cap="none">
                <a:solidFill>
                  <a:schemeClr val="dk1"/>
                </a:solidFill>
                <a:latin typeface="Tahoma"/>
                <a:ea typeface="Tahoma"/>
                <a:cs typeface="Tahoma"/>
                <a:sym typeface="Tahoma"/>
              </a:rPr>
              <a:t>New attributes constructed from the given ones</a:t>
            </a:r>
            <a:endParaRPr/>
          </a:p>
          <a:p>
            <a:pPr marL="742950" marR="0" lvl="1" indent="-285750" algn="l" rtl="0">
              <a:lnSpc>
                <a:spcPct val="100000"/>
              </a:lnSpc>
              <a:spcBef>
                <a:spcPts val="12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Aggregation: Summarization, data cube construction</a:t>
            </a:r>
            <a:endParaRPr/>
          </a:p>
          <a:p>
            <a:pPr marL="742950" marR="0" lvl="1" indent="-285750" algn="l" rtl="0">
              <a:lnSpc>
                <a:spcPct val="100000"/>
              </a:lnSpc>
              <a:spcBef>
                <a:spcPts val="12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Normalization: Scaled to fall within a smaller, specified range</a:t>
            </a:r>
            <a:endParaRPr/>
          </a:p>
          <a:p>
            <a:pPr marL="1143000" marR="0" lvl="2" indent="-228600" algn="l" rtl="0">
              <a:lnSpc>
                <a:spcPct val="100000"/>
              </a:lnSpc>
              <a:spcBef>
                <a:spcPts val="1200"/>
              </a:spcBef>
              <a:spcAft>
                <a:spcPts val="0"/>
              </a:spcAft>
              <a:buClr>
                <a:schemeClr val="folHlink"/>
              </a:buClr>
              <a:buSzPts val="1000"/>
              <a:buFont typeface="Noto Sans Symbols"/>
              <a:buChar char="■"/>
            </a:pPr>
            <a:r>
              <a:rPr lang="en-US" sz="2000" b="0" i="0" u="none" strike="noStrike" cap="none">
                <a:solidFill>
                  <a:schemeClr val="dk1"/>
                </a:solidFill>
                <a:latin typeface="Tahoma"/>
                <a:ea typeface="Tahoma"/>
                <a:cs typeface="Tahoma"/>
                <a:sym typeface="Tahoma"/>
              </a:rPr>
              <a:t>min-max normalization</a:t>
            </a:r>
            <a:endParaRPr/>
          </a:p>
          <a:p>
            <a:pPr marL="1143000" marR="0" lvl="2" indent="-228600" algn="l" rtl="0">
              <a:lnSpc>
                <a:spcPct val="100000"/>
              </a:lnSpc>
              <a:spcBef>
                <a:spcPts val="1200"/>
              </a:spcBef>
              <a:spcAft>
                <a:spcPts val="0"/>
              </a:spcAft>
              <a:buClr>
                <a:schemeClr val="folHlink"/>
              </a:buClr>
              <a:buSzPts val="1000"/>
              <a:buFont typeface="Noto Sans Symbols"/>
              <a:buChar char="■"/>
            </a:pPr>
            <a:r>
              <a:rPr lang="en-US" sz="2000" b="0" i="0" u="none" strike="noStrike" cap="none">
                <a:solidFill>
                  <a:schemeClr val="dk1"/>
                </a:solidFill>
                <a:latin typeface="Tahoma"/>
                <a:ea typeface="Tahoma"/>
                <a:cs typeface="Tahoma"/>
                <a:sym typeface="Tahoma"/>
              </a:rPr>
              <a:t>z-score normalization</a:t>
            </a:r>
            <a:endParaRPr/>
          </a:p>
          <a:p>
            <a:pPr marL="1143000" marR="0" lvl="2" indent="-228600" algn="l" rtl="0">
              <a:lnSpc>
                <a:spcPct val="100000"/>
              </a:lnSpc>
              <a:spcBef>
                <a:spcPts val="1200"/>
              </a:spcBef>
              <a:spcAft>
                <a:spcPts val="0"/>
              </a:spcAft>
              <a:buClr>
                <a:schemeClr val="folHlink"/>
              </a:buClr>
              <a:buSzPts val="1000"/>
              <a:buFont typeface="Noto Sans Symbols"/>
              <a:buChar char="■"/>
            </a:pPr>
            <a:r>
              <a:rPr lang="en-US" sz="2000" b="0" i="0" u="none" strike="noStrike" cap="none">
                <a:solidFill>
                  <a:schemeClr val="dk1"/>
                </a:solidFill>
                <a:latin typeface="Tahoma"/>
                <a:ea typeface="Tahoma"/>
                <a:cs typeface="Tahoma"/>
                <a:sym typeface="Tahoma"/>
              </a:rPr>
              <a:t>normalization by decimal scaling</a:t>
            </a:r>
            <a:endParaRPr/>
          </a:p>
          <a:p>
            <a:pPr marL="742950" marR="0" lvl="1" indent="-285750" algn="l" rtl="0">
              <a:lnSpc>
                <a:spcPct val="100000"/>
              </a:lnSpc>
              <a:spcBef>
                <a:spcPts val="1200"/>
              </a:spcBef>
              <a:spcAft>
                <a:spcPts val="0"/>
              </a:spcAft>
              <a:buClr>
                <a:schemeClr val="hlink"/>
              </a:buClr>
              <a:buSzPts val="1100"/>
              <a:buFont typeface="Noto Sans Symbols"/>
              <a:buChar char="■"/>
            </a:pPr>
            <a:r>
              <a:rPr lang="en-US" sz="2000" b="0" i="0" u="none" strike="noStrike" cap="none">
                <a:solidFill>
                  <a:schemeClr val="dk1"/>
                </a:solidFill>
                <a:latin typeface="Tahoma"/>
                <a:ea typeface="Tahoma"/>
                <a:cs typeface="Tahoma"/>
                <a:sym typeface="Tahoma"/>
              </a:rPr>
              <a:t>Discretization: Concept hierarchy climbing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5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52</a:t>
            </a:fld>
            <a:endParaRPr/>
          </a:p>
        </p:txBody>
      </p:sp>
      <p:sp>
        <p:nvSpPr>
          <p:cNvPr id="821" name="Google Shape;821;p51"/>
          <p:cNvSpPr txBox="1">
            <a:spLocks noGrp="1"/>
          </p:cNvSpPr>
          <p:nvPr>
            <p:ph type="title"/>
          </p:nvPr>
        </p:nvSpPr>
        <p:spPr>
          <a:xfrm>
            <a:off x="0" y="3810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Normalization</a:t>
            </a:r>
            <a:endParaRPr/>
          </a:p>
        </p:txBody>
      </p:sp>
      <p:sp>
        <p:nvSpPr>
          <p:cNvPr id="822" name="Google Shape;822;p51"/>
          <p:cNvSpPr txBox="1">
            <a:spLocks noGrp="1"/>
          </p:cNvSpPr>
          <p:nvPr>
            <p:ph type="body" idx="1"/>
          </p:nvPr>
        </p:nvSpPr>
        <p:spPr>
          <a:xfrm>
            <a:off x="304800" y="1295400"/>
            <a:ext cx="8305800" cy="50292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Min-max normalization</a:t>
            </a:r>
            <a:r>
              <a:rPr lang="en-US" sz="2000" b="0" i="0" u="none">
                <a:solidFill>
                  <a:schemeClr val="dk1"/>
                </a:solidFill>
                <a:latin typeface="Tahoma"/>
                <a:ea typeface="Tahoma"/>
                <a:cs typeface="Tahoma"/>
                <a:sym typeface="Tahoma"/>
              </a:rPr>
              <a:t>: to [new_min</a:t>
            </a:r>
            <a:r>
              <a:rPr lang="en-US" sz="2000" b="0" i="0" u="none" baseline="-25000">
                <a:solidFill>
                  <a:schemeClr val="dk1"/>
                </a:solidFill>
                <a:latin typeface="Tahoma"/>
                <a:ea typeface="Tahoma"/>
                <a:cs typeface="Tahoma"/>
                <a:sym typeface="Tahoma"/>
              </a:rPr>
              <a:t>A</a:t>
            </a:r>
            <a:r>
              <a:rPr lang="en-US" sz="2000" b="0" i="0" u="none">
                <a:solidFill>
                  <a:schemeClr val="dk1"/>
                </a:solidFill>
                <a:latin typeface="Tahoma"/>
                <a:ea typeface="Tahoma"/>
                <a:cs typeface="Tahoma"/>
                <a:sym typeface="Tahoma"/>
              </a:rPr>
              <a:t>, new_max</a:t>
            </a:r>
            <a:r>
              <a:rPr lang="en-US" sz="2000" b="0" i="0" u="none" baseline="-25000">
                <a:solidFill>
                  <a:schemeClr val="dk1"/>
                </a:solidFill>
                <a:latin typeface="Tahoma"/>
                <a:ea typeface="Tahoma"/>
                <a:cs typeface="Tahoma"/>
                <a:sym typeface="Tahoma"/>
              </a:rPr>
              <a:t>A</a:t>
            </a:r>
            <a:r>
              <a:rPr lang="en-US" sz="2000" b="0" i="0" u="none">
                <a:solidFill>
                  <a:schemeClr val="dk1"/>
                </a:solidFill>
                <a:latin typeface="Tahoma"/>
                <a:ea typeface="Tahoma"/>
                <a:cs typeface="Tahoma"/>
                <a:sym typeface="Tahoma"/>
              </a:rPr>
              <a:t>]</a:t>
            </a:r>
            <a:endParaRPr/>
          </a:p>
          <a:p>
            <a:pPr marL="742950" lvl="1" indent="-215900" algn="l" rtl="0">
              <a:lnSpc>
                <a:spcPct val="120000"/>
              </a:lnSpc>
              <a:spcBef>
                <a:spcPts val="400"/>
              </a:spcBef>
              <a:spcAft>
                <a:spcPts val="0"/>
              </a:spcAft>
              <a:buClr>
                <a:schemeClr val="hlink"/>
              </a:buClr>
              <a:buSzPts val="1100"/>
              <a:buFont typeface="Noto Sans Symbols"/>
              <a:buNone/>
            </a:pPr>
            <a:endParaRPr sz="2000" b="0" i="0" u="none">
              <a:solidFill>
                <a:schemeClr val="dk1"/>
              </a:solidFill>
              <a:latin typeface="Tahoma"/>
              <a:ea typeface="Tahoma"/>
              <a:cs typeface="Tahoma"/>
              <a:sym typeface="Tahoma"/>
            </a:endParaRPr>
          </a:p>
          <a:p>
            <a:pPr marL="742950" lvl="1" indent="-215900" algn="l" rtl="0">
              <a:lnSpc>
                <a:spcPct val="120000"/>
              </a:lnSpc>
              <a:spcBef>
                <a:spcPts val="400"/>
              </a:spcBef>
              <a:spcAft>
                <a:spcPts val="0"/>
              </a:spcAft>
              <a:buClr>
                <a:schemeClr val="hlink"/>
              </a:buClr>
              <a:buSzPts val="1100"/>
              <a:buFont typeface="Noto Sans Symbols"/>
              <a:buNone/>
            </a:pPr>
            <a:endParaRPr sz="2000" b="0" i="0" u="none">
              <a:solidFill>
                <a:schemeClr val="dk1"/>
              </a:solidFill>
              <a:latin typeface="Tahoma"/>
              <a:ea typeface="Tahoma"/>
              <a:cs typeface="Tahoma"/>
              <a:sym typeface="Tahoma"/>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Ex.  Let income range $12,000 to $98,000 normalized to [0.0, 1.0].  Then $73,000 is mapped to  </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Z-score normalization</a:t>
            </a:r>
            <a:r>
              <a:rPr lang="en-US" sz="2000" b="0" i="0" u="none">
                <a:solidFill>
                  <a:schemeClr val="dk1"/>
                </a:solidFill>
                <a:latin typeface="Tahoma"/>
                <a:ea typeface="Tahoma"/>
                <a:cs typeface="Tahoma"/>
                <a:sym typeface="Tahoma"/>
              </a:rPr>
              <a:t> (μ: mean, σ: standard deviation):</a:t>
            </a:r>
            <a:endParaRPr/>
          </a:p>
          <a:p>
            <a:pPr marL="342900" lvl="0" indent="-266700" algn="l" rtl="0">
              <a:lnSpc>
                <a:spcPct val="120000"/>
              </a:lnSpc>
              <a:spcBef>
                <a:spcPts val="400"/>
              </a:spcBef>
              <a:spcAft>
                <a:spcPts val="0"/>
              </a:spcAft>
              <a:buClr>
                <a:schemeClr val="folHlink"/>
              </a:buClr>
              <a:buSzPts val="1200"/>
              <a:buFont typeface="Noto Sans Symbols"/>
              <a:buNone/>
            </a:pPr>
            <a:endParaRPr sz="2000" b="0" i="0" u="none">
              <a:solidFill>
                <a:schemeClr val="dk1"/>
              </a:solidFill>
              <a:latin typeface="Tahoma"/>
              <a:ea typeface="Tahoma"/>
              <a:cs typeface="Tahoma"/>
              <a:sym typeface="Tahoma"/>
            </a:endParaRPr>
          </a:p>
          <a:p>
            <a:pPr marL="742950" lvl="1" indent="-215900" algn="l" rtl="0">
              <a:lnSpc>
                <a:spcPct val="120000"/>
              </a:lnSpc>
              <a:spcBef>
                <a:spcPts val="400"/>
              </a:spcBef>
              <a:spcAft>
                <a:spcPts val="0"/>
              </a:spcAft>
              <a:buClr>
                <a:schemeClr val="hlink"/>
              </a:buClr>
              <a:buSzPts val="1100"/>
              <a:buFont typeface="Noto Sans Symbols"/>
              <a:buNone/>
            </a:pPr>
            <a:endParaRPr sz="2000" b="0" i="0" u="none">
              <a:solidFill>
                <a:schemeClr val="dk1"/>
              </a:solidFill>
              <a:latin typeface="Tahoma"/>
              <a:ea typeface="Tahoma"/>
              <a:cs typeface="Tahoma"/>
              <a:sym typeface="Tahoma"/>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Ex. Let μ = 54,000, σ = 16,000.  Then</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Normalization by decimal scaling</a:t>
            </a:r>
            <a:endParaRPr/>
          </a:p>
        </p:txBody>
      </p:sp>
      <p:pic>
        <p:nvPicPr>
          <p:cNvPr id="823" name="Google Shape;823;p51"/>
          <p:cNvPicPr preferRelativeResize="0">
            <a:picLocks noGrp="1"/>
          </p:cNvPicPr>
          <p:nvPr>
            <p:ph type="body" idx="1"/>
          </p:nvPr>
        </p:nvPicPr>
        <p:blipFill rotWithShape="1">
          <a:blip r:embed="rId3">
            <a:alphaModFix/>
          </a:blip>
          <a:srcRect/>
          <a:stretch/>
        </p:blipFill>
        <p:spPr>
          <a:xfrm>
            <a:off x="5181600" y="2895600"/>
            <a:ext cx="2514600" cy="488950"/>
          </a:xfrm>
          <a:prstGeom prst="rect">
            <a:avLst/>
          </a:prstGeom>
          <a:noFill/>
          <a:ln>
            <a:noFill/>
          </a:ln>
        </p:spPr>
      </p:pic>
      <p:pic>
        <p:nvPicPr>
          <p:cNvPr id="824" name="Google Shape;824;p51"/>
          <p:cNvPicPr preferRelativeResize="0"/>
          <p:nvPr/>
        </p:nvPicPr>
        <p:blipFill rotWithShape="1">
          <a:blip r:embed="rId4">
            <a:alphaModFix/>
          </a:blip>
          <a:srcRect/>
          <a:stretch/>
        </p:blipFill>
        <p:spPr>
          <a:xfrm>
            <a:off x="1905000" y="1828800"/>
            <a:ext cx="5943600" cy="709612"/>
          </a:xfrm>
          <a:prstGeom prst="rect">
            <a:avLst/>
          </a:prstGeom>
          <a:noFill/>
          <a:ln>
            <a:noFill/>
          </a:ln>
        </p:spPr>
      </p:pic>
      <p:pic>
        <p:nvPicPr>
          <p:cNvPr id="825" name="Google Shape;825;p51"/>
          <p:cNvPicPr preferRelativeResize="0"/>
          <p:nvPr/>
        </p:nvPicPr>
        <p:blipFill rotWithShape="1">
          <a:blip r:embed="rId5">
            <a:alphaModFix/>
          </a:blip>
          <a:srcRect/>
          <a:stretch/>
        </p:blipFill>
        <p:spPr>
          <a:xfrm>
            <a:off x="1981200" y="3810000"/>
            <a:ext cx="1447799" cy="679450"/>
          </a:xfrm>
          <a:prstGeom prst="rect">
            <a:avLst/>
          </a:prstGeom>
          <a:noFill/>
          <a:ln>
            <a:noFill/>
          </a:ln>
        </p:spPr>
      </p:pic>
      <p:pic>
        <p:nvPicPr>
          <p:cNvPr id="826" name="Google Shape;826;p51"/>
          <p:cNvPicPr preferRelativeResize="0"/>
          <p:nvPr/>
        </p:nvPicPr>
        <p:blipFill rotWithShape="1">
          <a:blip r:embed="rId6">
            <a:alphaModFix/>
          </a:blip>
          <a:srcRect/>
          <a:stretch/>
        </p:blipFill>
        <p:spPr>
          <a:xfrm>
            <a:off x="1219200" y="5486400"/>
            <a:ext cx="1066800" cy="847725"/>
          </a:xfrm>
          <a:prstGeom prst="rect">
            <a:avLst/>
          </a:prstGeom>
          <a:noFill/>
          <a:ln>
            <a:noFill/>
          </a:ln>
        </p:spPr>
      </p:pic>
      <p:pic>
        <p:nvPicPr>
          <p:cNvPr id="827" name="Google Shape;827;p51"/>
          <p:cNvPicPr preferRelativeResize="0"/>
          <p:nvPr/>
        </p:nvPicPr>
        <p:blipFill rotWithShape="1">
          <a:blip r:embed="rId7">
            <a:alphaModFix/>
          </a:blip>
          <a:srcRect/>
          <a:stretch/>
        </p:blipFill>
        <p:spPr>
          <a:xfrm>
            <a:off x="4514850" y="3321050"/>
            <a:ext cx="112712" cy="214312"/>
          </a:xfrm>
          <a:prstGeom prst="rect">
            <a:avLst/>
          </a:prstGeom>
          <a:noFill/>
          <a:ln>
            <a:noFill/>
          </a:ln>
        </p:spPr>
      </p:pic>
      <p:sp>
        <p:nvSpPr>
          <p:cNvPr id="828" name="Google Shape;828;p51"/>
          <p:cNvSpPr txBox="1"/>
          <p:nvPr/>
        </p:nvSpPr>
        <p:spPr>
          <a:xfrm>
            <a:off x="2514600" y="5638800"/>
            <a:ext cx="612616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Where </a:t>
            </a:r>
            <a:r>
              <a:rPr lang="en-US" sz="2400" b="0" i="1" u="none">
                <a:solidFill>
                  <a:schemeClr val="dk1"/>
                </a:solidFill>
                <a:latin typeface="Times New Roman"/>
                <a:ea typeface="Times New Roman"/>
                <a:cs typeface="Times New Roman"/>
                <a:sym typeface="Times New Roman"/>
              </a:rPr>
              <a:t>j</a:t>
            </a:r>
            <a:r>
              <a:rPr lang="en-US" sz="2000" b="0" i="0" u="none">
                <a:solidFill>
                  <a:schemeClr val="dk1"/>
                </a:solidFill>
                <a:latin typeface="Times New Roman"/>
                <a:ea typeface="Times New Roman"/>
                <a:cs typeface="Times New Roman"/>
                <a:sym typeface="Times New Roman"/>
              </a:rPr>
              <a:t> is the smallest integer such that Max(|ν’|) &lt; 1</a:t>
            </a:r>
            <a:endParaRPr/>
          </a:p>
        </p:txBody>
      </p:sp>
      <p:pic>
        <p:nvPicPr>
          <p:cNvPr id="829" name="Google Shape;829;p51"/>
          <p:cNvPicPr preferRelativeResize="0">
            <a:picLocks noGrp="1"/>
          </p:cNvPicPr>
          <p:nvPr>
            <p:ph type="body" idx="2"/>
          </p:nvPr>
        </p:nvPicPr>
        <p:blipFill rotWithShape="1">
          <a:blip r:embed="rId8">
            <a:alphaModFix/>
          </a:blip>
          <a:srcRect/>
          <a:stretch/>
        </p:blipFill>
        <p:spPr>
          <a:xfrm>
            <a:off x="5562600" y="4592637"/>
            <a:ext cx="1952625" cy="56356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5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53</a:t>
            </a:fld>
            <a:endParaRPr/>
          </a:p>
        </p:txBody>
      </p:sp>
      <p:sp>
        <p:nvSpPr>
          <p:cNvPr id="836" name="Google Shape;836;p52"/>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Discretization</a:t>
            </a:r>
            <a:r>
              <a:rPr lang="en-US" sz="3600" b="1" i="0" u="none">
                <a:solidFill>
                  <a:schemeClr val="hlink"/>
                </a:solidFill>
                <a:latin typeface="Overlock"/>
                <a:ea typeface="Overlock"/>
                <a:cs typeface="Overlock"/>
                <a:sym typeface="Overlock"/>
              </a:rPr>
              <a:t> </a:t>
            </a:r>
            <a:endParaRPr/>
          </a:p>
        </p:txBody>
      </p:sp>
      <p:sp>
        <p:nvSpPr>
          <p:cNvPr id="837" name="Google Shape;837;p52"/>
          <p:cNvSpPr txBox="1">
            <a:spLocks noGrp="1"/>
          </p:cNvSpPr>
          <p:nvPr>
            <p:ph type="body" idx="1"/>
          </p:nvPr>
        </p:nvSpPr>
        <p:spPr>
          <a:xfrm>
            <a:off x="304800" y="1219200"/>
            <a:ext cx="8534400" cy="53340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Three types of attributes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Nominal—values from an unordered set, e.g., color, profession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Ordinal—values from an ordered set, e.g., military or academic rank </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Numeric—real numbers, e.g., integer or real numbers</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Discretization: Divide the range of a continuous attribute into intervals</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Interval labels can then be used to replace actual data values </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Reduce data size by discretization</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Supervised vs. unsupervised</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Split (top-down) vs. merge (bottom-up)</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Discretization can be performed recursively on an attribute</a:t>
            </a:r>
            <a:endParaRPr/>
          </a:p>
          <a:p>
            <a:pPr marL="742950" lvl="1" indent="-285750" algn="l" rtl="0">
              <a:lnSpc>
                <a:spcPct val="12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Prepare for further analysis, e.g., classification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5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54</a:t>
            </a:fld>
            <a:endParaRPr/>
          </a:p>
        </p:txBody>
      </p:sp>
      <p:sp>
        <p:nvSpPr>
          <p:cNvPr id="844" name="Google Shape;844;p53"/>
          <p:cNvSpPr txBox="1">
            <a:spLocks noGrp="1"/>
          </p:cNvSpPr>
          <p:nvPr>
            <p:ph type="title"/>
          </p:nvPr>
        </p:nvSpPr>
        <p:spPr>
          <a:xfrm>
            <a:off x="0" y="228600"/>
            <a:ext cx="8991600" cy="762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Data Discretization Methods</a:t>
            </a:r>
            <a:endParaRPr/>
          </a:p>
        </p:txBody>
      </p:sp>
      <p:sp>
        <p:nvSpPr>
          <p:cNvPr id="845" name="Google Shape;845;p53"/>
          <p:cNvSpPr txBox="1">
            <a:spLocks noGrp="1"/>
          </p:cNvSpPr>
          <p:nvPr>
            <p:ph type="body" idx="1"/>
          </p:nvPr>
        </p:nvSpPr>
        <p:spPr>
          <a:xfrm>
            <a:off x="304800" y="1295400"/>
            <a:ext cx="86106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Typical methods: All the methods can be applied recursively</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Binning</a:t>
            </a:r>
            <a:r>
              <a:rPr lang="en-US" sz="2400" b="0" i="0" u="none">
                <a:solidFill>
                  <a:schemeClr val="dk1"/>
                </a:solidFill>
                <a:latin typeface="Tahoma"/>
                <a:ea typeface="Tahoma"/>
                <a:cs typeface="Tahoma"/>
                <a:sym typeface="Tahoma"/>
              </a:rPr>
              <a:t> </a:t>
            </a:r>
            <a:endParaRPr/>
          </a:p>
          <a:p>
            <a:pPr marL="1143000" lvl="2" indent="-228600" algn="l" rtl="0">
              <a:lnSpc>
                <a:spcPct val="12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Top-down split, unsupervised</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Histogram analysis</a:t>
            </a:r>
            <a:endParaRPr/>
          </a:p>
          <a:p>
            <a:pPr marL="1143000" lvl="2" indent="-228600" algn="l" rtl="0">
              <a:lnSpc>
                <a:spcPct val="120000"/>
              </a:lnSpc>
              <a:spcBef>
                <a:spcPts val="480"/>
              </a:spcBef>
              <a:spcAft>
                <a:spcPts val="0"/>
              </a:spcAft>
              <a:buClr>
                <a:schemeClr val="folHlink"/>
              </a:buClr>
              <a:buSzPts val="1200"/>
              <a:buFont typeface="Noto Sans Symbols"/>
              <a:buChar char="■"/>
            </a:pPr>
            <a:r>
              <a:rPr lang="en-US" sz="2400" b="0" i="0" u="none">
                <a:solidFill>
                  <a:schemeClr val="dk1"/>
                </a:solidFill>
                <a:latin typeface="Tahoma"/>
                <a:ea typeface="Tahoma"/>
                <a:cs typeface="Tahoma"/>
                <a:sym typeface="Tahoma"/>
              </a:rPr>
              <a:t>Top-down split, unsupervised</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Clustering analysis</a:t>
            </a:r>
            <a:r>
              <a:rPr lang="en-US" sz="2400" b="0" i="0" u="none">
                <a:solidFill>
                  <a:schemeClr val="dk1"/>
                </a:solidFill>
                <a:latin typeface="Tahoma"/>
                <a:ea typeface="Tahoma"/>
                <a:cs typeface="Tahoma"/>
                <a:sym typeface="Tahoma"/>
              </a:rPr>
              <a:t> (unsupervised, top-down split or bottom-up merge)</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Decision-tree analysis</a:t>
            </a:r>
            <a:r>
              <a:rPr lang="en-US" sz="2400" b="0" i="0" u="none">
                <a:solidFill>
                  <a:schemeClr val="dk1"/>
                </a:solidFill>
                <a:latin typeface="Tahoma"/>
                <a:ea typeface="Tahoma"/>
                <a:cs typeface="Tahoma"/>
                <a:sym typeface="Tahoma"/>
              </a:rPr>
              <a:t> (supervised, top-down split)</a:t>
            </a:r>
            <a:endParaRPr/>
          </a:p>
          <a:p>
            <a:pPr marL="742950" lvl="1" indent="-285750" algn="l" rtl="0">
              <a:lnSpc>
                <a:spcPct val="120000"/>
              </a:lnSpc>
              <a:spcBef>
                <a:spcPts val="480"/>
              </a:spcBef>
              <a:spcAft>
                <a:spcPts val="0"/>
              </a:spcAft>
              <a:buClr>
                <a:schemeClr val="hlink"/>
              </a:buClr>
              <a:buSzPts val="1320"/>
              <a:buFont typeface="Noto Sans Symbols"/>
              <a:buChar char="■"/>
            </a:pPr>
            <a:r>
              <a:rPr lang="en-US" sz="2400" b="0" i="0" u="none">
                <a:solidFill>
                  <a:schemeClr val="hlink"/>
                </a:solidFill>
                <a:latin typeface="Tahoma"/>
                <a:ea typeface="Tahoma"/>
                <a:cs typeface="Tahoma"/>
                <a:sym typeface="Tahoma"/>
              </a:rPr>
              <a:t>Correlation (e.g., χ</a:t>
            </a:r>
            <a:r>
              <a:rPr lang="en-US" sz="2400" b="0" i="0" u="none" baseline="30000">
                <a:solidFill>
                  <a:schemeClr val="hlink"/>
                </a:solidFill>
                <a:latin typeface="Tahoma"/>
                <a:ea typeface="Tahoma"/>
                <a:cs typeface="Tahoma"/>
                <a:sym typeface="Tahoma"/>
              </a:rPr>
              <a:t>2</a:t>
            </a:r>
            <a:r>
              <a:rPr lang="en-US" sz="2400" b="0" i="0" u="none">
                <a:solidFill>
                  <a:schemeClr val="hlink"/>
                </a:solidFill>
                <a:latin typeface="Tahoma"/>
                <a:ea typeface="Tahoma"/>
                <a:cs typeface="Tahoma"/>
                <a:sym typeface="Tahoma"/>
              </a:rPr>
              <a:t>) analysis</a:t>
            </a:r>
            <a:r>
              <a:rPr lang="en-US" sz="2400" b="0" i="0" u="none">
                <a:solidFill>
                  <a:schemeClr val="dk1"/>
                </a:solidFill>
                <a:latin typeface="Tahoma"/>
                <a:ea typeface="Tahoma"/>
                <a:cs typeface="Tahoma"/>
                <a:sym typeface="Tahoma"/>
              </a:rPr>
              <a:t> (unsupervised, bottom-up merge)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54"/>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55</a:t>
            </a:fld>
            <a:endParaRPr/>
          </a:p>
        </p:txBody>
      </p:sp>
      <p:sp>
        <p:nvSpPr>
          <p:cNvPr id="852" name="Google Shape;852;p54"/>
          <p:cNvSpPr txBox="1">
            <a:spLocks noGrp="1"/>
          </p:cNvSpPr>
          <p:nvPr>
            <p:ph type="title"/>
          </p:nvPr>
        </p:nvSpPr>
        <p:spPr>
          <a:xfrm>
            <a:off x="-152400" y="304800"/>
            <a:ext cx="93726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Simple Discretization: Binning</a:t>
            </a:r>
            <a:endParaRPr/>
          </a:p>
        </p:txBody>
      </p:sp>
      <p:sp>
        <p:nvSpPr>
          <p:cNvPr id="853" name="Google Shape;853;p54"/>
          <p:cNvSpPr txBox="1">
            <a:spLocks noGrp="1"/>
          </p:cNvSpPr>
          <p:nvPr>
            <p:ph type="body" idx="1"/>
          </p:nvPr>
        </p:nvSpPr>
        <p:spPr>
          <a:xfrm>
            <a:off x="304800" y="1295400"/>
            <a:ext cx="8458200" cy="51816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folHlink"/>
              </a:buClr>
              <a:buSzPts val="1200"/>
              <a:buFont typeface="Noto Sans Symbols"/>
              <a:buChar char="■"/>
            </a:pPr>
            <a:r>
              <a:rPr lang="en-US" sz="2000" b="0" i="0" u="none">
                <a:solidFill>
                  <a:schemeClr val="hlink"/>
                </a:solidFill>
                <a:latin typeface="Tahoma"/>
                <a:ea typeface="Tahoma"/>
                <a:cs typeface="Tahoma"/>
                <a:sym typeface="Tahoma"/>
              </a:rPr>
              <a:t>Equal-width</a:t>
            </a:r>
            <a:r>
              <a:rPr lang="en-US" sz="2000" b="0" i="0" u="none">
                <a:solidFill>
                  <a:schemeClr val="dk1"/>
                </a:solidFill>
                <a:latin typeface="Tahoma"/>
                <a:ea typeface="Tahoma"/>
                <a:cs typeface="Tahoma"/>
                <a:sym typeface="Tahoma"/>
              </a:rPr>
              <a:t> (distance) partitioning</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Divides the range into </a:t>
            </a:r>
            <a:r>
              <a:rPr lang="en-US" sz="2000" b="0" i="1" u="none">
                <a:solidFill>
                  <a:schemeClr val="dk1"/>
                </a:solidFill>
                <a:latin typeface="Tahoma"/>
                <a:ea typeface="Tahoma"/>
                <a:cs typeface="Tahoma"/>
                <a:sym typeface="Tahoma"/>
              </a:rPr>
              <a:t>N</a:t>
            </a:r>
            <a:r>
              <a:rPr lang="en-US" sz="2000" b="0" i="0" u="none">
                <a:solidFill>
                  <a:schemeClr val="dk1"/>
                </a:solidFill>
                <a:latin typeface="Tahoma"/>
                <a:ea typeface="Tahoma"/>
                <a:cs typeface="Tahoma"/>
                <a:sym typeface="Tahoma"/>
              </a:rPr>
              <a:t> intervals of equal size: </a:t>
            </a:r>
            <a:r>
              <a:rPr lang="en-US" sz="2000" b="0" i="0" u="none">
                <a:solidFill>
                  <a:srgbClr val="39513E"/>
                </a:solidFill>
                <a:latin typeface="Tahoma"/>
                <a:ea typeface="Tahoma"/>
                <a:cs typeface="Tahoma"/>
                <a:sym typeface="Tahoma"/>
              </a:rPr>
              <a:t>uniform grid</a:t>
            </a:r>
            <a:endParaRPr sz="2000" b="0" i="0" u="none">
              <a:solidFill>
                <a:schemeClr val="hlink"/>
              </a:solidFill>
              <a:latin typeface="Tahoma"/>
              <a:ea typeface="Tahoma"/>
              <a:cs typeface="Tahoma"/>
              <a:sym typeface="Tahoma"/>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if </a:t>
            </a:r>
            <a:r>
              <a:rPr lang="en-US" sz="2000" b="0" i="1" u="none">
                <a:solidFill>
                  <a:schemeClr val="dk1"/>
                </a:solidFill>
                <a:latin typeface="Tahoma"/>
                <a:ea typeface="Tahoma"/>
                <a:cs typeface="Tahoma"/>
                <a:sym typeface="Tahoma"/>
              </a:rPr>
              <a:t>A</a:t>
            </a:r>
            <a:r>
              <a:rPr lang="en-US" sz="2000" b="0" i="0" u="none">
                <a:solidFill>
                  <a:schemeClr val="dk1"/>
                </a:solidFill>
                <a:latin typeface="Tahoma"/>
                <a:ea typeface="Tahoma"/>
                <a:cs typeface="Tahoma"/>
                <a:sym typeface="Tahoma"/>
              </a:rPr>
              <a:t> and </a:t>
            </a:r>
            <a:r>
              <a:rPr lang="en-US" sz="2000" b="0" i="1" u="none">
                <a:solidFill>
                  <a:schemeClr val="dk1"/>
                </a:solidFill>
                <a:latin typeface="Tahoma"/>
                <a:ea typeface="Tahoma"/>
                <a:cs typeface="Tahoma"/>
                <a:sym typeface="Tahoma"/>
              </a:rPr>
              <a:t>B</a:t>
            </a:r>
            <a:r>
              <a:rPr lang="en-US" sz="2000" b="0" i="0" u="none">
                <a:solidFill>
                  <a:schemeClr val="dk1"/>
                </a:solidFill>
                <a:latin typeface="Tahoma"/>
                <a:ea typeface="Tahoma"/>
                <a:cs typeface="Tahoma"/>
                <a:sym typeface="Tahoma"/>
              </a:rPr>
              <a:t> are the lowest and highest values of the attribute, the width of intervals will be: </a:t>
            </a:r>
            <a:r>
              <a:rPr lang="en-US" sz="2000" b="0" i="1" u="none">
                <a:solidFill>
                  <a:schemeClr val="dk1"/>
                </a:solidFill>
                <a:latin typeface="Tahoma"/>
                <a:ea typeface="Tahoma"/>
                <a:cs typeface="Tahoma"/>
                <a:sym typeface="Tahoma"/>
              </a:rPr>
              <a:t>W </a:t>
            </a:r>
            <a:r>
              <a:rPr lang="en-US" sz="2000" b="0" i="0" u="none">
                <a:solidFill>
                  <a:schemeClr val="dk1"/>
                </a:solidFill>
                <a:latin typeface="Tahoma"/>
                <a:ea typeface="Tahoma"/>
                <a:cs typeface="Tahoma"/>
                <a:sym typeface="Tahoma"/>
              </a:rPr>
              <a:t>= (</a:t>
            </a:r>
            <a:r>
              <a:rPr lang="en-US" sz="2000" b="0" i="1" u="none">
                <a:solidFill>
                  <a:schemeClr val="dk1"/>
                </a:solidFill>
                <a:latin typeface="Tahoma"/>
                <a:ea typeface="Tahoma"/>
                <a:cs typeface="Tahoma"/>
                <a:sym typeface="Tahoma"/>
              </a:rPr>
              <a:t>B </a:t>
            </a:r>
            <a:r>
              <a:rPr lang="en-US" sz="2000" b="0" i="0" u="none">
                <a:solidFill>
                  <a:schemeClr val="dk1"/>
                </a:solidFill>
                <a:latin typeface="Tahoma"/>
                <a:ea typeface="Tahoma"/>
                <a:cs typeface="Tahoma"/>
                <a:sym typeface="Tahoma"/>
              </a:rPr>
              <a:t>–</a:t>
            </a:r>
            <a:r>
              <a:rPr lang="en-US" sz="2000" b="0" i="1" u="none">
                <a:solidFill>
                  <a:schemeClr val="dk1"/>
                </a:solidFill>
                <a:latin typeface="Tahoma"/>
                <a:ea typeface="Tahoma"/>
                <a:cs typeface="Tahoma"/>
                <a:sym typeface="Tahoma"/>
              </a:rPr>
              <a:t>A</a:t>
            </a:r>
            <a:r>
              <a:rPr lang="en-US" sz="2000" b="0" i="0" u="none">
                <a:solidFill>
                  <a:schemeClr val="dk1"/>
                </a:solidFill>
                <a:latin typeface="Tahoma"/>
                <a:ea typeface="Tahoma"/>
                <a:cs typeface="Tahoma"/>
                <a:sym typeface="Tahoma"/>
              </a:rPr>
              <a:t>)/</a:t>
            </a:r>
            <a:r>
              <a:rPr lang="en-US" sz="2000" b="0" i="1" u="none">
                <a:solidFill>
                  <a:schemeClr val="dk1"/>
                </a:solidFill>
                <a:latin typeface="Tahoma"/>
                <a:ea typeface="Tahoma"/>
                <a:cs typeface="Tahoma"/>
                <a:sym typeface="Tahoma"/>
              </a:rPr>
              <a:t>N.</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The most straightforward, but outliers may dominate presentation</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Skewed data is not handled well</a:t>
            </a:r>
            <a:endParaRPr sz="2000" b="0" i="1" u="none">
              <a:solidFill>
                <a:schemeClr val="dk1"/>
              </a:solidFill>
              <a:latin typeface="Tahoma"/>
              <a:ea typeface="Tahoma"/>
              <a:cs typeface="Tahoma"/>
              <a:sym typeface="Tahoma"/>
            </a:endParaRPr>
          </a:p>
          <a:p>
            <a:pPr marL="342900" lvl="0" indent="-342900" algn="l" rtl="0">
              <a:lnSpc>
                <a:spcPct val="150000"/>
              </a:lnSpc>
              <a:spcBef>
                <a:spcPts val="400"/>
              </a:spcBef>
              <a:spcAft>
                <a:spcPts val="0"/>
              </a:spcAft>
              <a:buClr>
                <a:schemeClr val="folHlink"/>
              </a:buClr>
              <a:buSzPts val="1200"/>
              <a:buFont typeface="Noto Sans Symbols"/>
              <a:buChar char="■"/>
            </a:pPr>
            <a:r>
              <a:rPr lang="en-US" sz="2000" b="0" i="0" u="none">
                <a:solidFill>
                  <a:schemeClr val="hlink"/>
                </a:solidFill>
                <a:latin typeface="Tahoma"/>
                <a:ea typeface="Tahoma"/>
                <a:cs typeface="Tahoma"/>
                <a:sym typeface="Tahoma"/>
              </a:rPr>
              <a:t>Equal-depth</a:t>
            </a:r>
            <a:r>
              <a:rPr lang="en-US" sz="2000" b="0" i="0" u="none">
                <a:solidFill>
                  <a:schemeClr val="dk1"/>
                </a:solidFill>
                <a:latin typeface="Tahoma"/>
                <a:ea typeface="Tahoma"/>
                <a:cs typeface="Tahoma"/>
                <a:sym typeface="Tahoma"/>
              </a:rPr>
              <a:t> (frequency) partitioning</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Divides the range into </a:t>
            </a:r>
            <a:r>
              <a:rPr lang="en-US" sz="2000" b="0" i="1" u="none">
                <a:solidFill>
                  <a:schemeClr val="dk1"/>
                </a:solidFill>
                <a:latin typeface="Tahoma"/>
                <a:ea typeface="Tahoma"/>
                <a:cs typeface="Tahoma"/>
                <a:sym typeface="Tahoma"/>
              </a:rPr>
              <a:t>N</a:t>
            </a:r>
            <a:r>
              <a:rPr lang="en-US" sz="2000" b="0" i="0" u="none">
                <a:solidFill>
                  <a:schemeClr val="dk1"/>
                </a:solidFill>
                <a:latin typeface="Tahoma"/>
                <a:ea typeface="Tahoma"/>
                <a:cs typeface="Tahoma"/>
                <a:sym typeface="Tahoma"/>
              </a:rPr>
              <a:t> intervals, each containing approximately same number of samples</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Good data scaling</a:t>
            </a:r>
            <a:endParaRPr/>
          </a:p>
          <a:p>
            <a:pPr marL="742950" lvl="1" indent="-285750" algn="l" rtl="0">
              <a:lnSpc>
                <a:spcPct val="150000"/>
              </a:lnSpc>
              <a:spcBef>
                <a:spcPts val="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Managing categorical attributes can be tricky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55"/>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56</a:t>
            </a:fld>
            <a:endParaRPr/>
          </a:p>
        </p:txBody>
      </p:sp>
      <p:sp>
        <p:nvSpPr>
          <p:cNvPr id="860" name="Google Shape;860;p55"/>
          <p:cNvSpPr txBox="1">
            <a:spLocks noGrp="1"/>
          </p:cNvSpPr>
          <p:nvPr>
            <p:ph type="title"/>
          </p:nvPr>
        </p:nvSpPr>
        <p:spPr>
          <a:xfrm>
            <a:off x="76200" y="304800"/>
            <a:ext cx="90678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Binning Methods for Data Smoothing</a:t>
            </a:r>
            <a:endParaRPr/>
          </a:p>
        </p:txBody>
      </p:sp>
      <p:sp>
        <p:nvSpPr>
          <p:cNvPr id="861" name="Google Shape;861;p55"/>
          <p:cNvSpPr txBox="1">
            <a:spLocks noGrp="1"/>
          </p:cNvSpPr>
          <p:nvPr>
            <p:ph type="body" idx="1"/>
          </p:nvPr>
        </p:nvSpPr>
        <p:spPr>
          <a:xfrm>
            <a:off x="457200" y="1371600"/>
            <a:ext cx="8077200" cy="5029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Sorted data for price (in dollars): 4, 8, 9, 15, 21, 21, 24, 25, 26, 28, 29, 34</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Partition into equal-frequency (</a:t>
            </a:r>
            <a:r>
              <a:rPr lang="en-US" sz="2000" b="1" i="0" u="none">
                <a:solidFill>
                  <a:schemeClr val="dk1"/>
                </a:solidFill>
                <a:latin typeface="Tahoma"/>
                <a:ea typeface="Tahoma"/>
                <a:cs typeface="Tahoma"/>
                <a:sym typeface="Tahoma"/>
              </a:rPr>
              <a:t>equi-depth</a:t>
            </a:r>
            <a:r>
              <a:rPr lang="en-US" sz="2000" b="0" i="0" u="none">
                <a:solidFill>
                  <a:schemeClr val="dk1"/>
                </a:solidFill>
                <a:latin typeface="Tahoma"/>
                <a:ea typeface="Tahoma"/>
                <a:cs typeface="Tahoma"/>
                <a:sym typeface="Tahoma"/>
              </a:rPr>
              <a:t>) bins:</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1: 4, 8, 9, 15</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2: 21, 21, 24, 25</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3: 26, 28, 29, 34</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Smoothing by </a:t>
            </a:r>
            <a:r>
              <a:rPr lang="en-US" sz="2000" b="1" i="0" u="none">
                <a:solidFill>
                  <a:schemeClr val="dk1"/>
                </a:solidFill>
                <a:latin typeface="Tahoma"/>
                <a:ea typeface="Tahoma"/>
                <a:cs typeface="Tahoma"/>
                <a:sym typeface="Tahoma"/>
              </a:rPr>
              <a:t>bin means</a:t>
            </a:r>
            <a:r>
              <a:rPr lang="en-US" sz="2000" b="0" i="0" u="none">
                <a:solidFill>
                  <a:schemeClr val="dk1"/>
                </a:solidFill>
                <a:latin typeface="Tahoma"/>
                <a:ea typeface="Tahoma"/>
                <a:cs typeface="Tahoma"/>
                <a:sym typeface="Tahoma"/>
              </a:rPr>
              <a:t>:</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1: 9, 9, 9, 9</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2: 23, 23, 23, 23</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3: 29, 29, 29, 29</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Smoothing by </a:t>
            </a:r>
            <a:r>
              <a:rPr lang="en-US" sz="2000" b="1" i="0" u="none">
                <a:solidFill>
                  <a:schemeClr val="dk1"/>
                </a:solidFill>
                <a:latin typeface="Tahoma"/>
                <a:ea typeface="Tahoma"/>
                <a:cs typeface="Tahoma"/>
                <a:sym typeface="Tahoma"/>
              </a:rPr>
              <a:t>bin boundaries</a:t>
            </a:r>
            <a:r>
              <a:rPr lang="en-US" sz="2000" b="0" i="0" u="none">
                <a:solidFill>
                  <a:schemeClr val="dk1"/>
                </a:solidFill>
                <a:latin typeface="Tahoma"/>
                <a:ea typeface="Tahoma"/>
                <a:cs typeface="Tahoma"/>
                <a:sym typeface="Tahoma"/>
              </a:rPr>
              <a:t>:</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1: 4, 4, 4, 15</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2: 21, 21, 25, 25</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ahoma"/>
                <a:ea typeface="Tahoma"/>
                <a:cs typeface="Tahoma"/>
                <a:sym typeface="Tahoma"/>
              </a:rPr>
              <a:t>      - Bin 3: 26, 26, 26, 34</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56"/>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57</a:t>
            </a:fld>
            <a:endParaRPr/>
          </a:p>
        </p:txBody>
      </p:sp>
      <p:sp>
        <p:nvSpPr>
          <p:cNvPr id="868" name="Google Shape;868;p56"/>
          <p:cNvSpPr txBox="1">
            <a:spLocks noGrp="1"/>
          </p:cNvSpPr>
          <p:nvPr>
            <p:ph type="title"/>
          </p:nvPr>
        </p:nvSpPr>
        <p:spPr>
          <a:xfrm>
            <a:off x="228600" y="0"/>
            <a:ext cx="8763000" cy="1219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Discretization Without Using Class Labels</a:t>
            </a:r>
            <a:br>
              <a:rPr lang="en-US" sz="3600" b="1" i="0" u="none">
                <a:solidFill>
                  <a:schemeClr val="dk2"/>
                </a:solidFill>
                <a:latin typeface="Overlock"/>
                <a:ea typeface="Overlock"/>
                <a:cs typeface="Overlock"/>
                <a:sym typeface="Overlock"/>
              </a:rPr>
            </a:br>
            <a:r>
              <a:rPr lang="en-US" sz="3600" b="1" i="0" u="none">
                <a:solidFill>
                  <a:schemeClr val="dk2"/>
                </a:solidFill>
                <a:latin typeface="Overlock"/>
                <a:ea typeface="Overlock"/>
                <a:cs typeface="Overlock"/>
                <a:sym typeface="Overlock"/>
              </a:rPr>
              <a:t>(Binning vs. Clustering) </a:t>
            </a:r>
            <a:endParaRPr/>
          </a:p>
        </p:txBody>
      </p:sp>
      <p:pic>
        <p:nvPicPr>
          <p:cNvPr id="869" name="Google Shape;869;p56"/>
          <p:cNvPicPr preferRelativeResize="0"/>
          <p:nvPr/>
        </p:nvPicPr>
        <p:blipFill rotWithShape="1">
          <a:blip r:embed="rId3">
            <a:alphaModFix/>
          </a:blip>
          <a:srcRect/>
          <a:stretch/>
        </p:blipFill>
        <p:spPr>
          <a:xfrm>
            <a:off x="0" y="1524000"/>
            <a:ext cx="4114800" cy="2058987"/>
          </a:xfrm>
          <a:prstGeom prst="rect">
            <a:avLst/>
          </a:prstGeom>
          <a:noFill/>
          <a:ln>
            <a:noFill/>
          </a:ln>
        </p:spPr>
      </p:pic>
      <p:pic>
        <p:nvPicPr>
          <p:cNvPr id="870" name="Google Shape;870;p56"/>
          <p:cNvPicPr preferRelativeResize="0"/>
          <p:nvPr/>
        </p:nvPicPr>
        <p:blipFill rotWithShape="1">
          <a:blip r:embed="rId4">
            <a:alphaModFix/>
          </a:blip>
          <a:srcRect/>
          <a:stretch/>
        </p:blipFill>
        <p:spPr>
          <a:xfrm>
            <a:off x="4114800" y="1447800"/>
            <a:ext cx="4495800" cy="2160587"/>
          </a:xfrm>
          <a:prstGeom prst="rect">
            <a:avLst/>
          </a:prstGeom>
          <a:noFill/>
          <a:ln>
            <a:noFill/>
          </a:ln>
        </p:spPr>
      </p:pic>
      <p:pic>
        <p:nvPicPr>
          <p:cNvPr id="871" name="Google Shape;871;p56"/>
          <p:cNvPicPr preferRelativeResize="0"/>
          <p:nvPr/>
        </p:nvPicPr>
        <p:blipFill rotWithShape="1">
          <a:blip r:embed="rId5">
            <a:alphaModFix/>
          </a:blip>
          <a:srcRect/>
          <a:stretch/>
        </p:blipFill>
        <p:spPr>
          <a:xfrm>
            <a:off x="0" y="3810000"/>
            <a:ext cx="4191000" cy="2187575"/>
          </a:xfrm>
          <a:prstGeom prst="rect">
            <a:avLst/>
          </a:prstGeom>
          <a:noFill/>
          <a:ln>
            <a:noFill/>
          </a:ln>
        </p:spPr>
      </p:pic>
      <p:sp>
        <p:nvSpPr>
          <p:cNvPr id="872" name="Google Shape;872;p56"/>
          <p:cNvSpPr txBox="1"/>
          <p:nvPr/>
        </p:nvSpPr>
        <p:spPr>
          <a:xfrm>
            <a:off x="1676400" y="3657600"/>
            <a:ext cx="16002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873" name="Google Shape;873;p56"/>
          <p:cNvSpPr txBox="1"/>
          <p:nvPr/>
        </p:nvSpPr>
        <p:spPr>
          <a:xfrm>
            <a:off x="1447800" y="3810000"/>
            <a:ext cx="19050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Data</a:t>
            </a:r>
            <a:endParaRPr/>
          </a:p>
        </p:txBody>
      </p:sp>
      <p:sp>
        <p:nvSpPr>
          <p:cNvPr id="874" name="Google Shape;874;p56"/>
          <p:cNvSpPr txBox="1"/>
          <p:nvPr/>
        </p:nvSpPr>
        <p:spPr>
          <a:xfrm>
            <a:off x="4876800" y="3810000"/>
            <a:ext cx="26670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Equal interval width (binning)</a:t>
            </a:r>
            <a:endParaRPr/>
          </a:p>
        </p:txBody>
      </p:sp>
      <p:sp>
        <p:nvSpPr>
          <p:cNvPr id="875" name="Google Shape;875;p56"/>
          <p:cNvSpPr txBox="1"/>
          <p:nvPr/>
        </p:nvSpPr>
        <p:spPr>
          <a:xfrm>
            <a:off x="1143000" y="6172200"/>
            <a:ext cx="25146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Equal frequency (binning)</a:t>
            </a:r>
            <a:endParaRPr/>
          </a:p>
        </p:txBody>
      </p:sp>
      <p:sp>
        <p:nvSpPr>
          <p:cNvPr id="876" name="Google Shape;876;p56"/>
          <p:cNvSpPr txBox="1"/>
          <p:nvPr/>
        </p:nvSpPr>
        <p:spPr>
          <a:xfrm>
            <a:off x="4572000" y="6172200"/>
            <a:ext cx="37338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K-means clustering leads to better results</a:t>
            </a:r>
            <a:endParaRPr/>
          </a:p>
        </p:txBody>
      </p:sp>
      <p:pic>
        <p:nvPicPr>
          <p:cNvPr id="877" name="Google Shape;877;p56"/>
          <p:cNvPicPr preferRelativeResize="0"/>
          <p:nvPr/>
        </p:nvPicPr>
        <p:blipFill rotWithShape="1">
          <a:blip r:embed="rId6">
            <a:alphaModFix/>
          </a:blip>
          <a:srcRect/>
          <a:stretch/>
        </p:blipFill>
        <p:spPr>
          <a:xfrm>
            <a:off x="4038600" y="3768725"/>
            <a:ext cx="4876800" cy="225266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57"/>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58</a:t>
            </a:fld>
            <a:endParaRPr/>
          </a:p>
        </p:txBody>
      </p:sp>
      <p:sp>
        <p:nvSpPr>
          <p:cNvPr id="884" name="Google Shape;884;p57"/>
          <p:cNvSpPr txBox="1">
            <a:spLocks noGrp="1"/>
          </p:cNvSpPr>
          <p:nvPr>
            <p:ph type="title"/>
          </p:nvPr>
        </p:nvSpPr>
        <p:spPr>
          <a:xfrm>
            <a:off x="228600" y="0"/>
            <a:ext cx="8585200" cy="1219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000"/>
              <a:buFont typeface="Overlock"/>
              <a:buNone/>
            </a:pPr>
            <a:r>
              <a:rPr lang="en-US" sz="4000" b="1" i="0" u="none">
                <a:solidFill>
                  <a:schemeClr val="dk2"/>
                </a:solidFill>
                <a:latin typeface="Overlock"/>
                <a:ea typeface="Overlock"/>
                <a:cs typeface="Overlock"/>
                <a:sym typeface="Overlock"/>
              </a:rPr>
              <a:t>Discretization by Classification &amp; Correlation Analysis</a:t>
            </a:r>
            <a:endParaRPr/>
          </a:p>
        </p:txBody>
      </p:sp>
      <p:sp>
        <p:nvSpPr>
          <p:cNvPr id="885" name="Google Shape;885;p57"/>
          <p:cNvSpPr txBox="1">
            <a:spLocks noGrp="1"/>
          </p:cNvSpPr>
          <p:nvPr>
            <p:ph type="body" idx="1"/>
          </p:nvPr>
        </p:nvSpPr>
        <p:spPr>
          <a:xfrm>
            <a:off x="457200" y="1295400"/>
            <a:ext cx="8394700" cy="5181600"/>
          </a:xfrm>
          <a:prstGeom prst="rect">
            <a:avLst/>
          </a:prstGeom>
          <a:noFill/>
          <a:ln>
            <a:noFill/>
          </a:ln>
        </p:spPr>
        <p:txBody>
          <a:bodyPr spcFirstLastPara="1" wrap="square" lIns="90475" tIns="44450" rIns="90475" bIns="44450" anchor="t" anchorCtr="0">
            <a:noAutofit/>
          </a:bodyPr>
          <a:lstStyle/>
          <a:p>
            <a:pPr marL="285750" lvl="0" indent="-285750" algn="just" rtl="0">
              <a:lnSpc>
                <a:spcPct val="145000"/>
              </a:lnSpc>
              <a:spcBef>
                <a:spcPts val="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Classification (e.g., decision tree analysis)</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Supervised: Given class labels, e.g., cancerous vs. benign</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Using </a:t>
            </a:r>
            <a:r>
              <a:rPr lang="en-US" sz="2000" b="0" i="1" u="none">
                <a:solidFill>
                  <a:schemeClr val="dk1"/>
                </a:solidFill>
                <a:latin typeface="Tahoma"/>
                <a:ea typeface="Tahoma"/>
                <a:cs typeface="Tahoma"/>
                <a:sym typeface="Tahoma"/>
              </a:rPr>
              <a:t>entropy</a:t>
            </a:r>
            <a:r>
              <a:rPr lang="en-US" sz="2000" b="0" i="0" u="none">
                <a:solidFill>
                  <a:schemeClr val="dk1"/>
                </a:solidFill>
                <a:latin typeface="Tahoma"/>
                <a:ea typeface="Tahoma"/>
                <a:cs typeface="Tahoma"/>
                <a:sym typeface="Tahoma"/>
              </a:rPr>
              <a:t> to determine split point (discretization point)</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Top-down, recursive split</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Details to be covered in Chapter 7</a:t>
            </a:r>
            <a:endParaRPr sz="2000" b="0" i="0" u="none">
              <a:solidFill>
                <a:schemeClr val="dk1"/>
              </a:solidFill>
              <a:latin typeface="Tahoma"/>
              <a:ea typeface="Tahoma"/>
              <a:cs typeface="Tahoma"/>
              <a:sym typeface="Tahoma"/>
            </a:endParaRPr>
          </a:p>
          <a:p>
            <a:pPr marL="285750" lvl="0" indent="-285750" algn="just" rtl="0">
              <a:lnSpc>
                <a:spcPct val="145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Correlation analysis (e.g., Chi-merge: χ</a:t>
            </a:r>
            <a:r>
              <a:rPr lang="en-US" sz="2000" b="0" i="0" u="none" baseline="30000">
                <a:solidFill>
                  <a:schemeClr val="dk1"/>
                </a:solidFill>
                <a:latin typeface="Tahoma"/>
                <a:ea typeface="Tahoma"/>
                <a:cs typeface="Tahoma"/>
                <a:sym typeface="Tahoma"/>
              </a:rPr>
              <a:t>2</a:t>
            </a:r>
            <a:r>
              <a:rPr lang="en-US" sz="2000" b="0" i="0" u="none">
                <a:solidFill>
                  <a:schemeClr val="dk1"/>
                </a:solidFill>
                <a:latin typeface="Tahoma"/>
                <a:ea typeface="Tahoma"/>
                <a:cs typeface="Tahoma"/>
                <a:sym typeface="Tahoma"/>
              </a:rPr>
              <a:t>-based discretization)</a:t>
            </a:r>
            <a:endParaRPr sz="2000" b="0" i="0" u="none">
              <a:solidFill>
                <a:schemeClr val="dk1"/>
              </a:solidFill>
              <a:latin typeface="Tahoma"/>
              <a:ea typeface="Tahoma"/>
              <a:cs typeface="Tahoma"/>
              <a:sym typeface="Tahoma"/>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Supervised: use class information</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Bottom-up merge: find the best neighboring intervals (those having similar distributions of classes, i.e., low χ</a:t>
            </a:r>
            <a:r>
              <a:rPr lang="en-US" sz="2000" b="0" i="0" u="none" baseline="30000">
                <a:solidFill>
                  <a:schemeClr val="dk1"/>
                </a:solidFill>
                <a:latin typeface="Tahoma"/>
                <a:ea typeface="Tahoma"/>
                <a:cs typeface="Tahoma"/>
                <a:sym typeface="Tahoma"/>
              </a:rPr>
              <a:t>2</a:t>
            </a:r>
            <a:r>
              <a:rPr lang="en-US" sz="2000" b="0" i="0" u="none">
                <a:solidFill>
                  <a:schemeClr val="dk1"/>
                </a:solidFill>
                <a:latin typeface="Tahoma"/>
                <a:ea typeface="Tahoma"/>
                <a:cs typeface="Tahoma"/>
                <a:sym typeface="Tahoma"/>
              </a:rPr>
              <a:t> values) to merge</a:t>
            </a:r>
            <a:endParaRPr/>
          </a:p>
          <a:p>
            <a:pPr marL="742950" lvl="1" indent="-285750" algn="just" rtl="0">
              <a:lnSpc>
                <a:spcPct val="145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Merge performed recursively, until a predefined stopping condition</a:t>
            </a:r>
            <a:endParaRPr/>
          </a:p>
        </p:txBody>
      </p:sp>
      <p:sp>
        <p:nvSpPr>
          <p:cNvPr id="886" name="Google Shape;886;p57"/>
          <p:cNvSpPr txBox="1"/>
          <p:nvPr/>
        </p:nvSpPr>
        <p:spPr>
          <a:xfrm>
            <a:off x="1676400" y="3657600"/>
            <a:ext cx="160020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
        <p:nvSpPr>
          <p:cNvPr id="887" name="Google Shape;887;p57"/>
          <p:cNvSpPr txBox="1"/>
          <p:nvPr/>
        </p:nvSpPr>
        <p:spPr>
          <a:xfrm>
            <a:off x="1717675" y="5984875"/>
            <a:ext cx="184150"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58"/>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59</a:t>
            </a:fld>
            <a:endParaRPr/>
          </a:p>
        </p:txBody>
      </p:sp>
      <p:sp>
        <p:nvSpPr>
          <p:cNvPr id="894" name="Google Shape;894;p58"/>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170981"/>
              </a:buClr>
              <a:buSzPts val="3600"/>
              <a:buFont typeface="Overlock"/>
              <a:buNone/>
            </a:pPr>
            <a:r>
              <a:rPr lang="en-US" sz="3600" b="1" i="0" u="none">
                <a:solidFill>
                  <a:srgbClr val="170981"/>
                </a:solidFill>
                <a:latin typeface="Overlock"/>
                <a:ea typeface="Overlock"/>
                <a:cs typeface="Overlock"/>
                <a:sym typeface="Overlock"/>
              </a:rPr>
              <a:t>Concept Hierarchy Generation</a:t>
            </a:r>
            <a:endParaRPr/>
          </a:p>
        </p:txBody>
      </p:sp>
      <p:sp>
        <p:nvSpPr>
          <p:cNvPr id="895" name="Google Shape;895;p58"/>
          <p:cNvSpPr txBox="1">
            <a:spLocks noGrp="1"/>
          </p:cNvSpPr>
          <p:nvPr>
            <p:ph type="body" idx="1"/>
          </p:nvPr>
        </p:nvSpPr>
        <p:spPr>
          <a:xfrm>
            <a:off x="304800" y="1371600"/>
            <a:ext cx="85344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Concept hierarchy</a:t>
            </a:r>
            <a:r>
              <a:rPr lang="en-US" sz="2000" b="0" i="0" u="none">
                <a:solidFill>
                  <a:schemeClr val="dk1"/>
                </a:solidFill>
                <a:latin typeface="Tahoma"/>
                <a:ea typeface="Tahoma"/>
                <a:cs typeface="Tahoma"/>
                <a:sym typeface="Tahoma"/>
              </a:rPr>
              <a:t> organizes concepts (i.e., attribute values) hierarchically and is usually associated with each dimension in a data warehouse</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Concept hierarchies facilitate </a:t>
            </a:r>
            <a:r>
              <a:rPr lang="en-US" sz="2000" b="0" i="0" u="sng">
                <a:solidFill>
                  <a:schemeClr val="dk1"/>
                </a:solidFill>
                <a:latin typeface="Tahoma"/>
                <a:ea typeface="Tahoma"/>
                <a:cs typeface="Tahoma"/>
                <a:sym typeface="Tahoma"/>
              </a:rPr>
              <a:t>drilling and rolling</a:t>
            </a:r>
            <a:r>
              <a:rPr lang="en-US" sz="2000" b="0" i="0" u="none">
                <a:solidFill>
                  <a:schemeClr val="dk1"/>
                </a:solidFill>
                <a:latin typeface="Tahoma"/>
                <a:ea typeface="Tahoma"/>
                <a:cs typeface="Tahoma"/>
                <a:sym typeface="Tahoma"/>
              </a:rPr>
              <a:t> in data warehouses to view data in multiple granularity</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Concept hierarchy formation: Recursively reduce the data by collecting and replacing low level concepts (such as numeric values for </a:t>
            </a:r>
            <a:r>
              <a:rPr lang="en-US" sz="2000" b="0" i="1" u="none">
                <a:solidFill>
                  <a:schemeClr val="dk1"/>
                </a:solidFill>
                <a:latin typeface="Tahoma"/>
                <a:ea typeface="Tahoma"/>
                <a:cs typeface="Tahoma"/>
                <a:sym typeface="Tahoma"/>
              </a:rPr>
              <a:t>age</a:t>
            </a:r>
            <a:r>
              <a:rPr lang="en-US" sz="2000" b="0" i="0" u="none">
                <a:solidFill>
                  <a:schemeClr val="dk1"/>
                </a:solidFill>
                <a:latin typeface="Tahoma"/>
                <a:ea typeface="Tahoma"/>
                <a:cs typeface="Tahoma"/>
                <a:sym typeface="Tahoma"/>
              </a:rPr>
              <a:t>) by higher level concepts (such as </a:t>
            </a:r>
            <a:r>
              <a:rPr lang="en-US" sz="2000" b="0" i="1" u="none">
                <a:solidFill>
                  <a:schemeClr val="dk1"/>
                </a:solidFill>
                <a:latin typeface="Tahoma"/>
                <a:ea typeface="Tahoma"/>
                <a:cs typeface="Tahoma"/>
                <a:sym typeface="Tahoma"/>
              </a:rPr>
              <a:t>youth, adult</a:t>
            </a:r>
            <a:r>
              <a:rPr lang="en-US" sz="2000" b="0" i="0" u="none">
                <a:solidFill>
                  <a:schemeClr val="dk1"/>
                </a:solidFill>
                <a:latin typeface="Tahoma"/>
                <a:ea typeface="Tahoma"/>
                <a:cs typeface="Tahoma"/>
                <a:sym typeface="Tahoma"/>
              </a:rPr>
              <a:t>, or </a:t>
            </a:r>
            <a:r>
              <a:rPr lang="en-US" sz="2000" b="0" i="1" u="none">
                <a:solidFill>
                  <a:schemeClr val="dk1"/>
                </a:solidFill>
                <a:latin typeface="Tahoma"/>
                <a:ea typeface="Tahoma"/>
                <a:cs typeface="Tahoma"/>
                <a:sym typeface="Tahoma"/>
              </a:rPr>
              <a:t>senior</a:t>
            </a:r>
            <a:r>
              <a:rPr lang="en-US" sz="2000" b="0" i="0" u="none">
                <a:solidFill>
                  <a:schemeClr val="dk1"/>
                </a:solidFill>
                <a:latin typeface="Tahoma"/>
                <a:ea typeface="Tahoma"/>
                <a:cs typeface="Tahoma"/>
                <a:sym typeface="Tahoma"/>
              </a:rPr>
              <a:t>)</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Concept hierarchies can be explicitly specified by domain experts and/or data warehouse designers</a:t>
            </a:r>
            <a:endParaRPr/>
          </a:p>
          <a:p>
            <a:pPr marL="342900" lvl="0" indent="-342900" algn="l" rtl="0">
              <a:lnSpc>
                <a:spcPct val="120000"/>
              </a:lnSpc>
              <a:spcBef>
                <a:spcPts val="400"/>
              </a:spcBef>
              <a:spcAft>
                <a:spcPts val="0"/>
              </a:spcAft>
              <a:buClr>
                <a:schemeClr val="folHlink"/>
              </a:buClr>
              <a:buSzPts val="1200"/>
              <a:buFont typeface="Noto Sans Symbols"/>
              <a:buChar char="■"/>
            </a:pPr>
            <a:r>
              <a:rPr lang="en-US" sz="2000" b="0" i="0" u="none">
                <a:solidFill>
                  <a:schemeClr val="dk1"/>
                </a:solidFill>
                <a:latin typeface="Tahoma"/>
                <a:ea typeface="Tahoma"/>
                <a:cs typeface="Tahoma"/>
                <a:sym typeface="Tahoma"/>
              </a:rPr>
              <a:t>Concept hierarchy can be automatically formed for both numeric and nominal data.  For numeric data, use discretization methods shown.</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59"/>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60</a:t>
            </a:fld>
            <a:endParaRPr/>
          </a:p>
        </p:txBody>
      </p:sp>
      <p:sp>
        <p:nvSpPr>
          <p:cNvPr id="902" name="Google Shape;902;p59"/>
          <p:cNvSpPr txBox="1">
            <a:spLocks noGrp="1"/>
          </p:cNvSpPr>
          <p:nvPr>
            <p:ph type="title"/>
          </p:nvPr>
        </p:nvSpPr>
        <p:spPr>
          <a:xfrm>
            <a:off x="-152400" y="228600"/>
            <a:ext cx="9448800" cy="914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Concept Hierarchy Generation </a:t>
            </a:r>
            <a:br>
              <a:rPr lang="en-US" sz="3200" b="1" i="0" u="none">
                <a:solidFill>
                  <a:schemeClr val="dk2"/>
                </a:solidFill>
                <a:latin typeface="Overlock"/>
                <a:ea typeface="Overlock"/>
                <a:cs typeface="Overlock"/>
                <a:sym typeface="Overlock"/>
              </a:rPr>
            </a:br>
            <a:r>
              <a:rPr lang="en-US" sz="3200" b="1" i="0" u="none">
                <a:solidFill>
                  <a:schemeClr val="dk2"/>
                </a:solidFill>
                <a:latin typeface="Overlock"/>
                <a:ea typeface="Overlock"/>
                <a:cs typeface="Overlock"/>
                <a:sym typeface="Overlock"/>
              </a:rPr>
              <a:t>for Nominal Data</a:t>
            </a:r>
            <a:endParaRPr/>
          </a:p>
        </p:txBody>
      </p:sp>
      <p:sp>
        <p:nvSpPr>
          <p:cNvPr id="903" name="Google Shape;903;p59"/>
          <p:cNvSpPr txBox="1">
            <a:spLocks noGrp="1"/>
          </p:cNvSpPr>
          <p:nvPr>
            <p:ph type="body" idx="1"/>
          </p:nvPr>
        </p:nvSpPr>
        <p:spPr>
          <a:xfrm>
            <a:off x="304800" y="13716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1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Specification of a partial/total ordering of attributes explicitly at the schema level by users or experts</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1" u="none">
                <a:solidFill>
                  <a:schemeClr val="dk1"/>
                </a:solidFill>
                <a:latin typeface="Tahoma"/>
                <a:ea typeface="Tahoma"/>
                <a:cs typeface="Tahoma"/>
                <a:sym typeface="Tahoma"/>
              </a:rPr>
              <a:t>street</a:t>
            </a:r>
            <a:r>
              <a:rPr lang="en-US" sz="2400" b="0" i="0" u="none">
                <a:solidFill>
                  <a:schemeClr val="dk1"/>
                </a:solidFill>
                <a:latin typeface="Tahoma"/>
                <a:ea typeface="Tahoma"/>
                <a:cs typeface="Tahoma"/>
                <a:sym typeface="Tahoma"/>
              </a:rPr>
              <a:t> &lt; </a:t>
            </a:r>
            <a:r>
              <a:rPr lang="en-US" sz="2400" b="0" i="1" u="none">
                <a:solidFill>
                  <a:schemeClr val="dk1"/>
                </a:solidFill>
                <a:latin typeface="Tahoma"/>
                <a:ea typeface="Tahoma"/>
                <a:cs typeface="Tahoma"/>
                <a:sym typeface="Tahoma"/>
              </a:rPr>
              <a:t>city</a:t>
            </a:r>
            <a:r>
              <a:rPr lang="en-US" sz="2400" b="0" i="0" u="none">
                <a:solidFill>
                  <a:schemeClr val="dk1"/>
                </a:solidFill>
                <a:latin typeface="Tahoma"/>
                <a:ea typeface="Tahoma"/>
                <a:cs typeface="Tahoma"/>
                <a:sym typeface="Tahoma"/>
              </a:rPr>
              <a:t> &lt; </a:t>
            </a:r>
            <a:r>
              <a:rPr lang="en-US" sz="2400" b="0" i="1" u="none">
                <a:solidFill>
                  <a:schemeClr val="dk1"/>
                </a:solidFill>
                <a:latin typeface="Tahoma"/>
                <a:ea typeface="Tahoma"/>
                <a:cs typeface="Tahoma"/>
                <a:sym typeface="Tahoma"/>
              </a:rPr>
              <a:t>state</a:t>
            </a:r>
            <a:r>
              <a:rPr lang="en-US" sz="2400" b="0" i="0" u="none">
                <a:solidFill>
                  <a:schemeClr val="dk1"/>
                </a:solidFill>
                <a:latin typeface="Tahoma"/>
                <a:ea typeface="Tahoma"/>
                <a:cs typeface="Tahoma"/>
                <a:sym typeface="Tahoma"/>
              </a:rPr>
              <a:t> &lt; </a:t>
            </a:r>
            <a:r>
              <a:rPr lang="en-US" sz="2400" b="0" i="1" u="none">
                <a:solidFill>
                  <a:schemeClr val="dk1"/>
                </a:solidFill>
                <a:latin typeface="Tahoma"/>
                <a:ea typeface="Tahoma"/>
                <a:cs typeface="Tahoma"/>
                <a:sym typeface="Tahoma"/>
              </a:rPr>
              <a:t>country</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Specification of a hierarchy for a set of values by explicit data grouping</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{Urbana, Champaign, Chicago} &lt; Illinois</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Specification of only a partial set of attributes</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E.g., only </a:t>
            </a:r>
            <a:r>
              <a:rPr lang="en-US" sz="2400" b="0" i="1" u="none">
                <a:solidFill>
                  <a:schemeClr val="dk1"/>
                </a:solidFill>
                <a:latin typeface="Tahoma"/>
                <a:ea typeface="Tahoma"/>
                <a:cs typeface="Tahoma"/>
                <a:sym typeface="Tahoma"/>
              </a:rPr>
              <a:t>street</a:t>
            </a:r>
            <a:r>
              <a:rPr lang="en-US" sz="2400" b="0" i="0" u="none">
                <a:solidFill>
                  <a:schemeClr val="dk1"/>
                </a:solidFill>
                <a:latin typeface="Tahoma"/>
                <a:ea typeface="Tahoma"/>
                <a:cs typeface="Tahoma"/>
                <a:sym typeface="Tahoma"/>
              </a:rPr>
              <a:t> &lt; </a:t>
            </a:r>
            <a:r>
              <a:rPr lang="en-US" sz="2400" b="0" i="1" u="none">
                <a:solidFill>
                  <a:schemeClr val="dk1"/>
                </a:solidFill>
                <a:latin typeface="Tahoma"/>
                <a:ea typeface="Tahoma"/>
                <a:cs typeface="Tahoma"/>
                <a:sym typeface="Tahoma"/>
              </a:rPr>
              <a:t>city</a:t>
            </a:r>
            <a:r>
              <a:rPr lang="en-US" sz="2400" b="0" i="0" u="none">
                <a:solidFill>
                  <a:schemeClr val="dk1"/>
                </a:solidFill>
                <a:latin typeface="Tahoma"/>
                <a:ea typeface="Tahoma"/>
                <a:cs typeface="Tahoma"/>
                <a:sym typeface="Tahoma"/>
              </a:rPr>
              <a:t>, not others</a:t>
            </a:r>
            <a:endParaRPr/>
          </a:p>
          <a:p>
            <a:pPr marL="342900" lvl="0" indent="-342900" algn="l" rtl="0">
              <a:lnSpc>
                <a:spcPct val="11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Automatic generation of hierarchies (or attribute levels) by the analysis of the number of distinct values</a:t>
            </a:r>
            <a:endParaRPr/>
          </a:p>
          <a:p>
            <a:pPr marL="742950" lvl="1" indent="-285750" algn="l" rtl="0">
              <a:lnSpc>
                <a:spcPct val="110000"/>
              </a:lnSpc>
              <a:spcBef>
                <a:spcPts val="480"/>
              </a:spcBef>
              <a:spcAft>
                <a:spcPts val="0"/>
              </a:spcAft>
              <a:buClr>
                <a:schemeClr val="hlink"/>
              </a:buClr>
              <a:buSzPts val="1320"/>
              <a:buFont typeface="Noto Sans Symbols"/>
              <a:buChar char="■"/>
            </a:pPr>
            <a:r>
              <a:rPr lang="en-US" sz="2400" b="0" i="0" u="none">
                <a:solidFill>
                  <a:schemeClr val="dk1"/>
                </a:solidFill>
                <a:latin typeface="Tahoma"/>
                <a:ea typeface="Tahoma"/>
                <a:cs typeface="Tahoma"/>
                <a:sym typeface="Tahoma"/>
              </a:rPr>
              <a:t>E.g., for a set of attributes: {</a:t>
            </a:r>
            <a:r>
              <a:rPr lang="en-US" sz="2400" b="0" i="1" u="none">
                <a:solidFill>
                  <a:schemeClr val="dk1"/>
                </a:solidFill>
                <a:latin typeface="Tahoma"/>
                <a:ea typeface="Tahoma"/>
                <a:cs typeface="Tahoma"/>
                <a:sym typeface="Tahoma"/>
              </a:rPr>
              <a:t>street, city, state, country</a:t>
            </a:r>
            <a:r>
              <a:rPr lang="en-US" sz="2400" b="0" i="0" u="none">
                <a:solidFill>
                  <a:schemeClr val="dk1"/>
                </a:solidFill>
                <a:latin typeface="Tahoma"/>
                <a:ea typeface="Tahoma"/>
                <a:cs typeface="Tahoma"/>
                <a:sym typeface="Tahoma"/>
              </a:rPr>
              <a: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6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61</a:t>
            </a:fld>
            <a:endParaRPr/>
          </a:p>
        </p:txBody>
      </p:sp>
      <p:sp>
        <p:nvSpPr>
          <p:cNvPr id="910" name="Google Shape;910;p60"/>
          <p:cNvSpPr txBox="1">
            <a:spLocks noGrp="1"/>
          </p:cNvSpPr>
          <p:nvPr>
            <p:ph type="title"/>
          </p:nvPr>
        </p:nvSpPr>
        <p:spPr>
          <a:xfrm>
            <a:off x="0" y="304800"/>
            <a:ext cx="9144000" cy="685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Overlock"/>
              <a:buNone/>
            </a:pPr>
            <a:r>
              <a:rPr lang="en-US" sz="3200" b="1" i="0" u="none">
                <a:solidFill>
                  <a:schemeClr val="dk2"/>
                </a:solidFill>
                <a:latin typeface="Overlock"/>
                <a:ea typeface="Overlock"/>
                <a:cs typeface="Overlock"/>
                <a:sym typeface="Overlock"/>
              </a:rPr>
              <a:t>Automatic Concept Hierarchy Generation</a:t>
            </a:r>
            <a:endParaRPr/>
          </a:p>
        </p:txBody>
      </p:sp>
      <p:sp>
        <p:nvSpPr>
          <p:cNvPr id="911" name="Google Shape;911;p60"/>
          <p:cNvSpPr txBox="1">
            <a:spLocks noGrp="1"/>
          </p:cNvSpPr>
          <p:nvPr>
            <p:ph type="body" idx="1"/>
          </p:nvPr>
        </p:nvSpPr>
        <p:spPr>
          <a:xfrm>
            <a:off x="381000" y="1295400"/>
            <a:ext cx="8077200" cy="22860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440"/>
              <a:buFont typeface="Noto Sans Symbols"/>
              <a:buChar char="■"/>
            </a:pPr>
            <a:r>
              <a:rPr lang="en-US" sz="2400" b="0" i="0" u="none">
                <a:solidFill>
                  <a:schemeClr val="dk1"/>
                </a:solidFill>
                <a:latin typeface="Calibri"/>
                <a:ea typeface="Calibri"/>
                <a:cs typeface="Calibri"/>
                <a:sym typeface="Calibri"/>
              </a:rPr>
              <a:t>Some hierarchies can be automatically generated based on the analysis of the number of distinct values per attribute in the data set </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Calibri"/>
                <a:ea typeface="Calibri"/>
                <a:cs typeface="Calibri"/>
                <a:sym typeface="Calibri"/>
              </a:rPr>
              <a:t>The attribute with the most distinct values is placed at the lowest level of the hierarchy</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Calibri"/>
                <a:ea typeface="Calibri"/>
                <a:cs typeface="Calibri"/>
                <a:sym typeface="Calibri"/>
              </a:rPr>
              <a:t>Exceptions, e.g., weekday, month, quarter, year</a:t>
            </a:r>
            <a:endParaRPr/>
          </a:p>
        </p:txBody>
      </p:sp>
      <p:grpSp>
        <p:nvGrpSpPr>
          <p:cNvPr id="912" name="Google Shape;912;p60"/>
          <p:cNvGrpSpPr/>
          <p:nvPr/>
        </p:nvGrpSpPr>
        <p:grpSpPr>
          <a:xfrm>
            <a:off x="914400" y="3733800"/>
            <a:ext cx="7156450" cy="2724150"/>
            <a:chOff x="672" y="2438"/>
            <a:chExt cx="4508" cy="1716"/>
          </a:xfrm>
        </p:grpSpPr>
        <p:sp>
          <p:nvSpPr>
            <p:cNvPr id="913" name="Google Shape;913;p60"/>
            <p:cNvSpPr/>
            <p:nvPr/>
          </p:nvSpPr>
          <p:spPr>
            <a:xfrm>
              <a:off x="672" y="2496"/>
              <a:ext cx="2256" cy="216"/>
            </a:xfrm>
            <a:prstGeom prst="ellipse">
              <a:avLst/>
            </a:prstGeom>
            <a:no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1" u="none">
                  <a:solidFill>
                    <a:schemeClr val="dk1"/>
                  </a:solidFill>
                  <a:latin typeface="Times New Roman"/>
                  <a:ea typeface="Times New Roman"/>
                  <a:cs typeface="Times New Roman"/>
                  <a:sym typeface="Times New Roman"/>
                </a:rPr>
                <a:t>country</a:t>
              </a:r>
              <a:endParaRPr/>
            </a:p>
          </p:txBody>
        </p:sp>
        <p:sp>
          <p:nvSpPr>
            <p:cNvPr id="914" name="Google Shape;914;p60"/>
            <p:cNvSpPr/>
            <p:nvPr/>
          </p:nvSpPr>
          <p:spPr>
            <a:xfrm>
              <a:off x="708" y="2952"/>
              <a:ext cx="2256" cy="216"/>
            </a:xfrm>
            <a:prstGeom prst="ellipse">
              <a:avLst/>
            </a:prstGeom>
            <a:no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1" u="none">
                  <a:solidFill>
                    <a:schemeClr val="dk1"/>
                  </a:solidFill>
                  <a:latin typeface="Times New Roman"/>
                  <a:ea typeface="Times New Roman"/>
                  <a:cs typeface="Times New Roman"/>
                  <a:sym typeface="Times New Roman"/>
                </a:rPr>
                <a:t>province_or_ state</a:t>
              </a:r>
              <a:endParaRPr/>
            </a:p>
          </p:txBody>
        </p:sp>
        <p:sp>
          <p:nvSpPr>
            <p:cNvPr id="915" name="Google Shape;915;p60"/>
            <p:cNvSpPr/>
            <p:nvPr/>
          </p:nvSpPr>
          <p:spPr>
            <a:xfrm>
              <a:off x="756" y="3456"/>
              <a:ext cx="2256" cy="216"/>
            </a:xfrm>
            <a:prstGeom prst="ellipse">
              <a:avLst/>
            </a:prstGeom>
            <a:no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1" u="none">
                  <a:solidFill>
                    <a:schemeClr val="dk1"/>
                  </a:solidFill>
                  <a:latin typeface="Times New Roman"/>
                  <a:ea typeface="Times New Roman"/>
                  <a:cs typeface="Times New Roman"/>
                  <a:sym typeface="Times New Roman"/>
                </a:rPr>
                <a:t>city</a:t>
              </a:r>
              <a:endParaRPr/>
            </a:p>
          </p:txBody>
        </p:sp>
        <p:sp>
          <p:nvSpPr>
            <p:cNvPr id="916" name="Google Shape;916;p60"/>
            <p:cNvSpPr/>
            <p:nvPr/>
          </p:nvSpPr>
          <p:spPr>
            <a:xfrm>
              <a:off x="744" y="3936"/>
              <a:ext cx="2256" cy="216"/>
            </a:xfrm>
            <a:prstGeom prst="ellipse">
              <a:avLst/>
            </a:prstGeom>
            <a:noFill/>
            <a:ln w="952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1" u="none">
                  <a:solidFill>
                    <a:schemeClr val="dk1"/>
                  </a:solidFill>
                  <a:latin typeface="Times New Roman"/>
                  <a:ea typeface="Times New Roman"/>
                  <a:cs typeface="Times New Roman"/>
                  <a:sym typeface="Times New Roman"/>
                </a:rPr>
                <a:t>street</a:t>
              </a:r>
              <a:endParaRPr/>
            </a:p>
          </p:txBody>
        </p:sp>
        <p:cxnSp>
          <p:nvCxnSpPr>
            <p:cNvPr id="917" name="Google Shape;917;p60"/>
            <p:cNvCxnSpPr/>
            <p:nvPr/>
          </p:nvCxnSpPr>
          <p:spPr>
            <a:xfrm>
              <a:off x="1836" y="2736"/>
              <a:ext cx="0" cy="240"/>
            </a:xfrm>
            <a:prstGeom prst="straightConnector1">
              <a:avLst/>
            </a:prstGeom>
            <a:noFill/>
            <a:ln w="9525" cap="flat" cmpd="sng">
              <a:solidFill>
                <a:schemeClr val="dk2"/>
              </a:solidFill>
              <a:prstDash val="solid"/>
              <a:miter lim="800000"/>
              <a:headEnd type="none" w="med" len="med"/>
              <a:tailEnd type="none" w="med" len="med"/>
            </a:ln>
          </p:spPr>
        </p:cxnSp>
        <p:cxnSp>
          <p:nvCxnSpPr>
            <p:cNvPr id="918" name="Google Shape;918;p60"/>
            <p:cNvCxnSpPr/>
            <p:nvPr/>
          </p:nvCxnSpPr>
          <p:spPr>
            <a:xfrm>
              <a:off x="1836" y="3096"/>
              <a:ext cx="0" cy="336"/>
            </a:xfrm>
            <a:prstGeom prst="straightConnector1">
              <a:avLst/>
            </a:prstGeom>
            <a:noFill/>
            <a:ln w="9525" cap="flat" cmpd="sng">
              <a:solidFill>
                <a:schemeClr val="dk2"/>
              </a:solidFill>
              <a:prstDash val="solid"/>
              <a:miter lim="800000"/>
              <a:headEnd type="none" w="med" len="med"/>
              <a:tailEnd type="none" w="med" len="med"/>
            </a:ln>
          </p:spPr>
        </p:cxnSp>
        <p:cxnSp>
          <p:nvCxnSpPr>
            <p:cNvPr id="919" name="Google Shape;919;p60"/>
            <p:cNvCxnSpPr/>
            <p:nvPr/>
          </p:nvCxnSpPr>
          <p:spPr>
            <a:xfrm>
              <a:off x="1836" y="3612"/>
              <a:ext cx="0" cy="348"/>
            </a:xfrm>
            <a:prstGeom prst="straightConnector1">
              <a:avLst/>
            </a:prstGeom>
            <a:noFill/>
            <a:ln w="9525" cap="flat" cmpd="sng">
              <a:solidFill>
                <a:schemeClr val="dk2"/>
              </a:solidFill>
              <a:prstDash val="solid"/>
              <a:miter lim="800000"/>
              <a:headEnd type="none" w="med" len="med"/>
              <a:tailEnd type="none" w="med" len="med"/>
            </a:ln>
          </p:spPr>
        </p:cxnSp>
        <p:sp>
          <p:nvSpPr>
            <p:cNvPr id="920" name="Google Shape;920;p60"/>
            <p:cNvSpPr txBox="1"/>
            <p:nvPr/>
          </p:nvSpPr>
          <p:spPr>
            <a:xfrm>
              <a:off x="3542" y="2438"/>
              <a:ext cx="1458"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15 distinct values</a:t>
              </a:r>
              <a:endParaRPr/>
            </a:p>
          </p:txBody>
        </p:sp>
        <p:sp>
          <p:nvSpPr>
            <p:cNvPr id="921" name="Google Shape;921;p60"/>
            <p:cNvSpPr txBox="1"/>
            <p:nvPr/>
          </p:nvSpPr>
          <p:spPr>
            <a:xfrm>
              <a:off x="3552" y="2942"/>
              <a:ext cx="1570"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365 distinct values</a:t>
              </a:r>
              <a:endParaRPr/>
            </a:p>
          </p:txBody>
        </p:sp>
        <p:sp>
          <p:nvSpPr>
            <p:cNvPr id="922" name="Google Shape;922;p60"/>
            <p:cNvSpPr txBox="1"/>
            <p:nvPr/>
          </p:nvSpPr>
          <p:spPr>
            <a:xfrm>
              <a:off x="3470" y="3410"/>
              <a:ext cx="1650"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3567 distinct values</a:t>
              </a:r>
              <a:endParaRPr/>
            </a:p>
          </p:txBody>
        </p:sp>
        <p:sp>
          <p:nvSpPr>
            <p:cNvPr id="923" name="Google Shape;923;p60"/>
            <p:cNvSpPr txBox="1"/>
            <p:nvPr/>
          </p:nvSpPr>
          <p:spPr>
            <a:xfrm>
              <a:off x="3290" y="3866"/>
              <a:ext cx="1890"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674,339 distinct values</a:t>
              </a:r>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6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62</a:t>
            </a:fld>
            <a:endParaRPr/>
          </a:p>
        </p:txBody>
      </p:sp>
      <p:sp>
        <p:nvSpPr>
          <p:cNvPr id="930" name="Google Shape;930;p61"/>
          <p:cNvSpPr txBox="1">
            <a:spLocks noGrp="1"/>
          </p:cNvSpPr>
          <p:nvPr>
            <p:ph type="title" idx="4294967295"/>
          </p:nvPr>
        </p:nvSpPr>
        <p:spPr>
          <a:xfrm>
            <a:off x="152400" y="304800"/>
            <a:ext cx="8763000" cy="609600"/>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2"/>
              </a:buClr>
              <a:buSzPts val="3200"/>
              <a:buFont typeface="Overlock"/>
              <a:buNone/>
            </a:pPr>
            <a:r>
              <a:rPr lang="en-US" sz="3200" b="1" i="0" u="none" strike="noStrike" cap="none">
                <a:solidFill>
                  <a:schemeClr val="dk2"/>
                </a:solidFill>
                <a:latin typeface="Overlock"/>
                <a:ea typeface="Overlock"/>
                <a:cs typeface="Overlock"/>
                <a:sym typeface="Overlock"/>
              </a:rPr>
              <a:t>Chapter 3: Data Preprocessing</a:t>
            </a:r>
            <a:endParaRPr/>
          </a:p>
        </p:txBody>
      </p:sp>
      <p:sp>
        <p:nvSpPr>
          <p:cNvPr id="931" name="Google Shape;931;p61"/>
          <p:cNvSpPr txBox="1">
            <a:spLocks noGrp="1"/>
          </p:cNvSpPr>
          <p:nvPr>
            <p:ph type="body" idx="4294967295"/>
          </p:nvPr>
        </p:nvSpPr>
        <p:spPr>
          <a:xfrm>
            <a:off x="381000" y="1371600"/>
            <a:ext cx="8229600" cy="5105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Preprocessing: An Overview</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Data Quality</a:t>
            </a:r>
            <a:endParaRPr/>
          </a:p>
          <a:p>
            <a:pPr marL="742950" marR="0" lvl="1" indent="-285750" algn="l" rtl="0">
              <a:lnSpc>
                <a:spcPct val="150000"/>
              </a:lnSpc>
              <a:spcBef>
                <a:spcPts val="480"/>
              </a:spcBef>
              <a:spcAft>
                <a:spcPts val="0"/>
              </a:spcAft>
              <a:buClr>
                <a:schemeClr val="hlink"/>
              </a:buClr>
              <a:buSzPts val="1320"/>
              <a:buFont typeface="Noto Sans Symbols"/>
              <a:buChar char="■"/>
            </a:pPr>
            <a:r>
              <a:rPr lang="en-US" sz="2400" b="0" i="0" u="none" strike="noStrike" cap="none">
                <a:solidFill>
                  <a:schemeClr val="dk1"/>
                </a:solidFill>
                <a:latin typeface="Tahoma"/>
                <a:ea typeface="Tahoma"/>
                <a:cs typeface="Tahoma"/>
                <a:sym typeface="Tahoma"/>
              </a:rPr>
              <a:t>Major Tasks in Data Preprocessing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Cleaning</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Integration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Reduction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Data Transformation and Data Discretization</a:t>
            </a:r>
            <a:endParaRPr/>
          </a:p>
          <a:p>
            <a:pPr marL="342900" marR="0" lvl="0" indent="-342900" algn="l" rtl="0">
              <a:lnSpc>
                <a:spcPct val="15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Summary</a:t>
            </a:r>
            <a:endParaRPr/>
          </a:p>
        </p:txBody>
      </p:sp>
      <p:sp>
        <p:nvSpPr>
          <p:cNvPr id="932" name="Google Shape;932;p61"/>
          <p:cNvSpPr/>
          <p:nvPr/>
        </p:nvSpPr>
        <p:spPr>
          <a:xfrm rot="9420000">
            <a:off x="2362200" y="5715000"/>
            <a:ext cx="522287" cy="485775"/>
          </a:xfrm>
          <a:prstGeom prst="notchedRightArrow">
            <a:avLst>
              <a:gd name="adj1" fmla="val 50000"/>
              <a:gd name="adj2" fmla="val 50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6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63</a:t>
            </a:fld>
            <a:endParaRPr/>
          </a:p>
        </p:txBody>
      </p:sp>
      <p:sp>
        <p:nvSpPr>
          <p:cNvPr id="939" name="Google Shape;939;p62"/>
          <p:cNvSpPr txBox="1">
            <a:spLocks noGrp="1"/>
          </p:cNvSpPr>
          <p:nvPr>
            <p:ph type="title"/>
          </p:nvPr>
        </p:nvSpPr>
        <p:spPr>
          <a:xfrm>
            <a:off x="0" y="457200"/>
            <a:ext cx="9144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000"/>
              <a:buFont typeface="Overlock"/>
              <a:buNone/>
            </a:pPr>
            <a:r>
              <a:rPr lang="en-US" sz="4000" b="1" i="0" u="none">
                <a:solidFill>
                  <a:schemeClr val="dk2"/>
                </a:solidFill>
                <a:latin typeface="Overlock"/>
                <a:ea typeface="Overlock"/>
                <a:cs typeface="Overlock"/>
                <a:sym typeface="Overlock"/>
              </a:rPr>
              <a:t>Summary</a:t>
            </a:r>
            <a:endParaRPr/>
          </a:p>
        </p:txBody>
      </p:sp>
      <p:sp>
        <p:nvSpPr>
          <p:cNvPr id="940" name="Google Shape;940;p62"/>
          <p:cNvSpPr txBox="1">
            <a:spLocks noGrp="1"/>
          </p:cNvSpPr>
          <p:nvPr>
            <p:ph type="body" idx="1"/>
          </p:nvPr>
        </p:nvSpPr>
        <p:spPr>
          <a:xfrm>
            <a:off x="304800" y="1295400"/>
            <a:ext cx="8610600" cy="510381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quality</a:t>
            </a:r>
            <a:r>
              <a:rPr lang="en-US" sz="2000" b="0" i="0" u="none">
                <a:solidFill>
                  <a:schemeClr val="dk1"/>
                </a:solidFill>
                <a:latin typeface="Tahoma"/>
                <a:ea typeface="Tahoma"/>
                <a:cs typeface="Tahoma"/>
                <a:sym typeface="Tahoma"/>
              </a:rPr>
              <a:t>: accuracy, completeness, consistency, timeliness, believability, interpretability</a:t>
            </a:r>
            <a:endParaRPr/>
          </a:p>
          <a:p>
            <a:pPr marL="342900" lvl="0" indent="-342900" algn="l"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cleaning</a:t>
            </a:r>
            <a:r>
              <a:rPr lang="en-US" sz="2000" b="0" i="0" u="none">
                <a:solidFill>
                  <a:schemeClr val="dk1"/>
                </a:solidFill>
                <a:latin typeface="Tahoma"/>
                <a:ea typeface="Tahoma"/>
                <a:cs typeface="Tahoma"/>
                <a:sym typeface="Tahoma"/>
              </a:rPr>
              <a:t>: e.g. missing/noisy values, outliers</a:t>
            </a:r>
            <a:endParaRPr/>
          </a:p>
          <a:p>
            <a:pPr marL="342900" lvl="0" indent="-342900" algn="l"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integration</a:t>
            </a:r>
            <a:r>
              <a:rPr lang="en-US" sz="2000" b="0" i="0" u="none">
                <a:solidFill>
                  <a:schemeClr val="dk1"/>
                </a:solidFill>
                <a:latin typeface="Tahoma"/>
                <a:ea typeface="Tahoma"/>
                <a:cs typeface="Tahoma"/>
                <a:sym typeface="Tahoma"/>
              </a:rPr>
              <a:t> from multiple sources: </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Entity identification problem</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Remove redundancies</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Detect inconsistencies</a:t>
            </a:r>
            <a:endParaRPr/>
          </a:p>
          <a:p>
            <a:pPr marL="342900" lvl="0" indent="-342900" algn="l"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reduction</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Dimensionality reduction</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Numerosity reduction</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Data compression</a:t>
            </a:r>
            <a:endParaRPr/>
          </a:p>
          <a:p>
            <a:pPr marL="342900" lvl="0" indent="-342900" algn="l"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ahoma"/>
                <a:ea typeface="Tahoma"/>
                <a:cs typeface="Tahoma"/>
                <a:sym typeface="Tahoma"/>
              </a:rPr>
              <a:t>Data transformation and data discretization</a:t>
            </a:r>
            <a:endParaRPr sz="2000" b="0" i="0" u="none">
              <a:solidFill>
                <a:schemeClr val="dk1"/>
              </a:solidFill>
              <a:latin typeface="Tahoma"/>
              <a:ea typeface="Tahoma"/>
              <a:cs typeface="Tahoma"/>
              <a:sym typeface="Tahoma"/>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Normalization</a:t>
            </a:r>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ahoma"/>
                <a:ea typeface="Tahoma"/>
                <a:cs typeface="Tahoma"/>
                <a:sym typeface="Tahoma"/>
              </a:rPr>
              <a:t>Concept hierarchy generation</a:t>
            </a:r>
            <a:endParaRPr/>
          </a:p>
          <a:p>
            <a:pPr marL="742950" lvl="1" indent="-229869" algn="l" rtl="0">
              <a:lnSpc>
                <a:spcPct val="120000"/>
              </a:lnSpc>
              <a:spcBef>
                <a:spcPts val="320"/>
              </a:spcBef>
              <a:spcAft>
                <a:spcPts val="0"/>
              </a:spcAft>
              <a:buClr>
                <a:schemeClr val="hlink"/>
              </a:buClr>
              <a:buSzPts val="880"/>
              <a:buFont typeface="Noto Sans Symbols"/>
              <a:buNone/>
            </a:pPr>
            <a:endParaRPr sz="1600" b="0" i="0" u="none">
              <a:solidFill>
                <a:schemeClr val="dk1"/>
              </a:solidFill>
              <a:latin typeface="Tahoma"/>
              <a:ea typeface="Tahoma"/>
              <a:cs typeface="Tahoma"/>
              <a:sym typeface="Tahoma"/>
            </a:endParaRPr>
          </a:p>
          <a:p>
            <a:pPr marL="342900" lvl="0" indent="-281940" algn="l" rtl="0">
              <a:lnSpc>
                <a:spcPct val="120000"/>
              </a:lnSpc>
              <a:spcBef>
                <a:spcPts val="320"/>
              </a:spcBef>
              <a:spcAft>
                <a:spcPts val="0"/>
              </a:spcAft>
              <a:buClr>
                <a:schemeClr val="folHlink"/>
              </a:buClr>
              <a:buSzPts val="960"/>
              <a:buFont typeface="Noto Sans Symbols"/>
              <a:buNone/>
            </a:pPr>
            <a:endParaRPr sz="1600" b="0" i="0" u="none">
              <a:solidFill>
                <a:schemeClr val="dk1"/>
              </a:solidFill>
              <a:latin typeface="Tahoma"/>
              <a:ea typeface="Tahoma"/>
              <a:cs typeface="Tahoma"/>
              <a:sym typeface="Tahoma"/>
            </a:endParaRPr>
          </a:p>
          <a:p>
            <a:pPr marL="342900" lvl="0" indent="-281940" algn="l" rtl="0">
              <a:spcBef>
                <a:spcPts val="320"/>
              </a:spcBef>
              <a:spcAft>
                <a:spcPts val="0"/>
              </a:spcAft>
              <a:buSzPts val="960"/>
              <a:buNone/>
            </a:pPr>
            <a:endParaRPr sz="1600" b="0" i="0" u="none">
              <a:solidFill>
                <a:schemeClr val="dk1"/>
              </a:solidFill>
              <a:latin typeface="Tahoma"/>
              <a:ea typeface="Tahoma"/>
              <a:cs typeface="Tahoma"/>
              <a:sym typeface="Tahom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63"/>
          <p:cNvSpPr txBox="1">
            <a:spLocks noGrp="1"/>
          </p:cNvSpPr>
          <p:nvPr>
            <p:ph type="body" idx="1"/>
          </p:nvPr>
        </p:nvSpPr>
        <p:spPr>
          <a:xfrm>
            <a:off x="457200" y="404812"/>
            <a:ext cx="8229600" cy="57213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strike="noStrike" cap="none">
                <a:solidFill>
                  <a:srgbClr val="FF0000"/>
                </a:solidFill>
                <a:latin typeface="Tahoma"/>
                <a:ea typeface="Tahoma"/>
                <a:cs typeface="Tahoma"/>
                <a:sym typeface="Tahoma"/>
              </a:rPr>
              <a:t>What is data integration?</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strike="noStrike" cap="none">
                <a:solidFill>
                  <a:schemeClr val="dk1"/>
                </a:solidFill>
                <a:latin typeface="Tahoma"/>
                <a:ea typeface="Tahoma"/>
                <a:cs typeface="Tahoma"/>
                <a:sym typeface="Tahoma"/>
              </a:rPr>
              <a:t>It is the integration of data present in different sources for providing a unified view of the data.</a:t>
            </a:r>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strike="noStrike" cap="none">
                <a:solidFill>
                  <a:schemeClr val="dk1"/>
                </a:solidFill>
                <a:latin typeface="Tahoma"/>
                <a:ea typeface="Tahoma"/>
                <a:cs typeface="Tahoma"/>
                <a:sym typeface="Tahoma"/>
              </a:rPr>
              <a:t>It is the ability to consolidate data from several different sources while maintaining the integrity and reliability of the data.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64"/>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strike="noStrike" cap="none">
                <a:solidFill>
                  <a:schemeClr val="dk1"/>
                </a:solidFill>
                <a:latin typeface="Tahoma"/>
                <a:ea typeface="Tahoma"/>
                <a:cs typeface="Tahoma"/>
                <a:sym typeface="Tahoma"/>
              </a:rPr>
              <a:t>Two main approaches for data integration:</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strike="noStrike" cap="none">
                <a:solidFill>
                  <a:schemeClr val="dk1"/>
                </a:solidFill>
                <a:latin typeface="Tahoma"/>
                <a:ea typeface="Tahoma"/>
                <a:cs typeface="Tahoma"/>
                <a:sym typeface="Tahoma"/>
              </a:rPr>
              <a:t>Schema integration and instance integration</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strike="noStrike" cap="none">
                <a:solidFill>
                  <a:srgbClr val="FF0000"/>
                </a:solidFill>
                <a:latin typeface="Tahoma"/>
                <a:ea typeface="Tahoma"/>
                <a:cs typeface="Tahoma"/>
                <a:sym typeface="Tahoma"/>
              </a:rPr>
              <a:t>Schema integration:</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ahoma"/>
              <a:ea typeface="Tahoma"/>
              <a:cs typeface="Tahoma"/>
              <a:sym typeface="Tahoma"/>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p:txBody>
      </p:sp>
      <p:graphicFrame>
        <p:nvGraphicFramePr>
          <p:cNvPr id="951" name="Google Shape;951;p64"/>
          <p:cNvGraphicFramePr/>
          <p:nvPr/>
        </p:nvGraphicFramePr>
        <p:xfrm>
          <a:off x="468312" y="3860800"/>
          <a:ext cx="8424825" cy="741350"/>
        </p:xfrm>
        <a:graphic>
          <a:graphicData uri="http://schemas.openxmlformats.org/drawingml/2006/table">
            <a:tbl>
              <a:tblPr>
                <a:noFill/>
                <a:tableStyleId>{5E30D1B1-A82E-4288-B21F-1B488FB1F6C6}</a:tableStyleId>
              </a:tblPr>
              <a:tblGrid>
                <a:gridCol w="2106600">
                  <a:extLst>
                    <a:ext uri="{9D8B030D-6E8A-4147-A177-3AD203B41FA5}">
                      <a16:colId xmlns:a16="http://schemas.microsoft.com/office/drawing/2014/main" val="20000"/>
                    </a:ext>
                  </a:extLst>
                </a:gridCol>
                <a:gridCol w="2106600">
                  <a:extLst>
                    <a:ext uri="{9D8B030D-6E8A-4147-A177-3AD203B41FA5}">
                      <a16:colId xmlns:a16="http://schemas.microsoft.com/office/drawing/2014/main" val="20001"/>
                    </a:ext>
                  </a:extLst>
                </a:gridCol>
                <a:gridCol w="2105025">
                  <a:extLst>
                    <a:ext uri="{9D8B030D-6E8A-4147-A177-3AD203B41FA5}">
                      <a16:colId xmlns:a16="http://schemas.microsoft.com/office/drawing/2014/main" val="20002"/>
                    </a:ext>
                  </a:extLst>
                </a:gridCol>
                <a:gridCol w="2106600">
                  <a:extLst>
                    <a:ext uri="{9D8B030D-6E8A-4147-A177-3AD203B41FA5}">
                      <a16:colId xmlns:a16="http://schemas.microsoft.com/office/drawing/2014/main" val="20003"/>
                    </a:ext>
                  </a:extLst>
                </a:gridCol>
              </a:tblGrid>
              <a:tr h="371475">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Custid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Transaction 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Product 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Unit quantity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698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C101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T1001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P1010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52" name="Google Shape;952;p64"/>
          <p:cNvGraphicFramePr/>
          <p:nvPr/>
        </p:nvGraphicFramePr>
        <p:xfrm>
          <a:off x="323850" y="5300662"/>
          <a:ext cx="8569300" cy="1011565"/>
        </p:xfrm>
        <a:graphic>
          <a:graphicData uri="http://schemas.openxmlformats.org/drawingml/2006/table">
            <a:tbl>
              <a:tblPr>
                <a:noFill/>
                <a:tableStyleId>{5E30D1B1-A82E-4288-B21F-1B488FB1F6C6}</a:tableStyleId>
              </a:tblPr>
              <a:tblGrid>
                <a:gridCol w="214152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15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Customer number</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Transaction 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Productid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Unit quantity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C201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T1007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P1111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22</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graphicFrame>
        <p:nvGraphicFramePr>
          <p:cNvPr id="957" name="Google Shape;957;p65"/>
          <p:cNvGraphicFramePr/>
          <p:nvPr/>
        </p:nvGraphicFramePr>
        <p:xfrm>
          <a:off x="457200" y="1600200"/>
          <a:ext cx="8229600" cy="1112825"/>
        </p:xfrm>
        <a:graphic>
          <a:graphicData uri="http://schemas.openxmlformats.org/drawingml/2006/table">
            <a:tbl>
              <a:tblPr>
                <a:noFill/>
                <a:tableStyleId>{5E30D1B1-A82E-4288-B21F-1B488FB1F6C6}</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1475">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Custid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Tranid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Prodctid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unitquantity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698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C101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T1001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P1010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C201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AF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T1007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AF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P1111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AF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22</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AF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66"/>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a:solidFill>
                  <a:srgbClr val="FF0000"/>
                </a:solidFill>
                <a:latin typeface="Tahoma"/>
                <a:ea typeface="Tahoma"/>
                <a:cs typeface="Tahoma"/>
                <a:sym typeface="Tahoma"/>
              </a:rPr>
              <a:t>Instance integration:</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a:solidFill>
                  <a:schemeClr val="dk1"/>
                </a:solidFill>
                <a:latin typeface="Tahoma"/>
                <a:ea typeface="Tahoma"/>
                <a:cs typeface="Tahoma"/>
                <a:sym typeface="Tahoma"/>
              </a:rPr>
              <a:t>Project allocate</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a:solidFill>
                  <a:schemeClr val="dk1"/>
                </a:solidFill>
                <a:latin typeface="Tahoma"/>
                <a:ea typeface="Tahoma"/>
                <a:cs typeface="Tahoma"/>
                <a:sym typeface="Tahoma"/>
              </a:rPr>
              <a:t>Employee leave</a:t>
            </a:r>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p:txBody>
      </p:sp>
      <p:graphicFrame>
        <p:nvGraphicFramePr>
          <p:cNvPr id="963" name="Google Shape;963;p66"/>
          <p:cNvGraphicFramePr/>
          <p:nvPr/>
        </p:nvGraphicFramePr>
        <p:xfrm>
          <a:off x="250825" y="2420937"/>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strike="noStrike" cap="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Fred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64" name="Google Shape;964;p66"/>
          <p:cNvGraphicFramePr/>
          <p:nvPr/>
        </p:nvGraphicFramePr>
        <p:xfrm>
          <a:off x="611187" y="5013325"/>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Aleck fred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67"/>
          <p:cNvSpPr txBox="1">
            <a:spLocks noGrp="1"/>
          </p:cNvSpPr>
          <p:nvPr>
            <p:ph type="body" idx="1"/>
          </p:nvPr>
        </p:nvSpPr>
        <p:spPr>
          <a:xfrm>
            <a:off x="457200" y="549275"/>
            <a:ext cx="8229600" cy="55768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a:solidFill>
                  <a:schemeClr val="dk1"/>
                </a:solidFill>
                <a:latin typeface="Tahoma"/>
                <a:ea typeface="Tahoma"/>
                <a:cs typeface="Tahoma"/>
                <a:sym typeface="Tahoma"/>
              </a:rPr>
              <a:t>Employeeattendance</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a:solidFill>
                  <a:schemeClr val="dk1"/>
                </a:solidFill>
                <a:latin typeface="Tahoma"/>
                <a:ea typeface="Tahoma"/>
                <a:cs typeface="Tahoma"/>
                <a:sym typeface="Tahoma"/>
              </a:rPr>
              <a:t>employeepayroll</a:t>
            </a:r>
            <a:endParaRPr/>
          </a:p>
        </p:txBody>
      </p:sp>
      <p:graphicFrame>
        <p:nvGraphicFramePr>
          <p:cNvPr id="970" name="Google Shape;970;p67"/>
          <p:cNvGraphicFramePr/>
          <p:nvPr/>
        </p:nvGraphicFramePr>
        <p:xfrm>
          <a:off x="323850" y="1484312"/>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 Fred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71" name="Google Shape;971;p67"/>
          <p:cNvGraphicFramePr/>
          <p:nvPr/>
        </p:nvGraphicFramePr>
        <p:xfrm>
          <a:off x="250825" y="3213100"/>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F.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graphicFrame>
        <p:nvGraphicFramePr>
          <p:cNvPr id="976" name="Google Shape;976;p68"/>
          <p:cNvGraphicFramePr/>
          <p:nvPr/>
        </p:nvGraphicFramePr>
        <p:xfrm>
          <a:off x="457200" y="549275"/>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 Fred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77" name="Google Shape;977;p68"/>
          <p:cNvGraphicFramePr/>
          <p:nvPr/>
        </p:nvGraphicFramePr>
        <p:xfrm>
          <a:off x="611187" y="1916112"/>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 Fred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78" name="Google Shape;978;p68"/>
          <p:cNvGraphicFramePr/>
          <p:nvPr/>
        </p:nvGraphicFramePr>
        <p:xfrm>
          <a:off x="611187" y="3644900"/>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 Fred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graphicFrame>
        <p:nvGraphicFramePr>
          <p:cNvPr id="979" name="Google Shape;979;p68"/>
          <p:cNvGraphicFramePr/>
          <p:nvPr/>
        </p:nvGraphicFramePr>
        <p:xfrm>
          <a:off x="539750" y="5157787"/>
          <a:ext cx="8137500" cy="1011565"/>
        </p:xfrm>
        <a:graphic>
          <a:graphicData uri="http://schemas.openxmlformats.org/drawingml/2006/table">
            <a:tbl>
              <a:tblPr>
                <a:noFill/>
                <a:tableStyleId>{5E30D1B1-A82E-4288-B21F-1B488FB1F6C6}</a:tableStyleId>
              </a:tblPr>
              <a:tblGrid>
                <a:gridCol w="2033575">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gridCol w="2033575">
                  <a:extLst>
                    <a:ext uri="{9D8B030D-6E8A-4147-A177-3AD203B41FA5}">
                      <a16:colId xmlns:a16="http://schemas.microsoft.com/office/drawing/2014/main" val="20002"/>
                    </a:ext>
                  </a:extLst>
                </a:gridCol>
                <a:gridCol w="203517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 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Employeename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Tahoma"/>
                        <a:buNone/>
                      </a:pPr>
                      <a:r>
                        <a:rPr lang="en-US" sz="1800" b="1" i="0" u="none">
                          <a:solidFill>
                            <a:srgbClr val="FFFFFF"/>
                          </a:solidFill>
                          <a:latin typeface="Tahoma"/>
                          <a:ea typeface="Tahoma"/>
                          <a:cs typeface="Tahoma"/>
                          <a:sym typeface="Tahoma"/>
                        </a:rPr>
                        <a:t>Socialsecurityno</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10014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 Fred  Aleck</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lnSpc>
                          <a:spcPct val="100000"/>
                        </a:lnSpc>
                        <a:spcBef>
                          <a:spcPts val="0"/>
                        </a:spcBef>
                        <a:spcAft>
                          <a:spcPts val="0"/>
                        </a:spcAft>
                        <a:buClr>
                          <a:srgbClr val="000000"/>
                        </a:buClr>
                        <a:buSzPts val="1800"/>
                        <a:buFont typeface="Tahoma"/>
                        <a:buNone/>
                      </a:pPr>
                      <a:r>
                        <a:rPr lang="en-US" sz="1800" b="0" i="0" u="none">
                          <a:solidFill>
                            <a:srgbClr val="000000"/>
                          </a:solidFill>
                          <a:latin typeface="Tahoma"/>
                          <a:ea typeface="Tahoma"/>
                          <a:cs typeface="Tahoma"/>
                          <a:sym typeface="Tahoma"/>
                        </a:rPr>
                        <a:t>ADWPP10017</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F5E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69"/>
          <p:cNvSpPr txBox="1">
            <a:spLocks noGrp="1"/>
          </p:cNvSpPr>
          <p:nvPr>
            <p:ph type="title"/>
          </p:nvPr>
        </p:nvSpPr>
        <p:spPr>
          <a:xfrm>
            <a:off x="457200" y="274637"/>
            <a:ext cx="8401050" cy="11430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rgbClr val="FF0000"/>
              </a:buClr>
              <a:buSzPts val="3200"/>
              <a:buFont typeface="Overlock"/>
              <a:buNone/>
            </a:pPr>
            <a:r>
              <a:rPr lang="en-US" sz="3200" b="1" i="0" u="none">
                <a:solidFill>
                  <a:srgbClr val="FF0000"/>
                </a:solidFill>
                <a:latin typeface="Overlock"/>
                <a:ea typeface="Overlock"/>
                <a:cs typeface="Overlock"/>
                <a:sym typeface="Overlock"/>
              </a:rPr>
              <a:t>Need and advantages for data integration</a:t>
            </a:r>
            <a:endParaRPr/>
          </a:p>
        </p:txBody>
      </p:sp>
      <p:sp>
        <p:nvSpPr>
          <p:cNvPr id="985" name="Google Shape;985;p69"/>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rmAutofit/>
          </a:bodyPr>
          <a:lstStyle/>
          <a:p>
            <a:pPr marL="342900" marR="0" lvl="0" indent="-243840" algn="just" rtl="0">
              <a:lnSpc>
                <a:spcPct val="100000"/>
              </a:lnSpc>
              <a:spcBef>
                <a:spcPts val="0"/>
              </a:spcBef>
              <a:spcAft>
                <a:spcPts val="0"/>
              </a:spcAft>
              <a:buClr>
                <a:schemeClr val="folHlink"/>
              </a:buClr>
              <a:buSzPts val="1560"/>
              <a:buFont typeface="Noto Sans Symbols"/>
              <a:buNone/>
            </a:pPr>
            <a:endParaRPr sz="2600" b="0" i="0" u="none">
              <a:solidFill>
                <a:schemeClr val="dk1"/>
              </a:solidFill>
              <a:latin typeface="Tahoma"/>
              <a:ea typeface="Tahoma"/>
              <a:cs typeface="Tahoma"/>
              <a:sym typeface="Tahoma"/>
            </a:endParaRPr>
          </a:p>
          <a:p>
            <a:pPr marL="342900" marR="0" lvl="0" indent="-342900" algn="just" rtl="0">
              <a:lnSpc>
                <a:spcPct val="100000"/>
              </a:lnSpc>
              <a:spcBef>
                <a:spcPts val="520"/>
              </a:spcBef>
              <a:spcAft>
                <a:spcPts val="0"/>
              </a:spcAft>
              <a:buClr>
                <a:schemeClr val="folHlink"/>
              </a:buClr>
              <a:buSzPts val="1560"/>
              <a:buFont typeface="Noto Sans Symbols"/>
              <a:buChar char="■"/>
            </a:pPr>
            <a:r>
              <a:rPr lang="en-US" sz="2600" b="0" i="0" u="none">
                <a:solidFill>
                  <a:schemeClr val="dk1"/>
                </a:solidFill>
                <a:latin typeface="Tahoma"/>
                <a:ea typeface="Tahoma"/>
                <a:cs typeface="Tahoma"/>
                <a:sym typeface="Tahoma"/>
              </a:rPr>
              <a:t>It is of benefits to decision makers who will be able to quickly access information based on a key variable along with the query against existing data from past studies in order to gain meaningful insights.</a:t>
            </a:r>
            <a:endParaRPr/>
          </a:p>
          <a:p>
            <a:pPr marL="342900" marR="0" lvl="0" indent="-342900" algn="just" rtl="0">
              <a:lnSpc>
                <a:spcPct val="100000"/>
              </a:lnSpc>
              <a:spcBef>
                <a:spcPts val="520"/>
              </a:spcBef>
              <a:spcAft>
                <a:spcPts val="0"/>
              </a:spcAft>
              <a:buClr>
                <a:schemeClr val="folHlink"/>
              </a:buClr>
              <a:buSzPts val="1560"/>
              <a:buFont typeface="Noto Sans Symbols"/>
              <a:buChar char="■"/>
            </a:pPr>
            <a:r>
              <a:rPr lang="en-US" sz="2600" b="0" i="0" u="none">
                <a:solidFill>
                  <a:schemeClr val="dk1"/>
                </a:solidFill>
                <a:latin typeface="Tahoma"/>
                <a:ea typeface="Tahoma"/>
                <a:cs typeface="Tahoma"/>
                <a:sym typeface="Tahoma"/>
              </a:rPr>
              <a:t>It helps reduce cost, overlap and redundancies and business will be less exposed to risks and losses.</a:t>
            </a:r>
            <a:endParaRPr/>
          </a:p>
          <a:p>
            <a:pPr marL="342900" marR="0" lvl="0" indent="-342900" algn="just" rtl="0">
              <a:lnSpc>
                <a:spcPct val="100000"/>
              </a:lnSpc>
              <a:spcBef>
                <a:spcPts val="520"/>
              </a:spcBef>
              <a:spcAft>
                <a:spcPts val="0"/>
              </a:spcAft>
              <a:buClr>
                <a:schemeClr val="folHlink"/>
              </a:buClr>
              <a:buSzPts val="1560"/>
              <a:buFont typeface="Noto Sans Symbols"/>
              <a:buChar char="■"/>
            </a:pPr>
            <a:r>
              <a:rPr lang="en-US" sz="2600" b="0" i="0" u="none">
                <a:solidFill>
                  <a:schemeClr val="dk1"/>
                </a:solidFill>
                <a:latin typeface="Tahoma"/>
                <a:ea typeface="Tahoma"/>
                <a:cs typeface="Tahoma"/>
                <a:sym typeface="Tahoma"/>
              </a:rPr>
              <a:t>It helps in better monitoring of key variables such as trending patterns and consumer behavior across geographies which will alleviate the need to conduct more studies and survey, bringing about reduced spending on R&amp;D and minimization of redundancy.</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70"/>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4400"/>
              <a:buFont typeface="Overlock"/>
              <a:buNone/>
            </a:pPr>
            <a:br>
              <a:rPr lang="en-US" sz="4400" b="1" i="0" u="none">
                <a:solidFill>
                  <a:schemeClr val="dk1"/>
                </a:solidFill>
                <a:latin typeface="Overlock"/>
                <a:ea typeface="Overlock"/>
                <a:cs typeface="Overlock"/>
                <a:sym typeface="Overlock"/>
              </a:rPr>
            </a:br>
            <a:br>
              <a:rPr lang="en-US" sz="4400" b="1" i="0" u="none">
                <a:solidFill>
                  <a:schemeClr val="dk1"/>
                </a:solidFill>
                <a:latin typeface="Overlock"/>
                <a:ea typeface="Overlock"/>
                <a:cs typeface="Overlock"/>
                <a:sym typeface="Overlock"/>
              </a:rPr>
            </a:br>
            <a:br>
              <a:rPr lang="en-US" sz="4400" b="1" i="0" u="none">
                <a:solidFill>
                  <a:schemeClr val="dk1"/>
                </a:solidFill>
                <a:latin typeface="Overlock"/>
                <a:ea typeface="Overlock"/>
                <a:cs typeface="Overlock"/>
                <a:sym typeface="Overlock"/>
              </a:rPr>
            </a:br>
            <a:r>
              <a:rPr lang="en-US" sz="3600" b="1" i="0" u="none">
                <a:solidFill>
                  <a:schemeClr val="dk1"/>
                </a:solidFill>
                <a:latin typeface="Overlock"/>
                <a:ea typeface="Overlock"/>
                <a:cs typeface="Overlock"/>
                <a:sym typeface="Overlock"/>
              </a:rPr>
              <a:t>Web Scraping</a:t>
            </a:r>
            <a:endParaRPr/>
          </a:p>
        </p:txBody>
      </p:sp>
      <p:sp>
        <p:nvSpPr>
          <p:cNvPr id="991" name="Google Shape;991;p70"/>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1" i="0" u="sng">
                <a:solidFill>
                  <a:schemeClr val="dk1"/>
                </a:solidFill>
                <a:latin typeface="Tahoma"/>
                <a:ea typeface="Tahoma"/>
                <a:cs typeface="Tahoma"/>
                <a:sym typeface="Tahoma"/>
                <a:hlinkClick r:id="rId3">
                  <a:extLst>
                    <a:ext uri="{A12FA001-AC4F-418D-AE19-62706E023703}">
                      <ahyp:hlinkClr xmlns:ahyp="http://schemas.microsoft.com/office/drawing/2018/hyperlinkcolor" val="tx"/>
                    </a:ext>
                  </a:extLst>
                </a:hlinkClick>
              </a:rPr>
              <a:t>Web scraping</a:t>
            </a:r>
            <a:r>
              <a:rPr lang="en-US" sz="2800" b="1" i="0" u="none">
                <a:solidFill>
                  <a:schemeClr val="dk1"/>
                </a:solidFill>
                <a:latin typeface="Tahoma"/>
                <a:ea typeface="Tahoma"/>
                <a:cs typeface="Tahoma"/>
                <a:sym typeface="Tahoma"/>
              </a:rPr>
              <a:t> is an automatic method to obtain large amounts of data from websites.</a:t>
            </a:r>
            <a:endParaRPr sz="2800" b="0" i="0" u="none">
              <a:solidFill>
                <a:schemeClr val="dk1"/>
              </a:solidFill>
              <a:latin typeface="Tahoma"/>
              <a:ea typeface="Tahoma"/>
              <a:cs typeface="Tahoma"/>
              <a:sym typeface="Tahoma"/>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Browser extensions Web Scrapers</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Software Web Scrapers</a:t>
            </a:r>
            <a:r>
              <a:rPr lang="en-US" sz="2800" b="0" i="0" u="none">
                <a:solidFill>
                  <a:schemeClr val="dk1"/>
                </a:solidFill>
                <a:latin typeface="Tahoma"/>
                <a:ea typeface="Tahoma"/>
                <a:cs typeface="Tahoma"/>
                <a:sym typeface="Tahoma"/>
              </a:rPr>
              <a:t>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Cloud Web Scrapers</a:t>
            </a:r>
            <a:r>
              <a:rPr lang="en-US" sz="2800" b="0" i="0" u="none">
                <a:solidFill>
                  <a:schemeClr val="dk1"/>
                </a:solidFill>
                <a:latin typeface="Tahoma"/>
                <a:ea typeface="Tahoma"/>
                <a:cs typeface="Tahoma"/>
                <a:sym typeface="Tahoma"/>
              </a:rPr>
              <a:t>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1" i="0" u="none">
                <a:solidFill>
                  <a:schemeClr val="dk1"/>
                </a:solidFill>
                <a:latin typeface="Tahoma"/>
                <a:ea typeface="Tahoma"/>
                <a:cs typeface="Tahoma"/>
                <a:sym typeface="Tahoma"/>
              </a:rPr>
              <a:t>Local Web Scrapers</a:t>
            </a:r>
            <a:endParaRPr/>
          </a:p>
        </p:txBody>
      </p:sp>
      <p:sp>
        <p:nvSpPr>
          <p:cNvPr id="992" name="Google Shape;992;p70"/>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71"/>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endParaRPr sz="3600" b="1">
              <a:solidFill>
                <a:schemeClr val="dk2"/>
              </a:solidFill>
              <a:latin typeface="Overlock"/>
              <a:ea typeface="Overlock"/>
              <a:cs typeface="Overlock"/>
              <a:sym typeface="Overlock"/>
            </a:endParaRPr>
          </a:p>
        </p:txBody>
      </p:sp>
      <p:sp>
        <p:nvSpPr>
          <p:cNvPr id="998" name="Google Shape;998;p71"/>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URL to scrape</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url = "http://quotes.toscrape.com"</a:t>
            </a:r>
            <a:endParaRPr/>
          </a:p>
          <a:p>
            <a:pPr marL="342900" marR="0" lvl="0" indent="-342900" algn="l" rtl="0">
              <a:lnSpc>
                <a:spcPct val="100000"/>
              </a:lnSpc>
              <a:spcBef>
                <a:spcPts val="200"/>
              </a:spcBef>
              <a:spcAft>
                <a:spcPts val="0"/>
              </a:spcAft>
              <a:buClr>
                <a:schemeClr val="folHlink"/>
              </a:buClr>
              <a:buSzPts val="600"/>
              <a:buFont typeface="Noto Sans Symbols"/>
              <a:buChar char="■"/>
            </a:pPr>
            <a:br>
              <a:rPr lang="en-US" sz="1000" b="0" i="0" u="none">
                <a:solidFill>
                  <a:schemeClr val="dk1"/>
                </a:solidFill>
                <a:latin typeface="Tahoma"/>
                <a:ea typeface="Tahoma"/>
                <a:cs typeface="Tahoma"/>
                <a:sym typeface="Tahoma"/>
              </a:rPr>
            </a:br>
            <a:r>
              <a:rPr lang="en-US" sz="1000" b="0" i="0" u="none">
                <a:solidFill>
                  <a:schemeClr val="dk1"/>
                </a:solidFill>
                <a:latin typeface="Tahoma"/>
                <a:ea typeface="Tahoma"/>
                <a:cs typeface="Tahoma"/>
                <a:sym typeface="Tahoma"/>
              </a:rPr>
              <a:t># Send HTTP GET request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response = requests.get(url)</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soup = BeautifulSoup(response.text, "html.parser")</a:t>
            </a:r>
            <a:endParaRPr/>
          </a:p>
          <a:p>
            <a:pPr marL="342900" marR="0" lvl="0" indent="-342900" algn="l" rtl="0">
              <a:lnSpc>
                <a:spcPct val="100000"/>
              </a:lnSpc>
              <a:spcBef>
                <a:spcPts val="200"/>
              </a:spcBef>
              <a:spcAft>
                <a:spcPts val="0"/>
              </a:spcAft>
              <a:buClr>
                <a:schemeClr val="folHlink"/>
              </a:buClr>
              <a:buSzPts val="600"/>
              <a:buFont typeface="Noto Sans Symbols"/>
              <a:buChar char="■"/>
            </a:pPr>
            <a:br>
              <a:rPr lang="en-US" sz="1000" b="0" i="0" u="none">
                <a:solidFill>
                  <a:schemeClr val="dk1"/>
                </a:solidFill>
                <a:latin typeface="Tahoma"/>
                <a:ea typeface="Tahoma"/>
                <a:cs typeface="Tahoma"/>
                <a:sym typeface="Tahoma"/>
              </a:rPr>
            </a:br>
            <a:r>
              <a:rPr lang="en-US" sz="1000" b="0" i="0" u="none">
                <a:solidFill>
                  <a:schemeClr val="dk1"/>
                </a:solidFill>
                <a:latin typeface="Tahoma"/>
                <a:ea typeface="Tahoma"/>
                <a:cs typeface="Tahoma"/>
                <a:sym typeface="Tahoma"/>
              </a:rPr>
              <a:t># Lists to store scraped data</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quotes = [ ]</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authors = [ ]</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#&lt;div class="quote"&gt;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&lt;span class="text"&gt;“The world as we have created it...”&lt;/span&gt;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&lt;small class="author"&gt;Albert Einstein&lt;/small&gt;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#&lt;/div&gt;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Extract quote and author</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for quote in soup.find_all("div", class_="quote"):</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text = quote.find("span", class_="text").get_text()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author = quote.find("small", class_="author").get_text()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quotes.append(text)</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authors.append(author)</a:t>
            </a:r>
            <a:endParaRPr/>
          </a:p>
          <a:p>
            <a:pPr marL="342900" marR="0" lvl="0" indent="-342900" algn="l" rtl="0">
              <a:lnSpc>
                <a:spcPct val="100000"/>
              </a:lnSpc>
              <a:spcBef>
                <a:spcPts val="200"/>
              </a:spcBef>
              <a:spcAft>
                <a:spcPts val="0"/>
              </a:spcAft>
              <a:buClr>
                <a:schemeClr val="folHlink"/>
              </a:buClr>
              <a:buSzPts val="600"/>
              <a:buFont typeface="Noto Sans Symbols"/>
              <a:buChar char="■"/>
            </a:pPr>
            <a:br>
              <a:rPr lang="en-US" sz="1000" b="0" i="0" u="none">
                <a:solidFill>
                  <a:schemeClr val="dk1"/>
                </a:solidFill>
                <a:latin typeface="Tahoma"/>
                <a:ea typeface="Tahoma"/>
                <a:cs typeface="Tahoma"/>
                <a:sym typeface="Tahoma"/>
              </a:rPr>
            </a:br>
            <a:r>
              <a:rPr lang="en-US" sz="1000" b="0" i="0" u="none">
                <a:solidFill>
                  <a:schemeClr val="dk1"/>
                </a:solidFill>
                <a:latin typeface="Tahoma"/>
                <a:ea typeface="Tahoma"/>
                <a:cs typeface="Tahoma"/>
                <a:sym typeface="Tahoma"/>
              </a:rPr>
              <a:t># Save to DataFrame</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df = pd.DataFrame({</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"Quote": quotes,</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    "Author": authors</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a:t>
            </a:r>
            <a:endParaRPr/>
          </a:p>
          <a:p>
            <a:pPr marL="342900" marR="0" lvl="0" indent="-342900" algn="l" rtl="0">
              <a:lnSpc>
                <a:spcPct val="100000"/>
              </a:lnSpc>
              <a:spcBef>
                <a:spcPts val="200"/>
              </a:spcBef>
              <a:spcAft>
                <a:spcPts val="0"/>
              </a:spcAft>
              <a:buClr>
                <a:schemeClr val="folHlink"/>
              </a:buClr>
              <a:buSzPts val="600"/>
              <a:buFont typeface="Noto Sans Symbols"/>
              <a:buChar char="■"/>
            </a:pPr>
            <a:br>
              <a:rPr lang="en-US" sz="1000" b="0" i="0" u="none">
                <a:solidFill>
                  <a:schemeClr val="dk1"/>
                </a:solidFill>
                <a:latin typeface="Tahoma"/>
                <a:ea typeface="Tahoma"/>
                <a:cs typeface="Tahoma"/>
                <a:sym typeface="Tahoma"/>
              </a:rPr>
            </a:br>
            <a:r>
              <a:rPr lang="en-US" sz="1000" b="0" i="0" u="none">
                <a:solidFill>
                  <a:schemeClr val="dk1"/>
                </a:solidFill>
                <a:latin typeface="Tahoma"/>
                <a:ea typeface="Tahoma"/>
                <a:cs typeface="Tahoma"/>
                <a:sym typeface="Tahoma"/>
              </a:rPr>
              <a:t># Display the DataFrame</a:t>
            </a:r>
            <a:endParaRPr/>
          </a:p>
          <a:p>
            <a:pPr marL="342900" marR="0" lvl="0" indent="-342900" algn="l" rtl="0">
              <a:lnSpc>
                <a:spcPct val="100000"/>
              </a:lnSpc>
              <a:spcBef>
                <a:spcPts val="200"/>
              </a:spcBef>
              <a:spcAft>
                <a:spcPts val="0"/>
              </a:spcAft>
              <a:buClr>
                <a:schemeClr val="folHlink"/>
              </a:buClr>
              <a:buSzPts val="600"/>
              <a:buFont typeface="Noto Sans Symbols"/>
              <a:buChar char="■"/>
            </a:pPr>
            <a:r>
              <a:rPr lang="en-US" sz="1000" b="0" i="0" u="none">
                <a:solidFill>
                  <a:schemeClr val="dk1"/>
                </a:solidFill>
                <a:latin typeface="Tahoma"/>
                <a:ea typeface="Tahoma"/>
                <a:cs typeface="Tahoma"/>
                <a:sym typeface="Tahoma"/>
              </a:rPr>
              <a:t>print(df)</a:t>
            </a:r>
            <a:endParaRPr/>
          </a:p>
          <a:p>
            <a:pPr marL="342900" marR="0" lvl="0" indent="-304800" algn="l" rtl="0">
              <a:spcBef>
                <a:spcPts val="200"/>
              </a:spcBef>
              <a:spcAft>
                <a:spcPts val="0"/>
              </a:spcAft>
              <a:buClr>
                <a:schemeClr val="folHlink"/>
              </a:buClr>
              <a:buSzPts val="600"/>
              <a:buFont typeface="Noto Sans Symbols"/>
              <a:buNone/>
            </a:pPr>
            <a:endParaRPr sz="1000" b="0" i="0" u="none">
              <a:solidFill>
                <a:schemeClr val="dk1"/>
              </a:solidFill>
              <a:latin typeface="Tahoma"/>
              <a:ea typeface="Tahoma"/>
              <a:cs typeface="Tahoma"/>
              <a:sym typeface="Tahoma"/>
            </a:endParaRPr>
          </a:p>
        </p:txBody>
      </p:sp>
      <p:sp>
        <p:nvSpPr>
          <p:cNvPr id="999" name="Google Shape;999;p71"/>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72"/>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endParaRPr sz="3600" b="1">
              <a:solidFill>
                <a:schemeClr val="dk2"/>
              </a:solidFill>
              <a:latin typeface="Overlock"/>
              <a:ea typeface="Overlock"/>
              <a:cs typeface="Overlock"/>
              <a:sym typeface="Overlock"/>
            </a:endParaRPr>
          </a:p>
        </p:txBody>
      </p:sp>
      <p:sp>
        <p:nvSpPr>
          <p:cNvPr id="1005" name="Google Shape;1005;p72"/>
          <p:cNvSpPr txBox="1">
            <a:spLocks noGrp="1"/>
          </p:cNvSpPr>
          <p:nvPr>
            <p:ph type="body" idx="1"/>
          </p:nvPr>
        </p:nvSpPr>
        <p:spPr>
          <a:xfrm>
            <a:off x="304800" y="1295400"/>
            <a:ext cx="8382000" cy="51816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 &lt;div&gt; tag defines a division or a section in an HTML document. The &lt;div&gt; tag is used as a container for HTML elements - which is then styled with CSS or manipulated with JavaScript. The &lt;div&gt; tag is easily styled by using the class or id attribute.</a:t>
            </a:r>
            <a:endParaRPr/>
          </a:p>
          <a:p>
            <a:pPr marL="342900" marR="0" lvl="0" indent="-342900" algn="just"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he HTML &lt;span&gt; tag is an inline container used to group inline elements and apply styles to them without affecting the document's flow. It doesn't have any default styling itself and is typically used with CSS to apply specific styles or with JavaScript to manipulate the content. </a:t>
            </a:r>
            <a:endParaRPr/>
          </a:p>
          <a:p>
            <a:pPr marL="342900" marR="0" lvl="0" indent="-342900" algn="just" rtl="0">
              <a:lnSpc>
                <a:spcPct val="100000"/>
              </a:lnSpc>
              <a:spcBef>
                <a:spcPts val="480"/>
              </a:spcBef>
              <a:spcAft>
                <a:spcPts val="0"/>
              </a:spcAft>
              <a:buClr>
                <a:schemeClr val="folHlink"/>
              </a:buClr>
              <a:buSzPts val="1440"/>
              <a:buFont typeface="Noto Sans Symbols"/>
              <a:buChar char="■"/>
            </a:pPr>
            <a:r>
              <a:rPr lang="en-US" sz="2400" b="0" i="0" u="none">
                <a:solidFill>
                  <a:schemeClr val="dk1"/>
                </a:solidFill>
                <a:latin typeface="Tahoma"/>
                <a:ea typeface="Tahoma"/>
                <a:cs typeface="Tahoma"/>
                <a:sym typeface="Tahoma"/>
              </a:rPr>
              <a:t>The HTML &lt;small&gt; tag is used to display text in a smaller font size than the surrounding text. </a:t>
            </a:r>
            <a:endParaRPr/>
          </a:p>
        </p:txBody>
      </p:sp>
      <p:sp>
        <p:nvSpPr>
          <p:cNvPr id="1006" name="Google Shape;1006;p72"/>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73"/>
          <p:cNvSpPr txBox="1"/>
          <p:nvPr/>
        </p:nvSpPr>
        <p:spPr>
          <a:xfrm>
            <a:off x="7239000" y="6477000"/>
            <a:ext cx="1905000" cy="381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ahoma"/>
              <a:buNone/>
            </a:pPr>
            <a:fld id="{00000000-1234-1234-1234-123412341234}" type="slidenum">
              <a:rPr lang="en-US" sz="1200" b="0" i="0" u="none">
                <a:solidFill>
                  <a:schemeClr val="dk1"/>
                </a:solidFill>
                <a:latin typeface="Tahoma"/>
                <a:ea typeface="Tahoma"/>
                <a:cs typeface="Tahoma"/>
                <a:sym typeface="Tahoma"/>
              </a:rPr>
              <a:t>74</a:t>
            </a:fld>
            <a:endParaRPr/>
          </a:p>
        </p:txBody>
      </p:sp>
      <p:sp>
        <p:nvSpPr>
          <p:cNvPr id="1013" name="Google Shape;1013;p73"/>
          <p:cNvSpPr txBox="1">
            <a:spLocks noGrp="1"/>
          </p:cNvSpPr>
          <p:nvPr>
            <p:ph type="title"/>
          </p:nvPr>
        </p:nvSpPr>
        <p:spPr>
          <a:xfrm>
            <a:off x="152400" y="304800"/>
            <a:ext cx="87630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600"/>
              <a:buFont typeface="Overlock"/>
              <a:buNone/>
            </a:pPr>
            <a:r>
              <a:rPr lang="en-US" sz="3600" b="1" i="0" u="none">
                <a:solidFill>
                  <a:schemeClr val="dk2"/>
                </a:solidFill>
                <a:latin typeface="Overlock"/>
                <a:ea typeface="Overlock"/>
                <a:cs typeface="Overlock"/>
                <a:sym typeface="Overlock"/>
              </a:rPr>
              <a:t>References</a:t>
            </a:r>
            <a:endParaRPr/>
          </a:p>
        </p:txBody>
      </p:sp>
      <p:sp>
        <p:nvSpPr>
          <p:cNvPr id="1014" name="Google Shape;1014;p73"/>
          <p:cNvSpPr txBox="1">
            <a:spLocks noGrp="1"/>
          </p:cNvSpPr>
          <p:nvPr>
            <p:ph type="body" idx="1"/>
          </p:nvPr>
        </p:nvSpPr>
        <p:spPr>
          <a:xfrm>
            <a:off x="152400" y="1295400"/>
            <a:ext cx="8763000" cy="5334000"/>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D. P. Ballou and G. K. Tayi. Enhancing data quality in data warehouse environments. Comm. of ACM, 42:73-78, 1999</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A. Bruce, D. Donoho, and H.-Y. Gao. Wavelet analysis. </a:t>
            </a:r>
            <a:r>
              <a:rPr lang="en-US" sz="1600" b="0" i="1" u="none">
                <a:solidFill>
                  <a:schemeClr val="dk1"/>
                </a:solidFill>
                <a:latin typeface="Calibri"/>
                <a:ea typeface="Calibri"/>
                <a:cs typeface="Calibri"/>
                <a:sym typeface="Calibri"/>
              </a:rPr>
              <a:t>IEEE Spectrum</a:t>
            </a:r>
            <a:r>
              <a:rPr lang="en-US" sz="1600" b="0" i="0" u="none">
                <a:solidFill>
                  <a:schemeClr val="dk1"/>
                </a:solidFill>
                <a:latin typeface="Calibri"/>
                <a:ea typeface="Calibri"/>
                <a:cs typeface="Calibri"/>
                <a:sym typeface="Calibri"/>
              </a:rPr>
              <a:t>, Oct 1996</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hlink"/>
                </a:solidFill>
                <a:latin typeface="Calibri"/>
                <a:ea typeface="Calibri"/>
                <a:cs typeface="Calibri"/>
                <a:sym typeface="Calibri"/>
              </a:rPr>
              <a:t>T. Dasu and T. Johnson.  Exploratory Data Mining and Data Cleaning. John Wiley, 2003</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J. Devore and R. Peck. </a:t>
            </a:r>
            <a:r>
              <a:rPr lang="en-US" sz="1600" b="0" i="1" u="none">
                <a:solidFill>
                  <a:schemeClr val="dk1"/>
                </a:solidFill>
                <a:latin typeface="Calibri"/>
                <a:ea typeface="Calibri"/>
                <a:cs typeface="Calibri"/>
                <a:sym typeface="Calibri"/>
              </a:rPr>
              <a:t>Statistics: The Exploration and Analysis of Data</a:t>
            </a:r>
            <a:r>
              <a:rPr lang="en-US" sz="1600" b="0" i="0" u="none">
                <a:solidFill>
                  <a:schemeClr val="dk1"/>
                </a:solidFill>
                <a:latin typeface="Calibri"/>
                <a:ea typeface="Calibri"/>
                <a:cs typeface="Calibri"/>
                <a:sym typeface="Calibri"/>
              </a:rPr>
              <a:t>. Duxbury Press, 1997.</a:t>
            </a:r>
            <a:endParaRPr sz="1600" b="1" i="0" u="none">
              <a:solidFill>
                <a:schemeClr val="hlink"/>
              </a:solidFill>
              <a:latin typeface="Calibri"/>
              <a:ea typeface="Calibri"/>
              <a:cs typeface="Calibri"/>
              <a:sym typeface="Calibri"/>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H. Galhardas, D. Florescu, D. Shasha, E. Simon, and C.-A. Saita. Declarative data cleaning: Language, model, and algorithms. </a:t>
            </a:r>
            <a:r>
              <a:rPr lang="en-US" sz="1600" b="0" i="1" u="none">
                <a:solidFill>
                  <a:schemeClr val="dk1"/>
                </a:solidFill>
                <a:latin typeface="Calibri"/>
                <a:ea typeface="Calibri"/>
                <a:cs typeface="Calibri"/>
                <a:sym typeface="Calibri"/>
              </a:rPr>
              <a:t>VLDB'01</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M. Hua and J. Pei. Cleaning disguised missing data: A heuristic approach. </a:t>
            </a:r>
            <a:r>
              <a:rPr lang="en-US" sz="1600" b="0" i="1" u="none">
                <a:solidFill>
                  <a:schemeClr val="dk1"/>
                </a:solidFill>
                <a:latin typeface="Calibri"/>
                <a:ea typeface="Calibri"/>
                <a:cs typeface="Calibri"/>
                <a:sym typeface="Calibri"/>
              </a:rPr>
              <a:t>KDD'07</a:t>
            </a:r>
            <a:endParaRPr sz="1600" b="0" i="0" u="none">
              <a:solidFill>
                <a:schemeClr val="dk1"/>
              </a:solidFill>
              <a:latin typeface="Calibri"/>
              <a:ea typeface="Calibri"/>
              <a:cs typeface="Calibri"/>
              <a:sym typeface="Calibri"/>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hlink"/>
                </a:solidFill>
                <a:latin typeface="Calibri"/>
                <a:ea typeface="Calibri"/>
                <a:cs typeface="Calibri"/>
                <a:sym typeface="Calibri"/>
              </a:rPr>
              <a:t>H. V. Jagadish, et al., Special Issue on Data Reduction Techniques.  Bulletin of the Technical Committee on Data Engineering, 20(4), Dec. 1997</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H. Liu and H. Motoda (eds.). </a:t>
            </a:r>
            <a:r>
              <a:rPr lang="en-US" sz="1600" b="0" i="1" u="none">
                <a:solidFill>
                  <a:schemeClr val="dk1"/>
                </a:solidFill>
                <a:latin typeface="Calibri"/>
                <a:ea typeface="Calibri"/>
                <a:cs typeface="Calibri"/>
                <a:sym typeface="Calibri"/>
              </a:rPr>
              <a:t>Feature Extraction, Construction, and Selection: A Data Mining Perspective</a:t>
            </a:r>
            <a:r>
              <a:rPr lang="en-US" sz="1600" b="0" i="0" u="none">
                <a:solidFill>
                  <a:schemeClr val="dk1"/>
                </a:solidFill>
                <a:latin typeface="Calibri"/>
                <a:ea typeface="Calibri"/>
                <a:cs typeface="Calibri"/>
                <a:sym typeface="Calibri"/>
              </a:rPr>
              <a:t>. Kluwer Academic, 1998</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J. E. Olson. </a:t>
            </a:r>
            <a:r>
              <a:rPr lang="en-US" sz="1600" b="0" i="1" u="none">
                <a:solidFill>
                  <a:schemeClr val="dk1"/>
                </a:solidFill>
                <a:latin typeface="Calibri"/>
                <a:ea typeface="Calibri"/>
                <a:cs typeface="Calibri"/>
                <a:sym typeface="Calibri"/>
              </a:rPr>
              <a:t>Data Quality: The Accuracy Dimension</a:t>
            </a:r>
            <a:r>
              <a:rPr lang="en-US" sz="1600" b="0" i="0" u="none">
                <a:solidFill>
                  <a:schemeClr val="dk1"/>
                </a:solidFill>
                <a:latin typeface="Calibri"/>
                <a:ea typeface="Calibri"/>
                <a:cs typeface="Calibri"/>
                <a:sym typeface="Calibri"/>
              </a:rPr>
              <a:t>.  Morgan Kaufmann, 2003</a:t>
            </a:r>
            <a:endParaRPr sz="1600" b="0" i="0" u="none">
              <a:solidFill>
                <a:schemeClr val="hlink"/>
              </a:solidFill>
              <a:latin typeface="Calibri"/>
              <a:ea typeface="Calibri"/>
              <a:cs typeface="Calibri"/>
              <a:sym typeface="Calibri"/>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D. Pyle. Data Preparation for Data Mining.  Morgan Kaufmann, 1999</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hlink"/>
                </a:solidFill>
                <a:latin typeface="Calibri"/>
                <a:ea typeface="Calibri"/>
                <a:cs typeface="Calibri"/>
                <a:sym typeface="Calibri"/>
              </a:rPr>
              <a:t>V. Raman and J. Hellerstein. Potters Wheel: An Interactive Framework for Data Cleaning and Transformation, VLDB’2001</a:t>
            </a:r>
            <a:endParaRPr sz="1600" b="0" i="1" u="none">
              <a:solidFill>
                <a:schemeClr val="hlink"/>
              </a:solidFill>
              <a:latin typeface="Calibri"/>
              <a:ea typeface="Calibri"/>
              <a:cs typeface="Calibri"/>
              <a:sym typeface="Calibri"/>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T. Redman. </a:t>
            </a:r>
            <a:r>
              <a:rPr lang="en-US" sz="1600" b="0" i="1" u="none">
                <a:solidFill>
                  <a:schemeClr val="dk1"/>
                </a:solidFill>
                <a:latin typeface="Calibri"/>
                <a:ea typeface="Calibri"/>
                <a:cs typeface="Calibri"/>
                <a:sym typeface="Calibri"/>
              </a:rPr>
              <a:t>Data Quality: The Field Guide</a:t>
            </a:r>
            <a:r>
              <a:rPr lang="en-US" sz="1600" b="0" i="0" u="none">
                <a:solidFill>
                  <a:schemeClr val="dk1"/>
                </a:solidFill>
                <a:latin typeface="Calibri"/>
                <a:ea typeface="Calibri"/>
                <a:cs typeface="Calibri"/>
                <a:sym typeface="Calibri"/>
              </a:rPr>
              <a:t>. Digital Press (Elsevier), 2001</a:t>
            </a:r>
            <a:endParaRPr/>
          </a:p>
          <a:p>
            <a:pPr marL="457200" lvl="0" indent="-457200" algn="l" rtl="0">
              <a:lnSpc>
                <a:spcPct val="100000"/>
              </a:lnSpc>
              <a:spcBef>
                <a:spcPts val="320"/>
              </a:spcBef>
              <a:spcAft>
                <a:spcPts val="0"/>
              </a:spcAft>
              <a:buClr>
                <a:schemeClr val="folHlink"/>
              </a:buClr>
              <a:buSzPts val="960"/>
              <a:buFont typeface="Noto Sans Symbols"/>
              <a:buChar char="■"/>
            </a:pPr>
            <a:r>
              <a:rPr lang="en-US" sz="1600" b="0" i="0" u="none">
                <a:solidFill>
                  <a:schemeClr val="dk1"/>
                </a:solidFill>
                <a:latin typeface="Calibri"/>
                <a:ea typeface="Calibri"/>
                <a:cs typeface="Calibri"/>
                <a:sym typeface="Calibri"/>
              </a:rPr>
              <a:t>R. Wang, V. Storey, and C. Firth. A framework for analysis of data quality research. IEEE Trans. Knowledge and Data Engineering, 7:623-640, 1995</a:t>
            </a:r>
            <a:endParaRPr/>
          </a:p>
        </p:txBody>
      </p:sp>
    </p:spTree>
  </p:cSld>
  <p:clrMapOvr>
    <a:masterClrMapping/>
  </p:clrMapOvr>
</p:sld>
</file>

<file path=ppt/theme/theme1.xml><?xml version="1.0" encoding="utf-8"?>
<a:theme xmlns:a="http://schemas.openxmlformats.org/drawingml/2006/main" name="2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5747</Words>
  <Application>Microsoft Office PowerPoint</Application>
  <PresentationFormat>On-screen Show (4:3)</PresentationFormat>
  <Paragraphs>903</Paragraphs>
  <Slides>74</Slides>
  <Notes>73</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74</vt:i4>
      </vt:variant>
    </vt:vector>
  </HeadingPairs>
  <TitlesOfParts>
    <vt:vector size="87" baseType="lpstr">
      <vt:lpstr>Overlock</vt:lpstr>
      <vt:lpstr>Verdana</vt:lpstr>
      <vt:lpstr>Noto Sans Symbols</vt:lpstr>
      <vt:lpstr>Arial Narrow</vt:lpstr>
      <vt:lpstr>Calibri</vt:lpstr>
      <vt:lpstr>Tahoma</vt:lpstr>
      <vt:lpstr>Times New Roman</vt:lpstr>
      <vt:lpstr>Arial</vt:lpstr>
      <vt:lpstr>2_Blends</vt:lpstr>
      <vt:lpstr>Blends</vt:lpstr>
      <vt:lpstr>3_Blends</vt:lpstr>
      <vt:lpstr>1_Blends</vt:lpstr>
      <vt:lpstr>Microsoft Graph Chart</vt:lpstr>
      <vt:lpstr>Data Mining:   Concepts and Techniques  (3rd ed.)  — Chapter 3 —</vt:lpstr>
      <vt:lpstr>Chapter 3: Data Preprocessing</vt:lpstr>
      <vt:lpstr>Data Quality: Why Preprocess the Data?</vt:lpstr>
      <vt:lpstr>Major Tasks in Data Preprocessing</vt:lpstr>
      <vt:lpstr>Chapter 3: Data Preprocessing</vt:lpstr>
      <vt:lpstr>Data Cleaning</vt:lpstr>
      <vt:lpstr>Incomplete (Missing) Data</vt:lpstr>
      <vt:lpstr>How to Handle Missing Data?</vt:lpstr>
      <vt:lpstr>Noisy Data</vt:lpstr>
      <vt:lpstr>How to Handle Noisy Data?</vt:lpstr>
      <vt:lpstr>Data Cleaning as a Process</vt:lpstr>
      <vt:lpstr>Chapter 3: Data Preprocessing</vt:lpstr>
      <vt:lpstr>Data Integration</vt:lpstr>
      <vt:lpstr>Handling Redundancy in Data Integration</vt:lpstr>
      <vt:lpstr>Correlation Analysis (Nominal Data)</vt:lpstr>
      <vt:lpstr>Chi-Square Calculation: An Example</vt:lpstr>
      <vt:lpstr>Correlation Analysis (Numeric Data)</vt:lpstr>
      <vt:lpstr>Visually Evaluating Correlation</vt:lpstr>
      <vt:lpstr>Correlation (viewed as linear relationship)</vt:lpstr>
      <vt:lpstr>Covariance (Numeric Data)</vt:lpstr>
      <vt:lpstr>Co-Variance: An Example</vt:lpstr>
      <vt:lpstr>Chapter 3: Data Preprocessing</vt:lpstr>
      <vt:lpstr>Data Reduction Strategies</vt:lpstr>
      <vt:lpstr>Data Reduction 1: Dimensionality Reduction</vt:lpstr>
      <vt:lpstr>Mapping Data to a New Space</vt:lpstr>
      <vt:lpstr>What Is Wavelet Transform?</vt:lpstr>
      <vt:lpstr>Wavelet Transformation </vt:lpstr>
      <vt:lpstr>Wavelet Decomposition</vt:lpstr>
      <vt:lpstr>Haar Wavelet Coefficients </vt:lpstr>
      <vt:lpstr>Why Wavelet Transform?</vt:lpstr>
      <vt:lpstr>Principal Component Analysis (PCA)</vt:lpstr>
      <vt:lpstr>PowerPoint Presentation</vt:lpstr>
      <vt:lpstr>Principal Component Analysis (Steps)</vt:lpstr>
      <vt:lpstr>Attribute Subset Selection</vt:lpstr>
      <vt:lpstr>Heuristic Search in Attribute Selection</vt:lpstr>
      <vt:lpstr>Attribute Creation (Feature Generation)</vt:lpstr>
      <vt:lpstr>Data Reduction 2: Numerosity Reduction</vt:lpstr>
      <vt:lpstr>Parametric Data Reduction: Regression and Log-Linear Models</vt:lpstr>
      <vt:lpstr>Regression Analysis</vt:lpstr>
      <vt:lpstr>Regress Analysis and Log-Linear Models</vt:lpstr>
      <vt:lpstr>Histogram Analysis</vt:lpstr>
      <vt:lpstr>Clustering</vt:lpstr>
      <vt:lpstr>Sampling</vt:lpstr>
      <vt:lpstr>Types of Sampling</vt:lpstr>
      <vt:lpstr>PowerPoint Presentation</vt:lpstr>
      <vt:lpstr>Sampling: Cluster or Stratified Sampling</vt:lpstr>
      <vt:lpstr>Data Cube Aggregation</vt:lpstr>
      <vt:lpstr>Data Reduction 3: Data Compression</vt:lpstr>
      <vt:lpstr>Data Compression</vt:lpstr>
      <vt:lpstr>Chapter 3: Data Preprocessing</vt:lpstr>
      <vt:lpstr>Data Transformation</vt:lpstr>
      <vt:lpstr>Normalization</vt:lpstr>
      <vt:lpstr>Discretization </vt:lpstr>
      <vt:lpstr>Data Discretization Methods</vt:lpstr>
      <vt:lpstr>Simple Discretization: Binning</vt:lpstr>
      <vt:lpstr>Binning Methods for Data Smoothing</vt:lpstr>
      <vt:lpstr>Discretization Without Using Class Labels (Binning vs. Clustering) </vt:lpstr>
      <vt:lpstr>Discretization by Classification &amp; Correlation Analysis</vt:lpstr>
      <vt:lpstr>Concept Hierarchy Generation</vt:lpstr>
      <vt:lpstr>Concept Hierarchy Generation  for Nominal Data</vt:lpstr>
      <vt:lpstr>Automatic Concept Hierarchy Generation</vt:lpstr>
      <vt:lpstr>Chapter 3: Data Preprocessing</vt:lpstr>
      <vt:lpstr>Summary</vt:lpstr>
      <vt:lpstr>PowerPoint Presentation</vt:lpstr>
      <vt:lpstr>PowerPoint Presentation</vt:lpstr>
      <vt:lpstr>PowerPoint Presentation</vt:lpstr>
      <vt:lpstr>PowerPoint Presentation</vt:lpstr>
      <vt:lpstr>PowerPoint Presentation</vt:lpstr>
      <vt:lpstr>PowerPoint Presentation</vt:lpstr>
      <vt:lpstr>Need and advantages for data integration</vt:lpstr>
      <vt:lpstr>   Web Scraping</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cp:lastModifiedBy>DELL</cp:lastModifiedBy>
  <cp:revision>3</cp:revision>
  <dcterms:created xsi:type="dcterms:W3CDTF">1998-06-19T04:38:52Z</dcterms:created>
  <dcterms:modified xsi:type="dcterms:W3CDTF">2026-06-05T04:57:19Z</dcterms:modified>
</cp:coreProperties>
</file>